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48" r:id="rId2"/>
    <p:sldMasterId id="2147483666" r:id="rId3"/>
    <p:sldMasterId id="2147483682" r:id="rId4"/>
    <p:sldMasterId id="2147483687" r:id="rId5"/>
    <p:sldMasterId id="2147483679" r:id="rId6"/>
  </p:sldMasterIdLst>
  <p:notesMasterIdLst>
    <p:notesMasterId r:id="rId19"/>
  </p:notesMasterIdLst>
  <p:handoutMasterIdLst>
    <p:handoutMasterId r:id="rId20"/>
  </p:handoutMasterIdLst>
  <p:sldIdLst>
    <p:sldId id="256" r:id="rId16"/>
    <p:sldId id="257" r:id="rId17"/>
    <p:sldId id="258" r:id="rId18"/>
    <p:sldId id="259" r:id="rId15"/>
    <p:sldId id="260" r:id="rId14"/>
    <p:sldId id="261" r:id="rId13"/>
    <p:sldId id="262" r:id="rId12"/>
    <p:sldId id="263" r:id="rId11"/>
    <p:sldId id="264" r:id="rId10"/>
    <p:sldId id="265" r:id="rId9"/>
    <p:sldId id="266" r:id="rId8"/>
    <p:sldId id="267" r:id="rId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2415"/>
    <a:srgbClr val="65251A"/>
    <a:srgbClr val="CE8A39"/>
    <a:srgbClr val="DC9C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0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5.xml"/><Relationship Id="rId15" Type="http://schemas.openxmlformats.org/officeDocument/2006/relationships/slide" Target="slides/slide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customXml" Target="../customXml/item1.xml"/><Relationship Id="rId26" Type="http://schemas.openxmlformats.org/officeDocument/2006/relationships/customXml" Target="../customXml/item2.xml"/><Relationship Id="rId27" Type="http://schemas.openxmlformats.org/officeDocument/2006/relationships/customXml" Target="../customXml/item3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65A2F-66C9-B0A9-CE3C-BB3A4CC483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652C5-D46B-AF6D-B43D-A27BB0DD47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30F9C-A61B-3CC8-5BFB-B6F963F68B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DE810-3581-41FB-AC97-FCF56957208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13C278F-4A5D-950B-2532-5DDBF82905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4906D-A03C-486F-84FB-BEBFD2D39CB7}" type="datetimeFigureOut">
              <a:rPr lang="en-US" smtClean="0"/>
              <a:t>8/31/2025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209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2F1FC-631F-41CA-8038-356AB04079B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DA52F-A629-49CF-83AD-6CB60D599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8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Rikets tilstand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 spørsmål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Bakteppet: Norge 2000 til i dag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 punkter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1: 380 000 uføre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2: 22 000 unge uføre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Sitat: over 40 år utenfor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3: 53 000 uten kontakt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Sitat: Det burde være en nasjonal alarm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4: 24 kroner mot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Regnskapet for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Helhetsbildet: 15 mot 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5: 850 milliarder i innkjøp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6: Vi mangler arbeidskraft, ikke folk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Sitat: Ressursen finnes allerede 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7: 1 000 tilrettelagte jobber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8: Postnummeret avgjør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9: Ordene lukker dører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 virkeligheten forteller noe annet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Bruk språket til å åpne dører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 hindrer arbeid. Vi fremmer det ikke.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 10: Vi rekrutterer som i år 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Sitat: 50 prosent er helt 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Spiralen vi må bryte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Sammenlignet med år 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Oppsummert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Norge har mange utfordringer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Relationship Id="rId3" Type="http://schemas.openxmlformats.org/officeDocument/2006/relationships/image" Target="../media/image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Relationship Id="rId3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7.pn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8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line on a dark background&#10;&#10;AI-generated content may be incorrect.">
            <a:extLst>
              <a:ext uri="{FF2B5EF4-FFF2-40B4-BE49-F238E27FC236}">
                <a16:creationId xmlns:a16="http://schemas.microsoft.com/office/drawing/2014/main" id="{70569829-54AC-5763-017B-BDADED9F9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638171"/>
            <a:ext cx="6067424" cy="473392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94" y="4886325"/>
            <a:ext cx="2856782" cy="94554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1D9AFF0-5BF2-3CBE-2808-C3D2A03B7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94" y="5937250"/>
            <a:ext cx="2856782" cy="278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1044246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69829-54AC-5763-017B-BDADED9F9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638171"/>
            <a:ext cx="6067424" cy="47339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94" y="4886325"/>
            <a:ext cx="2856782" cy="94554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1D9AFF0-5BF2-3CBE-2808-C3D2A03B7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94" y="5937250"/>
            <a:ext cx="2856782" cy="278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280806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0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69829-54AC-5763-017B-BDADED9F9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638171"/>
            <a:ext cx="6067424" cy="473392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94" y="4886325"/>
            <a:ext cx="2856782" cy="94554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1D9AFF0-5BF2-3CBE-2808-C3D2A03B7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94" y="5937250"/>
            <a:ext cx="2856782" cy="278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126064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0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69829-54AC-5763-017B-BDADED9F9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638171"/>
            <a:ext cx="6067424" cy="47339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94" y="4886325"/>
            <a:ext cx="2856782" cy="94554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1D9AFF0-5BF2-3CBE-2808-C3D2A03B7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94" y="5937250"/>
            <a:ext cx="2856782" cy="278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3344576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0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69829-54AC-5763-017B-BDADED9F9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638171"/>
            <a:ext cx="6067424" cy="47339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A241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94" y="4886325"/>
            <a:ext cx="2856782" cy="94554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2000">
                <a:solidFill>
                  <a:srgbClr val="3A2415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1D9AFF0-5BF2-3CBE-2808-C3D2A03B7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894" y="5937250"/>
            <a:ext cx="2856782" cy="278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rgbClr val="3A2415"/>
                </a:solidFill>
              </a:defRPr>
            </a:lvl1pPr>
          </a:lstStyle>
          <a:p>
            <a:pPr lvl="0"/>
            <a:r>
              <a:rPr lang="en-US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3216118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0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69829-54AC-5763-017B-BDADED9F9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92" y="638171"/>
            <a:ext cx="6067424" cy="47339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6326" y="4886325"/>
            <a:ext cx="2856782" cy="94554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1D9AFF0-5BF2-3CBE-2808-C3D2A03B7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96326" y="5937250"/>
            <a:ext cx="2856782" cy="278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1904645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0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69829-54AC-5763-017B-BDADED9F9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6" cy="6857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92" y="638171"/>
            <a:ext cx="6067424" cy="47339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6326" y="4886325"/>
            <a:ext cx="2856782" cy="94554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1D9AFF0-5BF2-3CBE-2808-C3D2A03B7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96326" y="5937250"/>
            <a:ext cx="2856782" cy="278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3796861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+ innhold - Lys -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93" y="638171"/>
            <a:ext cx="10914931" cy="61330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Overskrift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93" y="1495425"/>
            <a:ext cx="10914931" cy="4724403"/>
          </a:xfrm>
        </p:spPr>
        <p:txBody>
          <a:bodyPr bIns="0"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620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+ innhold - Lys -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D5B6A0-EFCA-C983-6FC2-A6288B727D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156D7F2-7E87-E47F-F56B-E1E877BD8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93" y="638171"/>
            <a:ext cx="10914931" cy="613309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Overskrift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93" y="1495425"/>
            <a:ext cx="10914931" cy="4724403"/>
          </a:xfrm>
        </p:spPr>
        <p:txBody>
          <a:bodyPr bIns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3219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+ innhold - Lys - 0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D5B6A0-EFCA-C983-6FC2-A6288B727D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156D7F2-7E87-E47F-F56B-E1E877BD8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DC9C8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93" y="638171"/>
            <a:ext cx="10914931" cy="613309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Overskrift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93" y="1495425"/>
            <a:ext cx="10914931" cy="4724403"/>
          </a:xfrm>
        </p:spPr>
        <p:txBody>
          <a:bodyPr bIns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913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+ innhold - Mørk -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CB50898-34D7-C03A-5A5A-4B4831730F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93" y="638171"/>
            <a:ext cx="10914931" cy="61330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Overskrift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93" y="1495425"/>
            <a:ext cx="10914931" cy="4724403"/>
          </a:xfrm>
        </p:spPr>
        <p:txBody>
          <a:bodyPr bIns="0"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0322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+ innhold - Mørk -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E1D0BA-2C7A-96D0-329B-E509B772B7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25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CB50898-34D7-C03A-5A5A-4B4831730F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93" y="638171"/>
            <a:ext cx="10914931" cy="61330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Overskrift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93" y="1495425"/>
            <a:ext cx="10914931" cy="4724403"/>
          </a:xfrm>
        </p:spPr>
        <p:txBody>
          <a:bodyPr bIns="0"/>
          <a:lstStyle>
            <a:lvl1pPr>
              <a:buClr>
                <a:srgbClr val="DC9C81"/>
              </a:buClr>
              <a:defRPr/>
            </a:lvl1pPr>
            <a:lvl2pPr>
              <a:buClr>
                <a:srgbClr val="DC9C81"/>
              </a:buClr>
              <a:defRPr/>
            </a:lvl2pPr>
            <a:lvl3pPr>
              <a:buClr>
                <a:srgbClr val="DC9C81"/>
              </a:buClr>
              <a:defRPr/>
            </a:lvl3pPr>
            <a:lvl4pPr>
              <a:buClr>
                <a:srgbClr val="DC9C81"/>
              </a:buClr>
              <a:defRPr/>
            </a:lvl4pPr>
            <a:lvl5pPr>
              <a:buClr>
                <a:srgbClr val="DC9C8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787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+ innhold - Mørk - 0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CB50898-34D7-C03A-5A5A-4B4831730F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93" y="638171"/>
            <a:ext cx="10914931" cy="61330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Overskrift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93" y="1495425"/>
            <a:ext cx="10914931" cy="4724403"/>
          </a:xfrm>
        </p:spPr>
        <p:txBody>
          <a:bodyPr bIns="0"/>
          <a:lstStyle>
            <a:lvl1pPr>
              <a:buClr>
                <a:srgbClr val="DC9C81"/>
              </a:buClr>
              <a:defRPr/>
            </a:lvl1pPr>
            <a:lvl2pPr>
              <a:buClr>
                <a:srgbClr val="DC9C81"/>
              </a:buClr>
              <a:defRPr/>
            </a:lvl2pPr>
            <a:lvl3pPr>
              <a:buClr>
                <a:srgbClr val="DC9C81"/>
              </a:buClr>
              <a:defRPr/>
            </a:lvl3pPr>
            <a:lvl4pPr>
              <a:buClr>
                <a:srgbClr val="DC9C81"/>
              </a:buClr>
              <a:defRPr/>
            </a:lvl4pPr>
            <a:lvl5pPr>
              <a:buClr>
                <a:srgbClr val="DC9C8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3432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innhold + bilde - Lys -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F7F5-C47E-1F00-F827-108A60708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94" y="638171"/>
            <a:ext cx="6076232" cy="61330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Overskrift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F0120B2-829E-5ACF-18FA-4B287E799F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94" y="1495425"/>
            <a:ext cx="6076232" cy="4724403"/>
          </a:xfrm>
        </p:spPr>
        <p:txBody>
          <a:bodyPr bIns="0"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34EAF19-9309-4EE6-429E-C9FF3304C6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91399" y="416399"/>
            <a:ext cx="3895726" cy="600615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71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tel + innhold - Mørk -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CB50898-34D7-C03A-5A5A-4B4831730F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948D0-4ACF-072F-DE8B-0B1655A636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91399" y="416399"/>
            <a:ext cx="3895726" cy="600615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2D3397-9E09-12FF-5AD0-DAF4AA013D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94" y="638171"/>
            <a:ext cx="6076232" cy="61330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Overskrift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C41FAB-27F4-1181-79DB-305F1061DD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894" y="1495425"/>
            <a:ext cx="6076232" cy="4724403"/>
          </a:xfrm>
        </p:spPr>
        <p:txBody>
          <a:bodyPr bIns="0"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081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ende bil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A0BA4D-804D-1740-C05D-3D3E1CB15A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41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rammet bilde - Mø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A0BA4D-804D-1740-C05D-3D3E1CB15A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9075" y="203597"/>
            <a:ext cx="11753850" cy="6450806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3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rammet bilde - Ly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A0BA4D-804D-1740-C05D-3D3E1CB15A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9075" y="203597"/>
            <a:ext cx="11753850" cy="6450806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37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rammet bilde med kommentar - Mø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A0BA4D-804D-1740-C05D-3D3E1CB15A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9075" y="203597"/>
            <a:ext cx="11753850" cy="6450806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0A18D-DF8A-6A05-10BB-3966DB8247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52750" y="5105400"/>
            <a:ext cx="6286500" cy="1117331"/>
          </a:xfrm>
          <a:solidFill>
            <a:schemeClr val="bg1"/>
          </a:solidFill>
        </p:spPr>
        <p:txBody>
          <a:bodyPr lIns="360000" tIns="360000" rIns="360000" bIns="36000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kort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 her</a:t>
            </a:r>
          </a:p>
        </p:txBody>
      </p:sp>
    </p:spTree>
    <p:extLst>
      <p:ext uri="{BB962C8B-B14F-4D97-AF65-F5344CB8AC3E}">
        <p14:creationId xmlns:p14="http://schemas.microsoft.com/office/powerpoint/2010/main" val="1988631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rammet bilde med kommentar - Ly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A0BA4D-804D-1740-C05D-3D3E1CB15A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9075" y="203597"/>
            <a:ext cx="11753850" cy="6450806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0A18D-DF8A-6A05-10BB-3966DB8247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52750" y="5105400"/>
            <a:ext cx="6286500" cy="1117331"/>
          </a:xfrm>
          <a:solidFill>
            <a:schemeClr val="accent3"/>
          </a:solidFill>
        </p:spPr>
        <p:txBody>
          <a:bodyPr lIns="360000" tIns="360000" rIns="360000" bIns="360000">
            <a:no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kort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 her</a:t>
            </a:r>
          </a:p>
        </p:txBody>
      </p:sp>
    </p:spTree>
    <p:extLst>
      <p:ext uri="{BB962C8B-B14F-4D97-AF65-F5344CB8AC3E}">
        <p14:creationId xmlns:p14="http://schemas.microsoft.com/office/powerpoint/2010/main" val="3451517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lesid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circles&#10;&#10;AI-generated content may be incorrect.">
            <a:extLst>
              <a:ext uri="{FF2B5EF4-FFF2-40B4-BE49-F238E27FC236}">
                <a16:creationId xmlns:a16="http://schemas.microsoft.com/office/drawing/2014/main" id="{E6C2AD3E-EC90-4B85-63AF-EC2700F811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73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lesid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pattern&#10;&#10;AI-generated content may be incorrect.">
            <a:extLst>
              <a:ext uri="{FF2B5EF4-FFF2-40B4-BE49-F238E27FC236}">
                <a16:creationId xmlns:a16="http://schemas.microsoft.com/office/drawing/2014/main" id="{FAE993D7-E6F0-B017-00FD-E4E2FCDE43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1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leside 0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circles&#10;&#10;AI-generated content may be incorrect.">
            <a:extLst>
              <a:ext uri="{FF2B5EF4-FFF2-40B4-BE49-F238E27FC236}">
                <a16:creationId xmlns:a16="http://schemas.microsoft.com/office/drawing/2014/main" id="{EA2DEA60-B5C9-25A8-B68B-515BA0DCA4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51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leside 0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own background with circles&#10;&#10;AI-generated content may be incorrect.">
            <a:extLst>
              <a:ext uri="{FF2B5EF4-FFF2-40B4-BE49-F238E27FC236}">
                <a16:creationId xmlns:a16="http://schemas.microsoft.com/office/drawing/2014/main" id="{409BF03E-5979-9071-5D7D-86F9411356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83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3DEF0F2-98CB-8A79-6361-2F301F8A9D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C18F3E7-2738-1A18-E9CA-909DDEEE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175" y="628650"/>
            <a:ext cx="10915650" cy="5591175"/>
          </a:xfrm>
          <a:prstGeom prst="rect">
            <a:avLst/>
          </a:prstGeom>
        </p:spPr>
        <p:txBody>
          <a:bodyPr lIns="1080000" tIns="1080000" rIns="1080000" bIns="1080000"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Dette er et </a:t>
            </a:r>
            <a:r>
              <a:rPr lang="en-US" dirty="0" err="1"/>
              <a:t>stort</a:t>
            </a:r>
            <a:r>
              <a:rPr lang="en-US" dirty="0"/>
              <a:t> </a:t>
            </a:r>
            <a:r>
              <a:rPr lang="en-US" dirty="0" err="1"/>
              <a:t>sitat</a:t>
            </a:r>
            <a:r>
              <a:rPr lang="en-US" dirty="0"/>
              <a:t> over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 med mer.</a:t>
            </a:r>
          </a:p>
        </p:txBody>
      </p:sp>
    </p:spTree>
    <p:extLst>
      <p:ext uri="{BB962C8B-B14F-4D97-AF65-F5344CB8AC3E}">
        <p14:creationId xmlns:p14="http://schemas.microsoft.com/office/powerpoint/2010/main" val="584200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AAE1F15-AE56-D3ED-D5F4-8092367F79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D6820C3-5C13-4178-499D-FEB5103930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175" y="628650"/>
            <a:ext cx="10915650" cy="5591175"/>
          </a:xfrm>
          <a:prstGeom prst="rect">
            <a:avLst/>
          </a:prstGeom>
        </p:spPr>
        <p:txBody>
          <a:bodyPr lIns="1080000" tIns="1080000" rIns="1080000" bIns="1080000"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Dette er et </a:t>
            </a:r>
            <a:r>
              <a:rPr lang="en-US" dirty="0" err="1"/>
              <a:t>stort</a:t>
            </a:r>
            <a:r>
              <a:rPr lang="en-US" dirty="0"/>
              <a:t> </a:t>
            </a:r>
            <a:r>
              <a:rPr lang="en-US" dirty="0" err="1"/>
              <a:t>sitat</a:t>
            </a:r>
            <a:r>
              <a:rPr lang="en-US" dirty="0"/>
              <a:t> over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 med mer.</a:t>
            </a:r>
          </a:p>
        </p:txBody>
      </p:sp>
    </p:spTree>
    <p:extLst>
      <p:ext uri="{BB962C8B-B14F-4D97-AF65-F5344CB8AC3E}">
        <p14:creationId xmlns:p14="http://schemas.microsoft.com/office/powerpoint/2010/main" val="3752749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 0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8541D6-476F-2C80-A414-B6189AB0D0D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25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06B5F5E-9D6A-3A8F-3E49-F6126F7D1B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2846E23-D562-159E-4D2E-5091E0021A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175" y="628650"/>
            <a:ext cx="10915650" cy="5591175"/>
          </a:xfrm>
          <a:prstGeom prst="rect">
            <a:avLst/>
          </a:prstGeom>
        </p:spPr>
        <p:txBody>
          <a:bodyPr lIns="1080000" tIns="1080000" rIns="1080000" bIns="1080000" anchor="ctr" anchorCtr="0">
            <a:normAutofit/>
          </a:bodyPr>
          <a:lstStyle>
            <a:lvl1pPr marL="0" indent="0" algn="ctr">
              <a:buNone/>
              <a:defRPr sz="7200">
                <a:solidFill>
                  <a:srgbClr val="DC9C81"/>
                </a:solidFill>
              </a:defRPr>
            </a:lvl1pPr>
          </a:lstStyle>
          <a:p>
            <a:pPr lvl="0"/>
            <a:r>
              <a:rPr lang="en-US" dirty="0"/>
              <a:t>Dette er et </a:t>
            </a:r>
            <a:r>
              <a:rPr lang="en-US" dirty="0" err="1"/>
              <a:t>stort</a:t>
            </a:r>
            <a:r>
              <a:rPr lang="en-US" dirty="0"/>
              <a:t> </a:t>
            </a:r>
            <a:r>
              <a:rPr lang="en-US" dirty="0" err="1"/>
              <a:t>sitat</a:t>
            </a:r>
            <a:r>
              <a:rPr lang="en-US" dirty="0"/>
              <a:t> over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 med mer.</a:t>
            </a:r>
          </a:p>
        </p:txBody>
      </p:sp>
    </p:spTree>
    <p:extLst>
      <p:ext uri="{BB962C8B-B14F-4D97-AF65-F5344CB8AC3E}">
        <p14:creationId xmlns:p14="http://schemas.microsoft.com/office/powerpoint/2010/main" val="1486928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 0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1ECF1F-F997-F9C1-46C4-B43A0560C0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E8A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17D779E-48AE-8DF6-4A0F-CCB1FB17B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75DB4B6-827E-3D9B-0786-0830C7E83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175" y="628650"/>
            <a:ext cx="10915650" cy="5591175"/>
          </a:xfrm>
          <a:prstGeom prst="rect">
            <a:avLst/>
          </a:prstGeom>
        </p:spPr>
        <p:txBody>
          <a:bodyPr lIns="1080000" tIns="1080000" rIns="1080000" bIns="1080000" anchor="ctr" anchorCtr="0">
            <a:normAutofit/>
          </a:bodyPr>
          <a:lstStyle>
            <a:lvl1pPr marL="0" indent="0" algn="ctr">
              <a:buNone/>
              <a:defRPr sz="7200">
                <a:solidFill>
                  <a:srgbClr val="3A2415"/>
                </a:solidFill>
              </a:defRPr>
            </a:lvl1pPr>
          </a:lstStyle>
          <a:p>
            <a:pPr lvl="0"/>
            <a:r>
              <a:rPr lang="en-US" dirty="0"/>
              <a:t>Dette er et </a:t>
            </a:r>
            <a:r>
              <a:rPr lang="en-US" dirty="0" err="1"/>
              <a:t>stort</a:t>
            </a:r>
            <a:r>
              <a:rPr lang="en-US" dirty="0"/>
              <a:t> </a:t>
            </a:r>
            <a:r>
              <a:rPr lang="en-US" dirty="0" err="1"/>
              <a:t>sitat</a:t>
            </a:r>
            <a:r>
              <a:rPr lang="en-US" dirty="0"/>
              <a:t> over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 med mer.</a:t>
            </a:r>
          </a:p>
        </p:txBody>
      </p:sp>
    </p:spTree>
    <p:extLst>
      <p:ext uri="{BB962C8B-B14F-4D97-AF65-F5344CB8AC3E}">
        <p14:creationId xmlns:p14="http://schemas.microsoft.com/office/powerpoint/2010/main" val="4172704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C3C00-F03C-4690-CE22-F311218D49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3FF61D-094A-0186-36F8-3F67AB8C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92" y="638171"/>
            <a:ext cx="6067424" cy="557212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>
                <a:solidFill>
                  <a:srgbClr val="6525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6D944A2-F884-3797-1316-14CE634A30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7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grey background&#10;&#10;AI-generated content may be incorrect.">
            <a:extLst>
              <a:ext uri="{FF2B5EF4-FFF2-40B4-BE49-F238E27FC236}">
                <a16:creationId xmlns:a16="http://schemas.microsoft.com/office/drawing/2014/main" id="{319C3C00-F03C-4690-CE22-F311218D49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3FF61D-094A-0186-36F8-3F67AB8C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92" y="638171"/>
            <a:ext cx="6067424" cy="557212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B9299-C3DC-6071-54BB-9ECCD7367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40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0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C3C00-F03C-4690-CE22-F311218D49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3FF61D-094A-0186-36F8-3F67AB8C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142" y="638171"/>
            <a:ext cx="6067424" cy="557212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rgbClr val="3A241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6C08F-9D4F-5056-DDA8-1A948568C2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26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0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C3C00-F03C-4690-CE22-F311218D49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2EE84B-B802-AF21-71BE-8A87F79B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92" y="638171"/>
            <a:ext cx="6067424" cy="557212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rgbClr val="3A241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7AB8EFD-BA29-A83E-DED5-CF60D20C46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61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ning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grey background&#10;&#10;AI-generated content may be incorrect.">
            <a:extLst>
              <a:ext uri="{FF2B5EF4-FFF2-40B4-BE49-F238E27FC236}">
                <a16:creationId xmlns:a16="http://schemas.microsoft.com/office/drawing/2014/main" id="{EBC03BCD-ADCD-CB11-36B6-613130EC9B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4CD497-1684-FD7B-5B14-6DDF433B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92" y="638171"/>
            <a:ext cx="6067424" cy="3248029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8970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ning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C03BCD-ADCD-CB11-36B6-613130EC9B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4CD497-1684-FD7B-5B14-6DDF433B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92" y="2371721"/>
            <a:ext cx="6067424" cy="2981329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9840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theme" Target="../theme/theme2.xml"/><Relationship Id="rId15" Type="http://schemas.openxmlformats.org/officeDocument/2006/relationships/image" Target="../media/image8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41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8" r:id="rId3"/>
    <p:sldLayoutId id="2147483656" r:id="rId4"/>
    <p:sldLayoutId id="2147483657" r:id="rId5"/>
    <p:sldLayoutId id="2147483659" r:id="rId6"/>
    <p:sldLayoutId id="214748366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C840D0E-8B50-5F45-4D99-05982AEC3E9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8F03B-F3C7-4E8A-498F-E79FEAC2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93" y="638171"/>
            <a:ext cx="10914931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7673E-8A4D-E33B-67DC-255076122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893" y="2349500"/>
            <a:ext cx="10914931" cy="3870329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220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4" r:id="rId2"/>
    <p:sldLayoutId id="2147483665" r:id="rId3"/>
    <p:sldLayoutId id="2147483661" r:id="rId4"/>
    <p:sldLayoutId id="2147483663" r:id="rId5"/>
    <p:sldLayoutId id="2147483662" r:id="rId6"/>
    <p:sldLayoutId id="2147483674" r:id="rId7"/>
    <p:sldLayoutId id="2147483676" r:id="rId8"/>
    <p:sldLayoutId id="2147483671" r:id="rId9"/>
    <p:sldLayoutId id="2147483672" r:id="rId10"/>
    <p:sldLayoutId id="2147483673" r:id="rId11"/>
    <p:sldLayoutId id="2147483677" r:id="rId12"/>
    <p:sldLayoutId id="214748367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44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049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63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55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6.png"/><Relationship Id="rId3" Type="http://schemas.openxmlformats.org/officeDocument/2006/relationships/image" Target="../media/image3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47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1.png"/><Relationship Id="rId3" Type="http://schemas.openxmlformats.org/officeDocument/2006/relationships/image" Target="../media/image39.png"/><Relationship Id="rId4" Type="http://schemas.openxmlformats.org/officeDocument/2006/relationships/image" Target="../media/image52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5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49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4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1640586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1565148"/>
            <a:ext cx="462534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Rikets tilstand · Arbeidsinkludering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2046732"/>
            <a:ext cx="6396990" cy="737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810"/>
              </a:lnSpc>
              <a:spcBef>
                <a:spcPts val="0"/>
              </a:spcBef>
              <a:spcAft>
                <a:spcPts val="0"/>
              </a:spcAft>
            </a:pPr>
            <a:r>
              <a:rPr sz="5640" b="1" spc="-181">
                <a:solidFill>
                  <a:srgbClr val="F3F0E2"/>
                </a:solidFill>
                <a:latin typeface="Lexend"/>
                <a:cs typeface="Lexend"/>
              </a:rPr>
              <a:t>Rikets tilstand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2784348"/>
            <a:ext cx="6827520" cy="737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810"/>
              </a:lnSpc>
              <a:spcBef>
                <a:spcPts val="0"/>
              </a:spcBef>
              <a:spcAft>
                <a:spcPts val="0"/>
              </a:spcAft>
            </a:pPr>
            <a:r>
              <a:rPr sz="5640" b="1" spc="-181">
                <a:solidFill>
                  <a:srgbClr val="F3F0E2"/>
                </a:solidFill>
                <a:latin typeface="Lexend"/>
                <a:cs typeface="Lexend"/>
              </a:rPr>
              <a:t>arbeidsinkludering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521964"/>
            <a:ext cx="1911858" cy="737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810"/>
              </a:lnSpc>
              <a:spcBef>
                <a:spcPts val="0"/>
              </a:spcBef>
              <a:spcAft>
                <a:spcPts val="0"/>
              </a:spcAft>
            </a:pPr>
            <a:r>
              <a:rPr sz="5640" b="1" spc="-181">
                <a:solidFill>
                  <a:srgbClr val="97CA31"/>
                </a:solidFill>
                <a:latin typeface="Lexend"/>
                <a:cs typeface="Lexend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4565904"/>
            <a:ext cx="6127242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F3F0E2"/>
                </a:solidFill>
                <a:latin typeface="Lexend"/>
                <a:cs typeface="Lexend"/>
              </a:rPr>
              <a:t>Ti punkter. Én konklusjon: Norge trenger et taktskifte.</a:t>
            </a:r>
          </a:p>
        </p:txBody>
      </p:sp>
      <p:sp>
        <p:nvSpPr>
          <p:cNvPr id="8" name="Oval 7"/>
          <p:cNvSpPr/>
          <p:nvPr/>
        </p:nvSpPr>
        <p:spPr>
          <a:xfrm>
            <a:off x="792480" y="5760720"/>
            <a:ext cx="396240" cy="396240"/>
          </a:xfrm>
          <a:prstGeom prst="ellipse">
            <a:avLst/>
          </a:prstGeom>
          <a:solidFill>
            <a:srgbClr val="3F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9" name="Picture 8" descr="i-person__F3F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5863590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41120" y="5839206"/>
            <a:ext cx="221132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spc="6">
                <a:solidFill>
                  <a:srgbClr val="F3F0E2"/>
                </a:solidFill>
                <a:latin typeface="Lexend"/>
                <a:cs typeface="Lexend"/>
              </a:rPr>
              <a:t>Onar Aanestad, direktør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4804" y="5955030"/>
            <a:ext cx="7424166" cy="7620"/>
          </a:xfrm>
          <a:prstGeom prst="rect">
            <a:avLst/>
          </a:prstGeom>
          <a:solidFill>
            <a:srgbClr val="F3F0E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61370" y="5839206"/>
            <a:ext cx="75819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spc="151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215493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Utgangspunktet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48512"/>
            <a:ext cx="315544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Tre spørsmål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80" y="2189226"/>
            <a:ext cx="3403854" cy="2714244"/>
          </a:xfrm>
          <a:prstGeom prst="roundRect">
            <a:avLst>
              <a:gd name="adj" fmla="val 7299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" y="2455926"/>
            <a:ext cx="502920" cy="50292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7" name="Picture 6" descr="i-questionmark-circle__2831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2585466"/>
            <a:ext cx="243840" cy="243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" y="3084576"/>
            <a:ext cx="51435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">
                <a:solidFill>
                  <a:srgbClr val="97CA31"/>
                </a:solidFill>
                <a:latin typeface="Lexend"/>
                <a:cs typeface="Lexe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" y="3391662"/>
            <a:ext cx="243535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Hvordan går det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" y="3702558"/>
            <a:ext cx="1996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egentlig 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" y="4013454"/>
            <a:ext cx="303504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arbeidsinkluderingen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" y="4324350"/>
            <a:ext cx="139979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i Norge?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4454" y="2189226"/>
            <a:ext cx="3403854" cy="2714244"/>
          </a:xfrm>
          <a:prstGeom prst="roundRect">
            <a:avLst>
              <a:gd name="adj" fmla="val 7299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76394" y="2455926"/>
            <a:ext cx="502920" cy="50292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5" name="Picture 14" descr="i-trend-up__8151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934" y="2585466"/>
            <a:ext cx="243840" cy="243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6394" y="3084576"/>
            <a:ext cx="51282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">
                <a:solidFill>
                  <a:srgbClr val="81512C"/>
                </a:solidFill>
                <a:latin typeface="Lexend"/>
                <a:cs typeface="Lexen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6394" y="3391662"/>
            <a:ext cx="245211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Går utviklingen 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6394" y="3702558"/>
            <a:ext cx="213588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riktig retning?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5666" y="2189226"/>
            <a:ext cx="3403854" cy="2714244"/>
          </a:xfrm>
          <a:prstGeom prst="roundRect">
            <a:avLst>
              <a:gd name="adj" fmla="val 7299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7606" y="2455926"/>
            <a:ext cx="502920" cy="50292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1" name="Picture 20" descr="i-compass__FBF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146" y="2585466"/>
            <a:ext cx="243840" cy="243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77606" y="3084576"/>
            <a:ext cx="51892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">
                <a:solidFill>
                  <a:srgbClr val="AA523C"/>
                </a:solidFill>
                <a:latin typeface="Lexend"/>
                <a:cs typeface="Lexen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7606" y="3391662"/>
            <a:ext cx="276529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Kan vi være trygge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7606" y="3702558"/>
            <a:ext cx="276072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på at Norge har 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7606" y="4013454"/>
            <a:ext cx="189509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god plan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7606" y="4324350"/>
            <a:ext cx="171678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framtiden?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80" y="5486400"/>
            <a:ext cx="7165848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For å svare må vi sammenligne Norge i dag med Norge for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480" y="5821680"/>
            <a:ext cx="125349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år siden.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44399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Bakteppet</a:t>
            </a:r>
          </a:p>
        </p:txBody>
      </p:sp>
      <p:pic>
        <p:nvPicPr>
          <p:cNvPr id="4" name="Picture 3" descr="i-arrow-right__97C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822" y="1164336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1048512"/>
            <a:ext cx="305638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Norge 2000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006" y="1048512"/>
            <a:ext cx="3077718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Norge i dag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80" y="2011680"/>
            <a:ext cx="10607040" cy="1202436"/>
          </a:xfrm>
          <a:prstGeom prst="roundRect">
            <a:avLst>
              <a:gd name="adj" fmla="val 1647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" y="2361438"/>
            <a:ext cx="502920" cy="50292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9" name="Picture 8" descr="i-wheelchair__FBF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2490978"/>
            <a:ext cx="243840" cy="243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5460" y="2231136"/>
            <a:ext cx="2590800" cy="498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560" b="1" spc="-16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280 000</a:t>
            </a:r>
          </a:p>
        </p:txBody>
      </p:sp>
      <p:pic>
        <p:nvPicPr>
          <p:cNvPr id="11" name="Picture 10" descr="i-arrow-right__97C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620" y="2343912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5340" y="2231136"/>
            <a:ext cx="2615184" cy="498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560" b="1" spc="-160">
                <a:solidFill>
                  <a:srgbClr val="26301C"/>
                </a:solidFill>
                <a:latin typeface="Lexend"/>
                <a:cs typeface="Lexend"/>
              </a:rPr>
              <a:t>380 000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5460" y="2757678"/>
            <a:ext cx="3823716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spc="6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uføre – mens befolkningen vokste rundt 26 %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0780" y="2426208"/>
            <a:ext cx="1112520" cy="373380"/>
          </a:xfrm>
          <a:prstGeom prst="roundRect">
            <a:avLst>
              <a:gd name="adj" fmla="val 50000"/>
            </a:avLst>
          </a:prstGeom>
          <a:solidFill>
            <a:srgbClr val="AA523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5" name="Picture 14" descr="i-trend-up__AA52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513838"/>
            <a:ext cx="198120" cy="198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47020" y="2507742"/>
            <a:ext cx="8839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spc="-14">
                <a:solidFill>
                  <a:srgbClr val="AA523C"/>
                </a:solidFill>
                <a:latin typeface="Lexend"/>
                <a:cs typeface="Lexend"/>
              </a:rPr>
              <a:t>+ 36 %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" y="3396996"/>
            <a:ext cx="10607040" cy="1202436"/>
          </a:xfrm>
          <a:prstGeom prst="roundRect">
            <a:avLst>
              <a:gd name="adj" fmla="val 1647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" y="3746754"/>
            <a:ext cx="502920" cy="50292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9" name="Picture 18" descr="i-person-group__8151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" y="3876294"/>
            <a:ext cx="243840" cy="243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75460" y="3616452"/>
            <a:ext cx="1144524" cy="498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560" b="1" spc="-160">
                <a:solidFill>
                  <a:srgbClr val="26301C"/>
                </a:solidFill>
                <a:latin typeface="Lexend"/>
                <a:cs typeface="Lexend"/>
              </a:rPr>
              <a:t>4,6</a:t>
            </a:r>
          </a:p>
        </p:txBody>
      </p:sp>
      <p:pic>
        <p:nvPicPr>
          <p:cNvPr id="21" name="Picture 20" descr="i-arrow-right__97C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04" y="3752850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02864" y="3616452"/>
            <a:ext cx="1110234" cy="498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560" b="1" spc="-16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3,3</a:t>
            </a:r>
          </a:p>
        </p:txBody>
      </p:sp>
      <p:pic>
        <p:nvPicPr>
          <p:cNvPr id="23" name="Picture 22" descr="i-arrow-right__97C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218" y="3752850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95978" y="3616452"/>
            <a:ext cx="1088136" cy="498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560" b="1" spc="-160">
                <a:solidFill>
                  <a:srgbClr val="26301C"/>
                </a:solidFill>
                <a:latin typeface="Lexend"/>
                <a:cs typeface="Lexend"/>
              </a:rPr>
              <a:t>2,5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5460" y="4142994"/>
            <a:ext cx="4467606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spc="6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yrkesaktive bak hver pensjonist (2000 – i dag – 2050)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4298" y="3811524"/>
            <a:ext cx="1159002" cy="373380"/>
          </a:xfrm>
          <a:prstGeom prst="roundRect">
            <a:avLst>
              <a:gd name="adj" fmla="val 50000"/>
            </a:avLst>
          </a:prstGeom>
          <a:solidFill>
            <a:srgbClr val="81512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7" name="Picture 26" descr="i-trend-down__8151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218" y="3899154"/>
            <a:ext cx="198120" cy="198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400538" y="3893058"/>
            <a:ext cx="93040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spc="-14">
                <a:solidFill>
                  <a:srgbClr val="81512C"/>
                </a:solidFill>
                <a:latin typeface="Lexend"/>
                <a:cs typeface="Lexend"/>
              </a:rPr>
              <a:t>halvert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480" y="4782312"/>
            <a:ext cx="10607040" cy="1014984"/>
          </a:xfrm>
          <a:prstGeom prst="roundRect">
            <a:avLst>
              <a:gd name="adj" fmla="val 19519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8700" y="5038344"/>
            <a:ext cx="502920" cy="502920"/>
          </a:xfrm>
          <a:prstGeom prst="ellipse">
            <a:avLst/>
          </a:prstGeom>
          <a:solidFill>
            <a:srgbClr val="3F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1" name="Picture 30" descr="i-briefcase__F3F0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" y="5167884"/>
            <a:ext cx="243840" cy="2438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75460" y="5001768"/>
            <a:ext cx="224942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arbeidsledighet</a:t>
            </a:r>
          </a:p>
        </p:txBody>
      </p:sp>
      <p:pic>
        <p:nvPicPr>
          <p:cNvPr id="33" name="Picture 32" descr="i-arrow-right__97C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244" y="5044440"/>
            <a:ext cx="22860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238244" y="5001768"/>
            <a:ext cx="286131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arbeidskraftmangel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5460" y="5340858"/>
            <a:ext cx="250317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spc="6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det Norge bekymrer seg for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91166" y="5103114"/>
            <a:ext cx="1072134" cy="373380"/>
          </a:xfrm>
          <a:prstGeom prst="roundRect">
            <a:avLst>
              <a:gd name="adj" fmla="val 50000"/>
            </a:avLst>
          </a:prstGeom>
          <a:solidFill>
            <a:srgbClr val="97CA3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7" name="Picture 36" descr="i-arrows-circlepath__5C7A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3086" y="5190744"/>
            <a:ext cx="198120" cy="1981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487406" y="5184648"/>
            <a:ext cx="84353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spc="-14">
                <a:solidFill>
                  <a:srgbClr val="5C7A15"/>
                </a:solidFill>
                <a:latin typeface="Lexend"/>
                <a:cs typeface="Lexend"/>
              </a:rPr>
              <a:t>snudd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248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680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112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1544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8976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6408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3840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272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8704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61360" y="2300478"/>
            <a:ext cx="152400" cy="15240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80" y="2787396"/>
            <a:ext cx="5740146" cy="10988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65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spc="-269">
                <a:solidFill>
                  <a:srgbClr val="F3F0E2"/>
                </a:solidFill>
                <a:latin typeface="Lexend"/>
                <a:cs typeface="Lexend"/>
              </a:rPr>
              <a:t>Ti punkter.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4222242"/>
            <a:ext cx="4200144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Tallene som beskriver Norge i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79298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1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2417826"/>
            <a:ext cx="5730240" cy="1205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490"/>
              </a:lnSpc>
              <a:spcBef>
                <a:spcPts val="0"/>
              </a:spcBef>
              <a:spcAft>
                <a:spcPts val="0"/>
              </a:spcAft>
            </a:pPr>
            <a:r>
              <a:rPr sz="11040" b="1" spc="-552">
                <a:solidFill>
                  <a:srgbClr val="26301C"/>
                </a:solidFill>
                <a:latin typeface="Lexend"/>
                <a:cs typeface="Lexend"/>
              </a:rPr>
              <a:t>380 000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3806952"/>
            <a:ext cx="534924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uføre i Norge i dag. I 2000 var tallet </a:t>
            </a:r>
            <a:r>
              <a:rPr sz="1860" b="1" spc="-9">
                <a:solidFill>
                  <a:srgbClr val="26301C"/>
                </a:solidFill>
                <a:latin typeface="Lexend"/>
                <a:cs typeface="Lexend"/>
              </a:rPr>
              <a:t>280 000</a:t>
            </a: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80" y="4325112"/>
            <a:ext cx="3649980" cy="373380"/>
          </a:xfrm>
          <a:prstGeom prst="roundRect">
            <a:avLst>
              <a:gd name="adj" fmla="val 50000"/>
            </a:avLst>
          </a:prstGeom>
          <a:solidFill>
            <a:srgbClr val="AA523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7" name="Picture 6" descr="i-trend-up__AA5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12742"/>
            <a:ext cx="198120" cy="198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4406646"/>
            <a:ext cx="34213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spc="-14">
                <a:solidFill>
                  <a:srgbClr val="AA523C"/>
                </a:solidFill>
                <a:latin typeface="Lexend"/>
                <a:cs typeface="Lexend"/>
              </a:rPr>
              <a:t>+ 36 % i antall · befolkningen + 26 %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6080" y="1811274"/>
            <a:ext cx="1821180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spc="5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Andel av befolkningen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6080" y="2313432"/>
            <a:ext cx="103098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År 2000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9504" y="2201418"/>
            <a:ext cx="97688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26301C"/>
                </a:solidFill>
                <a:latin typeface="Lexend"/>
                <a:cs typeface="Lexend"/>
              </a:rPr>
              <a:t>6,2 %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6080" y="2586990"/>
            <a:ext cx="4430268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36080" y="2586990"/>
            <a:ext cx="4031742" cy="259080"/>
          </a:xfrm>
          <a:prstGeom prst="roundRect">
            <a:avLst>
              <a:gd name="adj" fmla="val 23529"/>
            </a:avLst>
          </a:prstGeom>
          <a:solidFill>
            <a:srgbClr val="7F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6080" y="3102102"/>
            <a:ext cx="83210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I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8074" y="2990088"/>
            <a:ext cx="98831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AA523C"/>
                </a:solidFill>
                <a:latin typeface="Lexend"/>
                <a:cs typeface="Lexend"/>
              </a:rPr>
              <a:t>6,8 %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6080" y="3375660"/>
            <a:ext cx="4430268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36080" y="3375660"/>
            <a:ext cx="4430268" cy="259080"/>
          </a:xfrm>
          <a:prstGeom prst="roundRect">
            <a:avLst>
              <a:gd name="adj" fmla="val 23529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6080" y="3816096"/>
            <a:ext cx="4687062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Befolkningen vokste 26 prosent i samme periode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6080" y="4113276"/>
            <a:ext cx="432663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– fra 4,5 til 5,6 millioner. Antallet uføre vokste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6080" y="4410456"/>
            <a:ext cx="355320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rundt 10 prosentpoeng raskere. Hvis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6080" y="4707636"/>
            <a:ext cx="442188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arbeidsinkluderingen gikk riktig vei, burde det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6080" y="5004816"/>
            <a:ext cx="181965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gått motsatt vei.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79374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2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2249424"/>
            <a:ext cx="4722876" cy="1205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490"/>
              </a:lnSpc>
              <a:spcBef>
                <a:spcPts val="0"/>
              </a:spcBef>
              <a:spcAft>
                <a:spcPts val="0"/>
              </a:spcAft>
            </a:pPr>
            <a:r>
              <a:rPr sz="11040" b="1" spc="-552">
                <a:solidFill>
                  <a:srgbClr val="26301C"/>
                </a:solidFill>
                <a:latin typeface="Lexend"/>
                <a:cs typeface="Lexend"/>
              </a:rPr>
              <a:t>22 000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3639312"/>
            <a:ext cx="5567172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unge uføre under 30 år. Ved inngangen til 2000-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974592"/>
            <a:ext cx="2921508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tallet var de </a:t>
            </a:r>
            <a:r>
              <a:rPr sz="1860" b="1" spc="-9">
                <a:solidFill>
                  <a:srgbClr val="26301C"/>
                </a:solidFill>
                <a:latin typeface="Lexend"/>
                <a:cs typeface="Lexend"/>
              </a:rPr>
              <a:t>11–12 000</a:t>
            </a: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80" y="4492752"/>
            <a:ext cx="1860042" cy="373380"/>
          </a:xfrm>
          <a:prstGeom prst="roundRect">
            <a:avLst>
              <a:gd name="adj" fmla="val 50000"/>
            </a:avLst>
          </a:prstGeom>
          <a:solidFill>
            <a:srgbClr val="AA523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8" name="Picture 7" descr="i-trend-up__AA5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80382"/>
            <a:ext cx="198120" cy="198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4574286"/>
            <a:ext cx="163144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spc="-14">
                <a:solidFill>
                  <a:srgbClr val="AA523C"/>
                </a:solidFill>
                <a:latin typeface="Lexend"/>
                <a:cs typeface="Lexend"/>
              </a:rPr>
              <a:t>doblet på 25 år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4160" y="2383536"/>
            <a:ext cx="168630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Rundt år 2000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078" y="2270760"/>
            <a:ext cx="157048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26301C"/>
                </a:solidFill>
                <a:latin typeface="Lexend"/>
                <a:cs typeface="Lexend"/>
              </a:rPr>
              <a:t>11–12 000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4160" y="2657094"/>
            <a:ext cx="4785360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4160" y="2657094"/>
            <a:ext cx="2487930" cy="259080"/>
          </a:xfrm>
          <a:prstGeom prst="roundRect">
            <a:avLst>
              <a:gd name="adj" fmla="val 23529"/>
            </a:avLst>
          </a:prstGeom>
          <a:solidFill>
            <a:srgbClr val="7F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4160" y="3172206"/>
            <a:ext cx="83210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I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59796" y="3059430"/>
            <a:ext cx="115976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AA523C"/>
                </a:solidFill>
                <a:latin typeface="Lexend"/>
                <a:cs typeface="Lexend"/>
              </a:rPr>
              <a:t>22 000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4160" y="3445764"/>
            <a:ext cx="4785360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14160" y="3445764"/>
            <a:ext cx="4785360" cy="259080"/>
          </a:xfrm>
          <a:prstGeom prst="roundRect">
            <a:avLst>
              <a:gd name="adj" fmla="val 23529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14160" y="3887724"/>
            <a:ext cx="4785360" cy="964692"/>
          </a:xfrm>
          <a:prstGeom prst="roundRect">
            <a:avLst>
              <a:gd name="adj" fmla="val 20537"/>
            </a:avLst>
          </a:prstGeom>
          <a:solidFill>
            <a:srgbClr val="AA523C">
              <a:alpha val="10000"/>
            </a:srgbClr>
          </a:solidFill>
          <a:ln w="7620">
            <a:solidFill>
              <a:srgbClr val="AA523C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0380" y="4171950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0" name="Picture 19" descr="i-exclamationmark-triangle__FBF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4274820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83780" y="4105656"/>
            <a:ext cx="3892296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Det mest bekymringsfulle er ikke hvor mange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3780" y="4367022"/>
            <a:ext cx="3759708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som står utenfor. Det er hvor tidlig det skjer.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2480" y="1137666"/>
            <a:ext cx="792480" cy="792480"/>
          </a:xfrm>
          <a:prstGeom prst="ellipse">
            <a:avLst/>
          </a:prstGeom>
          <a:noFill/>
          <a:ln w="15240">
            <a:solidFill>
              <a:srgbClr val="F3F0E2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-hourglass__F3F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1343406"/>
            <a:ext cx="38100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80" y="2233422"/>
            <a:ext cx="6783324" cy="653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 spc="-107">
                <a:solidFill>
                  <a:srgbClr val="F3F0E2"/>
                </a:solidFill>
                <a:latin typeface="Lexend"/>
                <a:cs typeface="Lexend"/>
              </a:rPr>
              <a:t>Å bli stående utenfor 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2887218"/>
            <a:ext cx="7527798" cy="653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 spc="-107">
                <a:solidFill>
                  <a:srgbClr val="F3F0E2"/>
                </a:solidFill>
                <a:latin typeface="Lexend"/>
                <a:cs typeface="Lexend"/>
              </a:rPr>
              <a:t>20-årene er ikke noen få år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541776"/>
            <a:ext cx="5890260" cy="653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 spc="-107">
                <a:solidFill>
                  <a:srgbClr val="F3F0E2"/>
                </a:solidFill>
                <a:latin typeface="Lexend"/>
                <a:cs typeface="Lexend"/>
              </a:rPr>
              <a:t>utenfor. Det kan bety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4195572"/>
            <a:ext cx="3119628" cy="653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 spc="-107">
                <a:solidFill>
                  <a:srgbClr val="97CA31"/>
                </a:solidFill>
                <a:latin typeface="Lexend"/>
                <a:cs typeface="Lexend"/>
              </a:rPr>
              <a:t>over 40 år.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48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632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824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0208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52400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2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6784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8976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1168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3360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5552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7744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9936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2128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6512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8704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0896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3088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5280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7472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9664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71856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4048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6240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8432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0624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2816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5008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9392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1584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3776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5968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8160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30352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2544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547360" y="5302758"/>
            <a:ext cx="83820" cy="548640"/>
          </a:xfrm>
          <a:prstGeom prst="roundRect">
            <a:avLst>
              <a:gd name="adj" fmla="val 27272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2480" y="5955792"/>
            <a:ext cx="2407158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spc="5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Ett år per strek. Et helt yrkesliv.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79679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3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2070354"/>
            <a:ext cx="4850892" cy="1205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490"/>
              </a:lnSpc>
              <a:spcBef>
                <a:spcPts val="0"/>
              </a:spcBef>
              <a:spcAft>
                <a:spcPts val="0"/>
              </a:spcAft>
            </a:pPr>
            <a:r>
              <a:rPr sz="11040" b="1" spc="-552">
                <a:solidFill>
                  <a:srgbClr val="26301C"/>
                </a:solidFill>
                <a:latin typeface="Lexend"/>
                <a:cs typeface="Lexend"/>
              </a:rPr>
              <a:t>53 000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3460242"/>
            <a:ext cx="542925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unge har det SSB kaller </a:t>
            </a:r>
            <a:r>
              <a:rPr sz="1860" b="1" spc="-9">
                <a:solidFill>
                  <a:srgbClr val="26301C"/>
                </a:solidFill>
                <a:latin typeface="Lexend"/>
                <a:cs typeface="Lexend"/>
              </a:rPr>
              <a:t>«ukjent status»</a:t>
            </a: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. De 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795522"/>
            <a:ext cx="5378196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ikke i arbeid, ikke i utdanning, ikke i tiltak – 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4130802"/>
            <a:ext cx="2817876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ofte ikke kjent for NAV.</a:t>
            </a:r>
          </a:p>
        </p:txBody>
      </p:sp>
      <p:sp>
        <p:nvSpPr>
          <p:cNvPr id="8" name="Oval 7"/>
          <p:cNvSpPr/>
          <p:nvPr/>
        </p:nvSpPr>
        <p:spPr>
          <a:xfrm>
            <a:off x="792480" y="4648962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9" name="Picture 8" descr="i-questionmark-circle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751832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41120" y="4696968"/>
            <a:ext cx="3965448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Over 22 000 av de unge utenfor er uføre.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4160" y="2304288"/>
            <a:ext cx="458266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104 000 unge mellom 15 og 29 år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4160" y="2675382"/>
            <a:ext cx="4541520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spc="5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står utenfor arbeid og utdanning – én prikk per tusen personer.</a:t>
            </a:r>
          </a:p>
        </p:txBody>
      </p:sp>
      <p:sp>
        <p:nvSpPr>
          <p:cNvPr id="13" name="Oval 12"/>
          <p:cNvSpPr/>
          <p:nvPr/>
        </p:nvSpPr>
        <p:spPr>
          <a:xfrm>
            <a:off x="661416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0184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4568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2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3336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720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6488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0872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6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640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4024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2792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7176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5944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03280" y="305866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1416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0184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4568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8952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3336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07720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2104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6488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0872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5256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9640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54024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78408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2792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7176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1560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5944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03280" y="330250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416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5800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0184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4568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8952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3336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7720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2104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56488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80872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05256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29640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54024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78408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27920" y="3546348"/>
            <a:ext cx="167640" cy="167640"/>
          </a:xfrm>
          <a:prstGeom prst="ellipse">
            <a:avLst/>
          </a:prstGeom>
          <a:noFill/>
          <a:ln w="15240">
            <a:solidFill>
              <a:srgbClr val="AA523C">
                <a:alpha val="85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271760" y="354634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515600" y="354634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759440" y="354634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003280" y="354634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61416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5800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10184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34568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8952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83336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7720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32104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56488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80872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05256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29640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54024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78408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02792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27176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51560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75944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03280" y="379018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61416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85800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10184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34568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58952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83336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07720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32104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56488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80872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05256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29640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54024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78408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02792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27176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51560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75944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003280" y="403402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61416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800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10184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34568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58952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83336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07720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32104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64880" y="4277868"/>
            <a:ext cx="167640" cy="1676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14160" y="4658868"/>
            <a:ext cx="121920" cy="12192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19900" y="4632960"/>
            <a:ext cx="158419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kjent for systemet</a:t>
            </a:r>
          </a:p>
        </p:txBody>
      </p:sp>
      <p:sp>
        <p:nvSpPr>
          <p:cNvPr id="119" name="Oval 118"/>
          <p:cNvSpPr/>
          <p:nvPr/>
        </p:nvSpPr>
        <p:spPr>
          <a:xfrm>
            <a:off x="8312658" y="4658868"/>
            <a:ext cx="121920" cy="121920"/>
          </a:xfrm>
          <a:prstGeom prst="ellipse">
            <a:avLst/>
          </a:prstGeom>
          <a:noFill/>
          <a:ln w="15240">
            <a:solidFill>
              <a:srgbClr val="AA52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518398" y="4632960"/>
            <a:ext cx="122301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ukjent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2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2480" y="2013966"/>
            <a:ext cx="792480" cy="79248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-bell__8151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2219706"/>
            <a:ext cx="38100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80" y="3110484"/>
            <a:ext cx="6858000" cy="8663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820"/>
              </a:lnSpc>
              <a:spcBef>
                <a:spcPts val="0"/>
              </a:spcBef>
              <a:spcAft>
                <a:spcPts val="0"/>
              </a:spcAft>
            </a:pPr>
            <a:r>
              <a:rPr sz="5880" b="0" spc="-141">
                <a:solidFill>
                  <a:srgbClr val="F3F0E2"/>
                </a:solidFill>
                <a:latin typeface="Lexend"/>
                <a:cs typeface="Lexend"/>
              </a:rPr>
              <a:t>Det burde være 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3976878"/>
            <a:ext cx="5725668" cy="8663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820"/>
              </a:lnSpc>
              <a:spcBef>
                <a:spcPts val="0"/>
              </a:spcBef>
              <a:spcAft>
                <a:spcPts val="0"/>
              </a:spcAft>
            </a:pPr>
            <a:r>
              <a:rPr sz="5880" b="0" spc="-141">
                <a:solidFill>
                  <a:srgbClr val="E9A793"/>
                </a:solidFill>
                <a:latin typeface="Lexend"/>
                <a:cs typeface="Lexend"/>
              </a:rPr>
              <a:t>nasjonal alarm.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80822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4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2301240"/>
            <a:ext cx="3186684" cy="1101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670"/>
              </a:lnSpc>
              <a:spcBef>
                <a:spcPts val="0"/>
              </a:spcBef>
              <a:spcAft>
                <a:spcPts val="0"/>
              </a:spcAft>
            </a:pPr>
            <a:r>
              <a:rPr sz="10080" b="1" spc="-504">
                <a:solidFill>
                  <a:srgbClr val="26301C"/>
                </a:solidFill>
                <a:latin typeface="Lexend"/>
                <a:cs typeface="Lexend"/>
              </a:rPr>
              <a:t>24</a:t>
            </a:r>
            <a:r>
              <a:rPr sz="10080" b="0" spc="-504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 : </a:t>
            </a:r>
            <a:r>
              <a:rPr sz="10080" b="1" spc="-504">
                <a:solidFill>
                  <a:srgbClr val="26301C"/>
                </a:solidFill>
                <a:latin typeface="Lexend"/>
                <a:cs typeface="Lexen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3586734"/>
            <a:ext cx="5228844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Så mange kroner går til utenforskap for hver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922014"/>
            <a:ext cx="424434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krone vi bruker på å få folk i arbeid.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80" y="4440936"/>
            <a:ext cx="3345942" cy="373380"/>
          </a:xfrm>
          <a:prstGeom prst="roundRect">
            <a:avLst>
              <a:gd name="adj" fmla="val 50000"/>
            </a:avLst>
          </a:prstGeom>
          <a:solidFill>
            <a:srgbClr val="AA523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8" name="Picture 7" descr="i-trend-up__AA5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28566"/>
            <a:ext cx="198120" cy="198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4522470"/>
            <a:ext cx="311734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spc="-14">
                <a:solidFill>
                  <a:srgbClr val="AA523C"/>
                </a:solidFill>
                <a:latin typeface="Lexend"/>
                <a:cs typeface="Lexend"/>
              </a:rPr>
              <a:t>fra 17 : 1 i år 2000 · + rundt 41 %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14160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93052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71944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0836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9728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8620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7512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65642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44534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3426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02318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81210" y="2742438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4160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93052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71944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0836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9728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8620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87512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65642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844534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23426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02318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81210" y="3021330"/>
            <a:ext cx="210312" cy="210312"/>
          </a:xfrm>
          <a:prstGeom prst="roundRect">
            <a:avLst>
              <a:gd name="adj" fmla="val 18115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49840" y="2788920"/>
            <a:ext cx="396240" cy="396240"/>
          </a:xfrm>
          <a:prstGeom prst="roundRect">
            <a:avLst>
              <a:gd name="adj" fmla="val 17307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14160" y="3445002"/>
            <a:ext cx="121920" cy="121920"/>
          </a:xfrm>
          <a:prstGeom prst="roundRect">
            <a:avLst>
              <a:gd name="adj" fmla="val 25000"/>
            </a:avLst>
          </a:prstGeom>
          <a:solidFill>
            <a:srgbClr val="AA523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9900" y="3419094"/>
            <a:ext cx="20421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24 kroner til utenforskap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0620" y="3445002"/>
            <a:ext cx="121920" cy="121920"/>
          </a:xfrm>
          <a:prstGeom prst="roundRect">
            <a:avLst>
              <a:gd name="adj" fmla="val 25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6360" y="3419094"/>
            <a:ext cx="150190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1 krone til arbeid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4160" y="3777996"/>
            <a:ext cx="4663440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I 2000 var forholdet 17 : 1. En økning på rundt 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4160" y="4075176"/>
            <a:ext cx="181965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prosent på 25 år.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301599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Punkt 4 av 10 · fortsatt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33272"/>
            <a:ext cx="4828794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F3F0E2"/>
                </a:solidFill>
                <a:latin typeface="Lexend"/>
                <a:cs typeface="Lexend"/>
              </a:rPr>
              <a:t>Regnskapet for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2484882"/>
            <a:ext cx="123063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uføretrygd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2460498"/>
            <a:ext cx="6217920" cy="259080"/>
          </a:xfrm>
          <a:prstGeom prst="roundRect">
            <a:avLst>
              <a:gd name="adj" fmla="val 23529"/>
            </a:avLst>
          </a:prstGeom>
          <a:solidFill>
            <a:srgbClr val="F3F0E2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40" y="2460498"/>
            <a:ext cx="6217920" cy="259080"/>
          </a:xfrm>
          <a:prstGeom prst="roundRect">
            <a:avLst>
              <a:gd name="adj" fmla="val 23529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21290" y="2457450"/>
            <a:ext cx="139827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spc="-26">
                <a:solidFill>
                  <a:srgbClr val="F3F0E2"/>
                </a:solidFill>
                <a:latin typeface="Lexend"/>
                <a:cs typeface="Lexend"/>
              </a:rPr>
              <a:t>140,6 mrd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" y="2915412"/>
            <a:ext cx="130911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sykepenger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891028"/>
            <a:ext cx="6217920" cy="259080"/>
          </a:xfrm>
          <a:prstGeom prst="roundRect">
            <a:avLst>
              <a:gd name="adj" fmla="val 23529"/>
            </a:avLst>
          </a:prstGeom>
          <a:solidFill>
            <a:srgbClr val="F3F0E2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2891028"/>
            <a:ext cx="2947416" cy="259080"/>
          </a:xfrm>
          <a:prstGeom prst="roundRect">
            <a:avLst>
              <a:gd name="adj" fmla="val 23529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6738" y="2887980"/>
            <a:ext cx="1242822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spc="-26">
                <a:solidFill>
                  <a:srgbClr val="F3F0E2"/>
                </a:solidFill>
                <a:latin typeface="Lexend"/>
                <a:cs typeface="Lexend"/>
              </a:rPr>
              <a:t>66,7 mrd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3345942"/>
            <a:ext cx="244373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arbeidsavklaringspenger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321558"/>
            <a:ext cx="6217920" cy="259080"/>
          </a:xfrm>
          <a:prstGeom prst="roundRect">
            <a:avLst>
              <a:gd name="adj" fmla="val 23529"/>
            </a:avLst>
          </a:prstGeom>
          <a:solidFill>
            <a:srgbClr val="F3F0E2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3321558"/>
            <a:ext cx="2474976" cy="259080"/>
          </a:xfrm>
          <a:prstGeom prst="roundRect">
            <a:avLst>
              <a:gd name="adj" fmla="val 23529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66070" y="3318510"/>
            <a:ext cx="125349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spc="-26">
                <a:solidFill>
                  <a:srgbClr val="F3F0E2"/>
                </a:solidFill>
                <a:latin typeface="Lexend"/>
                <a:cs typeface="Lexend"/>
              </a:rPr>
              <a:t>55,9 mrd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3776472"/>
            <a:ext cx="126034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dagpenger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752088"/>
            <a:ext cx="6217920" cy="259080"/>
          </a:xfrm>
          <a:prstGeom prst="roundRect">
            <a:avLst>
              <a:gd name="adj" fmla="val 23529"/>
            </a:avLst>
          </a:prstGeom>
          <a:solidFill>
            <a:srgbClr val="F3F0E2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3752088"/>
            <a:ext cx="745998" cy="259080"/>
          </a:xfrm>
          <a:prstGeom prst="roundRect">
            <a:avLst>
              <a:gd name="adj" fmla="val 23529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9786" y="3749040"/>
            <a:ext cx="1239774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spc="-26">
                <a:solidFill>
                  <a:srgbClr val="F3F0E2"/>
                </a:solidFill>
                <a:latin typeface="Lexend"/>
                <a:cs typeface="Lexend"/>
              </a:rPr>
              <a:t>16,9 mrd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80" y="4172712"/>
            <a:ext cx="10607040" cy="7620"/>
          </a:xfrm>
          <a:prstGeom prst="rect">
            <a:avLst/>
          </a:prstGeom>
          <a:solidFill>
            <a:srgbClr val="F3F0E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80" y="4376166"/>
            <a:ext cx="237515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97CA31"/>
                </a:solidFill>
                <a:latin typeface="Lexend"/>
                <a:cs typeface="Lexend"/>
              </a:rPr>
              <a:t>til arbeidsrettet innsats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4351782"/>
            <a:ext cx="6217920" cy="259080"/>
          </a:xfrm>
          <a:prstGeom prst="roundRect">
            <a:avLst>
              <a:gd name="adj" fmla="val 23529"/>
            </a:avLst>
          </a:prstGeom>
          <a:solidFill>
            <a:srgbClr val="F3F0E2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0440" y="4351782"/>
            <a:ext cx="512826" cy="259080"/>
          </a:xfrm>
          <a:prstGeom prst="roundRect">
            <a:avLst>
              <a:gd name="adj" fmla="val 23529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56126" y="4351782"/>
            <a:ext cx="733806" cy="259080"/>
          </a:xfrm>
          <a:prstGeom prst="roundRect">
            <a:avLst>
              <a:gd name="adj" fmla="val 23529"/>
            </a:avLst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12792" y="4351782"/>
            <a:ext cx="354330" cy="259080"/>
          </a:xfrm>
          <a:prstGeom prst="roundRect">
            <a:avLst>
              <a:gd name="adj" fmla="val 23529"/>
            </a:avLst>
          </a:prstGeom>
          <a:solidFill>
            <a:srgbClr val="BD9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89982" y="4351782"/>
            <a:ext cx="198882" cy="259080"/>
          </a:xfrm>
          <a:prstGeom prst="roundRect">
            <a:avLst>
              <a:gd name="adj" fmla="val 30651"/>
            </a:avLst>
          </a:prstGeom>
          <a:solidFill>
            <a:srgbClr val="815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4348" y="4358640"/>
            <a:ext cx="1315212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spc="-26">
                <a:solidFill>
                  <a:srgbClr val="97CA31"/>
                </a:solidFill>
                <a:latin typeface="Lexend"/>
                <a:cs typeface="Lexend"/>
              </a:rPr>
              <a:t>≈ 40 mrd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4830318"/>
            <a:ext cx="99060" cy="99060"/>
          </a:xfrm>
          <a:prstGeom prst="roundRect">
            <a:avLst>
              <a:gd name="adj" fmla="val 23076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8080" y="4802124"/>
            <a:ext cx="166725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Arbeidsmarkedstiltak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3416" y="4830318"/>
            <a:ext cx="99060" cy="99060"/>
          </a:xfrm>
          <a:prstGeom prst="roundRect">
            <a:avLst>
              <a:gd name="adj" fmla="val 23076"/>
            </a:avLst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1056" y="4802124"/>
            <a:ext cx="59664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NAV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75782" y="4830318"/>
            <a:ext cx="99060" cy="99060"/>
          </a:xfrm>
          <a:prstGeom prst="roundRect">
            <a:avLst>
              <a:gd name="adj" fmla="val 23076"/>
            </a:avLst>
          </a:prstGeom>
          <a:solidFill>
            <a:srgbClr val="BD9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43422" y="4802124"/>
            <a:ext cx="142570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Integreringstiltak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47204" y="4830318"/>
            <a:ext cx="99060" cy="99060"/>
          </a:xfrm>
          <a:prstGeom prst="roundRect">
            <a:avLst>
              <a:gd name="adj" fmla="val 23076"/>
            </a:avLst>
          </a:prstGeom>
          <a:solidFill>
            <a:srgbClr val="815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4844" y="4802124"/>
            <a:ext cx="13350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Fylkeskommune</a:t>
            </a:r>
          </a:p>
        </p:txBody>
      </p:sp>
      <p:sp>
        <p:nvSpPr>
          <p:cNvPr id="37" name="Oval 36"/>
          <p:cNvSpPr/>
          <p:nvPr/>
        </p:nvSpPr>
        <p:spPr>
          <a:xfrm>
            <a:off x="792480" y="5760720"/>
            <a:ext cx="396240" cy="3962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8" name="Picture 37" descr="i-wallet__8151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5863590"/>
            <a:ext cx="190500" cy="190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86840" y="5791200"/>
            <a:ext cx="6506718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F3F0E2"/>
                </a:solidFill>
                <a:latin typeface="Lexend"/>
                <a:cs typeface="Lexend"/>
              </a:rPr>
              <a:t>Til sammen over </a:t>
            </a:r>
            <a:r>
              <a:rPr sz="1860" b="1" spc="-9">
                <a:solidFill>
                  <a:srgbClr val="F3F0E2"/>
                </a:solidFill>
                <a:latin typeface="Lexend"/>
                <a:cs typeface="Lexend"/>
              </a:rPr>
              <a:t>280 milliarder kroner</a:t>
            </a:r>
            <a:r>
              <a:rPr sz="1860" b="0" spc="-9">
                <a:solidFill>
                  <a:srgbClr val="F3F0E2"/>
                </a:solidFill>
                <a:latin typeface="Lexend"/>
                <a:cs typeface="Lexend"/>
              </a:rPr>
              <a:t> i inntektssikring.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301599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4 av 10 · fortsatt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33272"/>
            <a:ext cx="506425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Tar vi med hele bildet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2735580"/>
            <a:ext cx="245440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til å få folk i arbeid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9448" y="2622804"/>
            <a:ext cx="91135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5C7A15"/>
                </a:solidFill>
                <a:latin typeface="Lexend"/>
                <a:cs typeface="Lexend"/>
              </a:rPr>
              <a:t>15 %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80" y="3009138"/>
            <a:ext cx="5288280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480" y="3009138"/>
            <a:ext cx="793242" cy="259080"/>
          </a:xfrm>
          <a:prstGeom prst="roundRect">
            <a:avLst>
              <a:gd name="adj" fmla="val 23529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3524250"/>
            <a:ext cx="235762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til inntektssikring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6494" y="3411474"/>
            <a:ext cx="92430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AA523C"/>
                </a:solidFill>
                <a:latin typeface="Lexend"/>
                <a:cs typeface="Lexend"/>
              </a:rPr>
              <a:t>85 %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80" y="3797808"/>
            <a:ext cx="5288280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2480" y="3797808"/>
            <a:ext cx="4495038" cy="259080"/>
          </a:xfrm>
          <a:prstGeom prst="roundRect">
            <a:avLst>
              <a:gd name="adj" fmla="val 23529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80" y="4237482"/>
            <a:ext cx="496290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Regner vi med alt vi bruker på å få folk i arbeid, går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" y="4534662"/>
            <a:ext cx="5402580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fortsatt fem av seks kroner til å dekke konsekvensene 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" y="4831842"/>
            <a:ext cx="191795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at de står utenfor.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4160" y="1911096"/>
            <a:ext cx="4785360" cy="964692"/>
          </a:xfrm>
          <a:prstGeom prst="roundRect">
            <a:avLst>
              <a:gd name="adj" fmla="val 20537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0380" y="2195322"/>
            <a:ext cx="396240" cy="3962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8" name="Picture 17" descr="i-briefcase__8151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0" y="2298192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99020" y="2129028"/>
            <a:ext cx="3619500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26301C"/>
                </a:solidFill>
                <a:latin typeface="Lexend"/>
                <a:cs typeface="Lexend"/>
              </a:rPr>
              <a:t>ca. 30 mrd</a:t>
            </a: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 til tiltak for folk vi antar har 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9020" y="2390394"/>
            <a:ext cx="1636014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arbeidspotensial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4160" y="2982468"/>
            <a:ext cx="4785360" cy="838200"/>
          </a:xfrm>
          <a:prstGeom prst="roundRect">
            <a:avLst>
              <a:gd name="adj" fmla="val 2363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0380" y="3203448"/>
            <a:ext cx="396240" cy="3962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3" name="Picture 22" descr="i-cog__8151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3306318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99020" y="3267456"/>
            <a:ext cx="2650236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26301C"/>
                </a:solidFill>
                <a:latin typeface="Lexend"/>
                <a:cs typeface="Lexend"/>
              </a:rPr>
              <a:t>16,6 mrd</a:t>
            </a: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 i NAVs egen innsats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4160" y="3927348"/>
            <a:ext cx="4785360" cy="838200"/>
          </a:xfrm>
          <a:prstGeom prst="roundRect">
            <a:avLst>
              <a:gd name="adj" fmla="val 2363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0380" y="4148328"/>
            <a:ext cx="396240" cy="3962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7" name="Picture 26" descr="i-globe__8151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0" y="4251198"/>
            <a:ext cx="19050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99020" y="4212336"/>
            <a:ext cx="2676144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26301C"/>
                </a:solidFill>
                <a:latin typeface="Lexend"/>
                <a:cs typeface="Lexend"/>
              </a:rPr>
              <a:t>6–10 mrd</a:t>
            </a: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 til integreringstiltak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4160" y="4872228"/>
            <a:ext cx="4785360" cy="964692"/>
          </a:xfrm>
          <a:prstGeom prst="roundRect">
            <a:avLst>
              <a:gd name="adj" fmla="val 20537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0380" y="5156454"/>
            <a:ext cx="396240" cy="3962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1" name="Picture 30" descr="i-tasklist__8151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0" y="5259324"/>
            <a:ext cx="190500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99020" y="5090160"/>
            <a:ext cx="3777996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26301C"/>
                </a:solidFill>
                <a:latin typeface="Lexend"/>
                <a:cs typeface="Lexend"/>
              </a:rPr>
              <a:t>3–6 mrd</a:t>
            </a: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 fra fylkene til karriereveiledning 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9020" y="5351526"/>
            <a:ext cx="1124712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opplæring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79908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5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906524"/>
            <a:ext cx="2731008" cy="1205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490"/>
              </a:lnSpc>
              <a:spcBef>
                <a:spcPts val="0"/>
              </a:spcBef>
              <a:spcAft>
                <a:spcPts val="0"/>
              </a:spcAft>
            </a:pPr>
            <a:r>
              <a:rPr sz="11040" b="1" spc="-552">
                <a:solidFill>
                  <a:srgbClr val="26301C"/>
                </a:solidFill>
                <a:latin typeface="Lexend"/>
                <a:cs typeface="Lexend"/>
              </a:rPr>
              <a:t>850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3448" y="2561082"/>
            <a:ext cx="1610106" cy="5067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sz="4640" b="0" spc="-93">
                <a:solidFill>
                  <a:srgbClr val="26301C"/>
                </a:solidFill>
                <a:latin typeface="Lexend"/>
                <a:cs typeface="Lexend"/>
              </a:rPr>
              <a:t>mrd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296412"/>
            <a:ext cx="468630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kjøpte det offentlige Norge inn varer 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631692"/>
            <a:ext cx="2427732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tjenester for i 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480" y="4149852"/>
            <a:ext cx="2890266" cy="388620"/>
          </a:xfrm>
          <a:prstGeom prst="roundRect">
            <a:avLst>
              <a:gd name="adj" fmla="val 50000"/>
            </a:avLst>
          </a:prstGeom>
          <a:solidFill>
            <a:srgbClr val="97CA3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9" name="Picture 8" descr="i-light-bulb__5C7A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45102"/>
            <a:ext cx="198120" cy="198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4246626"/>
            <a:ext cx="266166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spc="-14">
                <a:solidFill>
                  <a:srgbClr val="5C7A15"/>
                </a:solidFill>
                <a:latin typeface="Lexend"/>
                <a:cs typeface="Lexend"/>
              </a:rPr>
              <a:t>1 % ≈ hele tiltaksbudsjettet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14160" y="1558290"/>
            <a:ext cx="4785360" cy="1722120"/>
          </a:xfrm>
          <a:prstGeom prst="roundRect">
            <a:avLst>
              <a:gd name="adj" fmla="val 11504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6100" y="2221230"/>
            <a:ext cx="396240" cy="396240"/>
          </a:xfrm>
          <a:prstGeom prst="ellipse">
            <a:avLst/>
          </a:prstGeom>
          <a:solidFill>
            <a:srgbClr val="3F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3" name="Picture 12" descr="i-sack-kroner__F3F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970" y="232410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29500" y="1822704"/>
            <a:ext cx="3886200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Ble bare én prosent av innkjøpene brukt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0" y="2119884"/>
            <a:ext cx="392963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strategisk til arbeidsinkludering, ville det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0" y="2417064"/>
            <a:ext cx="330174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tilsvare nesten hele budsjettet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0" y="2714244"/>
            <a:ext cx="2266950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arbeidsmarkedstiltak.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14160" y="3463290"/>
            <a:ext cx="4785360" cy="1424940"/>
          </a:xfrm>
          <a:prstGeom prst="roundRect">
            <a:avLst>
              <a:gd name="adj" fmla="val 13903"/>
            </a:avLst>
          </a:prstGeom>
          <a:solidFill>
            <a:srgbClr val="AA523C">
              <a:alpha val="10000"/>
            </a:srgbClr>
          </a:solidFill>
          <a:ln w="7620">
            <a:solidFill>
              <a:srgbClr val="AA523C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96100" y="3977640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0" name="Picture 19" descr="i-circle-slash__FBF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970" y="4080510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29500" y="3727704"/>
            <a:ext cx="393725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301C"/>
                </a:solidFill>
                <a:latin typeface="Lexend"/>
                <a:cs typeface="Lexend"/>
              </a:rPr>
              <a:t>30 prosent</a:t>
            </a: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 av vektingen skal handle 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0" y="4024884"/>
            <a:ext cx="391820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klima og miljø. Det sosiale i bærekraften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0" y="4322064"/>
            <a:ext cx="2574798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har vi knapt begynt 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5486400"/>
            <a:ext cx="8722614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Vi må bruke den offentlige innkjøpsmakten – og pengene vi uansett bruker 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5821680"/>
            <a:ext cx="1365504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smartere.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79679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6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33272"/>
            <a:ext cx="790651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Vi mangler arbeidskraft. Ikke folk.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80" y="1863852"/>
            <a:ext cx="5189220" cy="1718310"/>
          </a:xfrm>
          <a:prstGeom prst="roundRect">
            <a:avLst>
              <a:gd name="adj" fmla="val 11529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" y="2084832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7" name="Picture 6" descr="i-clock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187702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" y="2570988"/>
            <a:ext cx="2596896" cy="498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560" b="1" spc="-160">
                <a:solidFill>
                  <a:srgbClr val="26301C"/>
                </a:solidFill>
                <a:latin typeface="Lexend"/>
                <a:cs typeface="Lexend"/>
              </a:rPr>
              <a:t>150 000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3159252"/>
            <a:ext cx="3560826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spc="5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flere i arbeid innen 2030 – regjeringens eget mål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300" y="1863852"/>
            <a:ext cx="5189220" cy="1718310"/>
          </a:xfrm>
          <a:prstGeom prst="roundRect">
            <a:avLst>
              <a:gd name="adj" fmla="val 11529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084832"/>
            <a:ext cx="396240" cy="3962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2" name="Picture 11" descr="i-hospital__8151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2187702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2570988"/>
            <a:ext cx="3352038" cy="498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560" b="1" spc="-160">
                <a:solidFill>
                  <a:srgbClr val="26301C"/>
                </a:solidFill>
                <a:latin typeface="Lexend"/>
                <a:cs typeface="Lexend"/>
              </a:rPr>
              <a:t>halvparten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59252"/>
            <a:ext cx="4805934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spc="5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av oppgavene i Nordre Follo kan gjøres uten helsefaglig utdanning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80" y="3764280"/>
            <a:ext cx="5189220" cy="964692"/>
          </a:xfrm>
          <a:prstGeom prst="roundRect">
            <a:avLst>
              <a:gd name="adj" fmla="val 20537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8700" y="4048506"/>
            <a:ext cx="396240" cy="396240"/>
          </a:xfrm>
          <a:prstGeom prst="ellipse">
            <a:avLst/>
          </a:prstGeom>
          <a:noFill/>
          <a:ln w="1524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7" name="Picture 16" descr="i-first-aid__2630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4151376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92580" y="3982212"/>
            <a:ext cx="4131564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Helse og omsorg mangler </a:t>
            </a:r>
            <a:r>
              <a:rPr sz="1320" b="1">
                <a:solidFill>
                  <a:srgbClr val="26301C"/>
                </a:solidFill>
                <a:latin typeface="Lexend"/>
                <a:cs typeface="Lexend"/>
              </a:rPr>
              <a:t>titusenvis</a:t>
            </a: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 av hender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2580" y="4243578"/>
            <a:ext cx="1556004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årene framover.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300" y="3764280"/>
            <a:ext cx="5189220" cy="964692"/>
          </a:xfrm>
          <a:prstGeom prst="roundRect">
            <a:avLst>
              <a:gd name="adj" fmla="val 20537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048506"/>
            <a:ext cx="396240" cy="396240"/>
          </a:xfrm>
          <a:prstGeom prst="ellipse">
            <a:avLst/>
          </a:prstGeom>
          <a:noFill/>
          <a:ln w="1524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2" name="Picture 21" descr="i-cog__2630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4151376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10400" y="3982212"/>
            <a:ext cx="4118610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NAV varsler også mangel på fagarbeidere innen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4243578"/>
            <a:ext cx="3454146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/>
                </a:solidFill>
                <a:latin typeface="Lexend"/>
                <a:cs typeface="Lexend"/>
              </a:rPr>
              <a:t>bygg, anlegg, industri og håndverksfag.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2480" y="5001768"/>
            <a:ext cx="10607040" cy="1155192"/>
          </a:xfrm>
          <a:prstGeom prst="roundRect">
            <a:avLst>
              <a:gd name="adj" fmla="val 17150"/>
            </a:avLst>
          </a:prstGeom>
          <a:solidFill>
            <a:srgbClr val="97CA31">
              <a:alpha val="16000"/>
            </a:srgbClr>
          </a:solidFill>
          <a:ln w="7620">
            <a:solidFill>
              <a:srgbClr val="97CA31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4420" y="5327904"/>
            <a:ext cx="502920" cy="50292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7" name="Picture 26" descr="i-person-group__2831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960" y="5457444"/>
            <a:ext cx="243840" cy="243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75460" y="5267706"/>
            <a:ext cx="940841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Likevel står rundt </a:t>
            </a: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700 000 mennesker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utenfor arbeid og utdanning. Inntil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5460" y="5578602"/>
            <a:ext cx="368274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150 000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av dem kan jobbe.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2480" y="1572006"/>
            <a:ext cx="792480" cy="792480"/>
          </a:xfrm>
          <a:prstGeom prst="ellipse">
            <a:avLst/>
          </a:prstGeom>
          <a:noFill/>
          <a:ln w="15240">
            <a:solidFill>
              <a:srgbClr val="F3F0E2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-globe__F3F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1777746"/>
            <a:ext cx="381000" cy="381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2120" y="1572006"/>
            <a:ext cx="792480" cy="79248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5" name="Picture 4" descr="i-person-group__2831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860" y="1777746"/>
            <a:ext cx="381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480" y="2668524"/>
            <a:ext cx="4200906" cy="653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 spc="-107">
                <a:solidFill>
                  <a:srgbClr val="F3F0E2"/>
                </a:solidFill>
                <a:latin typeface="Lexend"/>
                <a:cs typeface="Lexend"/>
              </a:rPr>
              <a:t>Norges største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3322320"/>
            <a:ext cx="7226046" cy="653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 spc="-107">
                <a:solidFill>
                  <a:srgbClr val="F3F0E2"/>
                </a:solidFill>
                <a:latin typeface="Lexend"/>
                <a:cs typeface="Lexend"/>
              </a:rPr>
              <a:t>arbeidskraftressurs finnes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3976116"/>
            <a:ext cx="4210050" cy="653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 spc="-107">
                <a:solidFill>
                  <a:srgbClr val="F3F0E2"/>
                </a:solidFill>
                <a:latin typeface="Lexend"/>
                <a:cs typeface="Lexend"/>
              </a:rPr>
              <a:t>ikke i utlandet.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" y="4630674"/>
            <a:ext cx="6491478" cy="653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 spc="-107">
                <a:solidFill>
                  <a:srgbClr val="97CA31"/>
                </a:solidFill>
                <a:latin typeface="Lexend"/>
                <a:cs typeface="Lexend"/>
              </a:rPr>
              <a:t>Den finnes allerede 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79374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7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33272"/>
            <a:ext cx="802767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Stortinget vedtok 1 000 nye jobber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2011680"/>
            <a:ext cx="361645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Behovet – og Stortingets vedtak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7718" y="1898904"/>
            <a:ext cx="102184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26301C"/>
                </a:solidFill>
                <a:latin typeface="Lexend"/>
                <a:cs typeface="Lexend"/>
              </a:rPr>
              <a:t>1 000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80" y="2285238"/>
            <a:ext cx="10607040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480" y="2285238"/>
            <a:ext cx="10607040" cy="259080"/>
          </a:xfrm>
          <a:prstGeom prst="roundRect">
            <a:avLst>
              <a:gd name="adj" fmla="val 23529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2800350"/>
            <a:ext cx="254736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Regjeringens forslag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4794" y="2687574"/>
            <a:ext cx="79476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26301C"/>
                </a:solidFill>
                <a:latin typeface="Lexend"/>
                <a:cs typeface="Lexend"/>
              </a:rPr>
              <a:t>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80" y="3073908"/>
            <a:ext cx="10607040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2480" y="3073908"/>
            <a:ext cx="5303520" cy="259080"/>
          </a:xfrm>
          <a:prstGeom prst="roundRect">
            <a:avLst>
              <a:gd name="adj" fmla="val 23529"/>
            </a:avLst>
          </a:prstGeom>
          <a:solidFill>
            <a:srgbClr val="7F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80" y="3589020"/>
            <a:ext cx="1386078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114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Resultatet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34700" y="3476244"/>
            <a:ext cx="7848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41">
                <a:solidFill>
                  <a:srgbClr val="AA523C"/>
                </a:solidFill>
                <a:latin typeface="Lexend"/>
                <a:cs typeface="Lexend"/>
              </a:rPr>
              <a:t>700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80" y="3862578"/>
            <a:ext cx="10607040" cy="259080"/>
          </a:xfrm>
          <a:prstGeom prst="roundRect">
            <a:avLst>
              <a:gd name="adj" fmla="val 23529"/>
            </a:avLst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2480" y="3862578"/>
            <a:ext cx="7424928" cy="259080"/>
          </a:xfrm>
          <a:prstGeom prst="roundRect">
            <a:avLst>
              <a:gd name="adj" fmla="val 23529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" y="4302252"/>
            <a:ext cx="8172450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Mange står i kø for å jobbe, men får ikke. Tilrettelagt arbeid går alltid i pluss. Mangel på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" y="4599432"/>
            <a:ext cx="3480054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tilrettelagt arbeid går alltid i minus.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480" y="5001768"/>
            <a:ext cx="10607040" cy="1155192"/>
          </a:xfrm>
          <a:prstGeom prst="roundRect">
            <a:avLst>
              <a:gd name="adj" fmla="val 17150"/>
            </a:avLst>
          </a:prstGeom>
          <a:solidFill>
            <a:srgbClr val="AA523C">
              <a:alpha val="10000"/>
            </a:srgbClr>
          </a:solidFill>
          <a:ln w="7620">
            <a:solidFill>
              <a:srgbClr val="AA523C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4420" y="5327904"/>
            <a:ext cx="502920" cy="50292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1" name="Picture 20" descr="i-exclamationmark-triangle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5457444"/>
            <a:ext cx="243840" cy="243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75460" y="5267706"/>
            <a:ext cx="886358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Arbeidsfolka i medlemsbedriftene har lært at de ikke kan stole på det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5460" y="5578602"/>
            <a:ext cx="748436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politikerne lover – selv når de stemmer for det i Stortinget.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79984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8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33272"/>
            <a:ext cx="7885176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Retten til tilrettelagt fagopplæring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1527048"/>
            <a:ext cx="6235446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avgjøres av postnummeret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80" y="2577084"/>
            <a:ext cx="5189220" cy="2401824"/>
          </a:xfrm>
          <a:prstGeom prst="roundRect">
            <a:avLst>
              <a:gd name="adj" fmla="val 8248"/>
            </a:avLst>
          </a:prstGeom>
          <a:solidFill>
            <a:srgbClr val="97CA31">
              <a:alpha val="16000"/>
            </a:srgbClr>
          </a:solidFill>
          <a:ln w="7620">
            <a:solidFill>
              <a:srgbClr val="97CA31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4420" y="2843784"/>
            <a:ext cx="502920" cy="50292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8" name="Picture 7" descr="i-checkmark-circle__2831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2973324"/>
            <a:ext cx="24384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" y="3467100"/>
            <a:ext cx="472135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Østfold, Vestfold og Innlandet.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" y="3777996"/>
            <a:ext cx="390067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får elever som trenger det bli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" y="4088892"/>
            <a:ext cx="466877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lærekandidat – med fagopplæring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" y="4399788"/>
            <a:ext cx="121615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bedrift.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2577084"/>
            <a:ext cx="5189220" cy="2401824"/>
          </a:xfrm>
          <a:prstGeom prst="roundRect">
            <a:avLst>
              <a:gd name="adj" fmla="val 8248"/>
            </a:avLst>
          </a:prstGeom>
          <a:solidFill>
            <a:srgbClr val="AA523C">
              <a:alpha val="10000"/>
            </a:srgbClr>
          </a:solidFill>
          <a:ln w="7620">
            <a:solidFill>
              <a:srgbClr val="AA523C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843784"/>
            <a:ext cx="502920" cy="50292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5" name="Picture 14" descr="i-x-mark-octagon__FBF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780" y="2973324"/>
            <a:ext cx="243840" cy="243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3467100"/>
            <a:ext cx="407898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Akershus, Rogaland og nord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77996"/>
            <a:ext cx="380542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landet.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Her har elevene liten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88892"/>
            <a:ext cx="42931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mulighet. Alternativet er å bli på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99788"/>
            <a:ext cx="115443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skolen.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480" y="5486400"/>
            <a:ext cx="8772144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Elevens rett til individuelt tilrettelagt fagopplæring er i praksis blitt et valgfag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80" y="5821680"/>
            <a:ext cx="1537716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for fylkene.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79679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9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48512"/>
            <a:ext cx="475488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Ordene lukker dører</a:t>
            </a:r>
          </a:p>
        </p:txBody>
      </p:sp>
      <p:sp>
        <p:nvSpPr>
          <p:cNvPr id="5" name="Oval 4"/>
          <p:cNvSpPr/>
          <p:nvPr/>
        </p:nvSpPr>
        <p:spPr>
          <a:xfrm>
            <a:off x="792480" y="2277618"/>
            <a:ext cx="792480" cy="79248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6" name="Picture 5" descr="i-door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2483358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480" y="3251454"/>
            <a:ext cx="3075432" cy="681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60"/>
              </a:lnSpc>
              <a:spcBef>
                <a:spcPts val="0"/>
              </a:spcBef>
              <a:spcAft>
                <a:spcPts val="0"/>
              </a:spcAft>
            </a:pPr>
            <a:r>
              <a:rPr sz="6240" b="1" spc="-312">
                <a:solidFill>
                  <a:srgbClr val="AA523C"/>
                </a:solidFill>
                <a:latin typeface="Lexend"/>
                <a:cs typeface="Lexend"/>
              </a:rPr>
              <a:t>«Ferdig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3933444"/>
            <a:ext cx="3382518" cy="681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60"/>
              </a:lnSpc>
              <a:spcBef>
                <a:spcPts val="0"/>
              </a:spcBef>
              <a:spcAft>
                <a:spcPts val="0"/>
              </a:spcAft>
            </a:pPr>
            <a:r>
              <a:rPr sz="6240" b="1" spc="-312">
                <a:solidFill>
                  <a:srgbClr val="AA523C"/>
                </a:solidFill>
                <a:latin typeface="Lexend"/>
                <a:cs typeface="Lexend"/>
              </a:rPr>
              <a:t>avklart»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" y="4799076"/>
            <a:ext cx="5112258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Slik er et menneske definert i det øyeblikket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" y="5134356"/>
            <a:ext cx="282702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uføretrygden innvilges.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2700" y="2506218"/>
            <a:ext cx="5036820" cy="1424940"/>
          </a:xfrm>
          <a:prstGeom prst="roundRect">
            <a:avLst>
              <a:gd name="adj" fmla="val 13903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44640" y="3020568"/>
            <a:ext cx="396240" cy="39624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3" name="Picture 12" descr="i-tasklist__8151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510" y="3123438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770632"/>
            <a:ext cx="4235958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Hvilken marsjordre gir egentlig det til NAV 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67812"/>
            <a:ext cx="3505962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som etter arbeidsgiverne er Norges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364992"/>
            <a:ext cx="373608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viktigste verktøy for å få folk i arbeid?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2700" y="4114038"/>
            <a:ext cx="5036820" cy="1127760"/>
          </a:xfrm>
          <a:prstGeom prst="roundRect">
            <a:avLst>
              <a:gd name="adj" fmla="val 17567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44640" y="4479798"/>
            <a:ext cx="396240" cy="396240"/>
          </a:xfrm>
          <a:prstGeom prst="ellipse">
            <a:avLst/>
          </a:prstGeom>
          <a:noFill/>
          <a:ln w="1524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9" name="Picture 18" descr="i-circle-slash__2630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510" y="4582668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78040" y="4378452"/>
            <a:ext cx="3684270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Ordene sier at potensialet er kartlagt,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675632"/>
            <a:ext cx="3874008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mulighetene vurdert og saken avsluttet.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300456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9 av 10 · fortsatt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48512"/>
            <a:ext cx="846201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Men virkeligheten forteller noe annet</a:t>
            </a:r>
          </a:p>
        </p:txBody>
      </p:sp>
      <p:sp>
        <p:nvSpPr>
          <p:cNvPr id="5" name="Oval 4"/>
          <p:cNvSpPr/>
          <p:nvPr/>
        </p:nvSpPr>
        <p:spPr>
          <a:xfrm>
            <a:off x="792480" y="2348484"/>
            <a:ext cx="792480" cy="79248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6" name="Picture 5" descr="i-sack-kroner__2831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2554224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480" y="3322320"/>
            <a:ext cx="1706880" cy="864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809"/>
              </a:lnSpc>
              <a:spcBef>
                <a:spcPts val="0"/>
              </a:spcBef>
              <a:spcAft>
                <a:spcPts val="0"/>
              </a:spcAft>
            </a:pPr>
            <a:r>
              <a:rPr sz="7920" b="1" spc="-396">
                <a:solidFill>
                  <a:srgbClr val="26301C"/>
                </a:solidFill>
                <a:latin typeface="Lexend"/>
                <a:cs typeface="Lexend"/>
              </a:rPr>
              <a:t>4,6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4233672"/>
            <a:ext cx="241935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milliarder kroner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" y="4728210"/>
            <a:ext cx="47167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omsatte arbeidsinkluderingsbedriftene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" y="5063490"/>
            <a:ext cx="2267712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iArbeid for i 2024.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2700" y="2060448"/>
            <a:ext cx="5036820" cy="2019300"/>
          </a:xfrm>
          <a:prstGeom prst="roundRect">
            <a:avLst>
              <a:gd name="adj" fmla="val 9811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44640" y="2871978"/>
            <a:ext cx="396240" cy="396240"/>
          </a:xfrm>
          <a:prstGeom prst="ellipse">
            <a:avLst/>
          </a:prstGeom>
          <a:solidFill>
            <a:srgbClr val="3F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3" name="Picture 12" descr="i-buildings-3__F3F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510" y="2974848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324862"/>
            <a:ext cx="4243578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Hver eneste dag går tusenvis av mennesker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22042"/>
            <a:ext cx="3657600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med uføretrygd på jobb i tilrettelagte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919222"/>
            <a:ext cx="4114038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arbeidsplasser over hele landet. De skaper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216402"/>
            <a:ext cx="4092702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verdier for bedriften, for samfunnet og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513582"/>
            <a:ext cx="106527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seg selv.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2700" y="4262628"/>
            <a:ext cx="5036820" cy="1424940"/>
          </a:xfrm>
          <a:prstGeom prst="roundRect">
            <a:avLst>
              <a:gd name="adj" fmla="val 13903"/>
            </a:avLst>
          </a:prstGeom>
          <a:solidFill>
            <a:srgbClr val="97CA31">
              <a:alpha val="16000"/>
            </a:srgbClr>
          </a:solidFill>
          <a:ln w="7620">
            <a:solidFill>
              <a:srgbClr val="97CA31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44640" y="4776978"/>
            <a:ext cx="396240" cy="39624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1" name="Picture 20" descr="i-door-open__2831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510" y="4879848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8040" y="4527042"/>
            <a:ext cx="4161282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301C"/>
                </a:solidFill>
                <a:latin typeface="Lexend"/>
                <a:cs typeface="Lexend"/>
              </a:rPr>
              <a:t>«Ferdig avklart»</a:t>
            </a: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 kommuniserer at uførhet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824222"/>
            <a:ext cx="417804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er slutten. For mange er det starten på noe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121402"/>
            <a:ext cx="718566" cy="297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01C"/>
                </a:solidFill>
                <a:latin typeface="Lexend"/>
                <a:cs typeface="Lexend"/>
              </a:rPr>
              <a:t>nytt.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300456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9 av 10 · fortsatt</a:t>
            </a:r>
          </a:p>
        </p:txBody>
      </p:sp>
      <p:sp>
        <p:nvSpPr>
          <p:cNvPr id="4" name="Oval 3"/>
          <p:cNvSpPr/>
          <p:nvPr/>
        </p:nvSpPr>
        <p:spPr>
          <a:xfrm>
            <a:off x="792480" y="1051560"/>
            <a:ext cx="502920" cy="50292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5" name="Picture 4" descr="i-door-open__2831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181100"/>
            <a:ext cx="243840" cy="243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93520" y="1053084"/>
            <a:ext cx="6677406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Bruk språket til å åpne dører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7758" y="2659380"/>
            <a:ext cx="2393442" cy="22860"/>
          </a:xfrm>
          <a:prstGeom prst="roundRect">
            <a:avLst>
              <a:gd name="adj" fmla="val 50000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8238" y="2468880"/>
            <a:ext cx="2652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ordinært arbeid</a:t>
            </a:r>
          </a:p>
        </p:txBody>
      </p:sp>
      <p:pic>
        <p:nvPicPr>
          <p:cNvPr id="9" name="Picture 8" descr="i-arrow-right__97CA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53746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31280" y="2450592"/>
            <a:ext cx="1378458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spc="-53">
                <a:solidFill>
                  <a:srgbClr val="3F4E36"/>
                </a:solidFill>
                <a:latin typeface="Lexend"/>
                <a:cs typeface="Lexend"/>
              </a:rPr>
              <a:t>arbeid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80" y="3089910"/>
            <a:ext cx="1060704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53562" y="3543300"/>
            <a:ext cx="2437638" cy="22860"/>
          </a:xfrm>
          <a:prstGeom prst="roundRect">
            <a:avLst>
              <a:gd name="adj" fmla="val 50000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4042" y="3352800"/>
            <a:ext cx="2696718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restarbeidsevne</a:t>
            </a:r>
          </a:p>
        </p:txBody>
      </p:sp>
      <p:pic>
        <p:nvPicPr>
          <p:cNvPr id="14" name="Picture 13" descr="i-arrow-right__97CA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342138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31280" y="3334512"/>
            <a:ext cx="2307336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spc="-53">
                <a:solidFill>
                  <a:srgbClr val="3F4E36"/>
                </a:solidFill>
                <a:latin typeface="Lexend"/>
                <a:cs typeface="Lexend"/>
              </a:rPr>
              <a:t>arbeidsevne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80" y="3973830"/>
            <a:ext cx="1060704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12136" y="4427220"/>
            <a:ext cx="3179064" cy="22860"/>
          </a:xfrm>
          <a:prstGeom prst="roundRect">
            <a:avLst>
              <a:gd name="adj" fmla="val 50000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2616" y="4236720"/>
            <a:ext cx="3438144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arbeidskraftreserven</a:t>
            </a:r>
          </a:p>
        </p:txBody>
      </p:sp>
      <p:pic>
        <p:nvPicPr>
          <p:cNvPr id="19" name="Picture 18" descr="i-arrow-right__97CA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4305300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31280" y="4218432"/>
            <a:ext cx="3860292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spc="-53">
                <a:solidFill>
                  <a:srgbClr val="3F4E36"/>
                </a:solidFill>
                <a:latin typeface="Lexend"/>
                <a:cs typeface="Lexend"/>
              </a:rPr>
              <a:t>arbeidskraftressursen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80" y="5486400"/>
            <a:ext cx="828675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Lær av Marit Breivik og ressursbenken. Ordene vi bruker lukker dørene 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80" y="5821680"/>
            <a:ext cx="5638038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arbeidslivet. Vi må bruke språket til å åpne dem.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6992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Regelverket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48512"/>
            <a:ext cx="875919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Vi hindrer arbeid. Vi fremmer det ikke.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80" y="2310384"/>
            <a:ext cx="5189220" cy="2090928"/>
          </a:xfrm>
          <a:prstGeom prst="roundRect">
            <a:avLst>
              <a:gd name="adj" fmla="val 9475"/>
            </a:avLst>
          </a:prstGeom>
          <a:solidFill>
            <a:srgbClr val="AA523C">
              <a:alpha val="10000"/>
            </a:srgbClr>
          </a:solidFill>
          <a:ln w="7620">
            <a:solidFill>
              <a:srgbClr val="AA523C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" y="2577084"/>
            <a:ext cx="502920" cy="50292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7" name="Picture 6" descr="i-briefcase-clock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2706624"/>
            <a:ext cx="243840" cy="243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" y="3201162"/>
            <a:ext cx="473659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Arbeidsfolk i en tilrettelagt jobb 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" y="3512058"/>
            <a:ext cx="475107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ikke jobbe etter fylte </a:t>
            </a: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67 år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– slik alle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" y="3822192"/>
            <a:ext cx="161848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andre kan.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300" y="2310384"/>
            <a:ext cx="5189220" cy="2090928"/>
          </a:xfrm>
          <a:prstGeom prst="roundRect">
            <a:avLst>
              <a:gd name="adj" fmla="val 9475"/>
            </a:avLst>
          </a:prstGeom>
          <a:solidFill>
            <a:srgbClr val="AA523C">
              <a:alpha val="10000"/>
            </a:srgbClr>
          </a:solidFill>
          <a:ln w="7620">
            <a:solidFill>
              <a:srgbClr val="AA523C">
                <a:alpha val="2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577084"/>
            <a:ext cx="502920" cy="50292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3" name="Picture 12" descr="i-first-aid__FBF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780" y="2706624"/>
            <a:ext cx="243840" cy="243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2240" y="3201162"/>
            <a:ext cx="435635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De har </a:t>
            </a: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ikke rett til sykepenger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12058"/>
            <a:ext cx="489280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nettopp fordi de jobber selv om de 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2"/>
            <a:ext cx="102717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uføre.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" y="5120640"/>
            <a:ext cx="10607040" cy="1036320"/>
          </a:xfrm>
          <a:prstGeom prst="roundRect">
            <a:avLst>
              <a:gd name="adj" fmla="val 19117"/>
            </a:avLst>
          </a:prstGeom>
          <a:solidFill>
            <a:srgbClr val="97CA31">
              <a:alpha val="16000"/>
            </a:srgbClr>
          </a:solidFill>
          <a:ln w="7620">
            <a:solidFill>
              <a:srgbClr val="97CA31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4420" y="5387340"/>
            <a:ext cx="502920" cy="50292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9" name="Picture 18" descr="i-checkmark-circle__2831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960" y="5516880"/>
            <a:ext cx="243840" cy="243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75460" y="5482590"/>
            <a:ext cx="634060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Norge trenger et mer arbeidsvennlig regelverk.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91643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Punkt 10 av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33272"/>
            <a:ext cx="8441436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Vi rekrutterer som om det er år 2000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80" y="2148840"/>
            <a:ext cx="5189220" cy="1362456"/>
          </a:xfrm>
          <a:prstGeom prst="roundRect">
            <a:avLst>
              <a:gd name="adj" fmla="val 14541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" y="2415540"/>
            <a:ext cx="396240" cy="396240"/>
          </a:xfrm>
          <a:prstGeom prst="ellipse">
            <a:avLst/>
          </a:prstGeom>
          <a:noFill/>
          <a:ln w="1524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7" name="Picture 6" descr="i-magnifying-glass__2630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51841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7820" y="2511552"/>
            <a:ext cx="845820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spc="173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I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" y="2932176"/>
            <a:ext cx="422757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spc="-2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vi finner riktig person til jobben.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300" y="2148840"/>
            <a:ext cx="5189220" cy="1362456"/>
          </a:xfrm>
          <a:prstGeom prst="roundRect">
            <a:avLst>
              <a:gd name="adj" fmla="val 14541"/>
            </a:avLst>
          </a:prstGeom>
          <a:solidFill>
            <a:srgbClr val="97CA31">
              <a:alpha val="16000"/>
            </a:srgbClr>
          </a:solidFill>
          <a:ln w="7620">
            <a:solidFill>
              <a:srgbClr val="97CA31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415540"/>
            <a:ext cx="396240" cy="39624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2" name="Picture 11" descr="i-sparkles__2831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2518410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25640" y="2511552"/>
            <a:ext cx="1277874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spc="173" cap="all">
                <a:solidFill>
                  <a:srgbClr val="26301C"/>
                </a:solidFill>
                <a:latin typeface="Lexend"/>
                <a:cs typeface="Lexend"/>
              </a:rPr>
              <a:t>Framover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32176"/>
            <a:ext cx="469773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vi må designe jobben til personen.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80" y="3694176"/>
            <a:ext cx="10607040" cy="1234440"/>
          </a:xfrm>
          <a:prstGeom prst="roundRect">
            <a:avLst>
              <a:gd name="adj" fmla="val 16049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8700" y="3915156"/>
            <a:ext cx="792480" cy="792480"/>
          </a:xfrm>
          <a:prstGeom prst="ellipse">
            <a:avLst/>
          </a:prstGeom>
          <a:solidFill>
            <a:srgbClr val="E3C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7" name="Picture 16" descr="i-person-checkmark__8151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120896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49780" y="3915156"/>
            <a:ext cx="4289298" cy="4983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4560" b="1" spc="-160">
                <a:solidFill>
                  <a:srgbClr val="26301C"/>
                </a:solidFill>
                <a:latin typeface="Lexend"/>
                <a:cs typeface="Lexend"/>
              </a:rPr>
              <a:t>Inntil 150 000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9780" y="4441698"/>
            <a:ext cx="8638794" cy="2613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mennesker står utenfor arbeidslivet og kan og vil jobbe – dersom de får muligheten og hjelpen de trenger.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480" y="5486400"/>
            <a:ext cx="8757666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Fra tradisjonell til inkluderende rekruttering. Innovativ rekruttering, om du vil.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80" y="5821680"/>
            <a:ext cx="392811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Framover må vi bruke hele laget.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" y="2435352"/>
            <a:ext cx="361188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 spc="-80">
                <a:solidFill>
                  <a:srgbClr val="F3F0E2"/>
                </a:solidFill>
                <a:latin typeface="Lexend"/>
                <a:cs typeface="Lexend"/>
              </a:rPr>
              <a:t>For den som har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80" y="2930652"/>
            <a:ext cx="5148834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 spc="-80">
                <a:solidFill>
                  <a:srgbClr val="F3F0E2"/>
                </a:solidFill>
                <a:latin typeface="Lexend"/>
                <a:cs typeface="Lexend"/>
              </a:rPr>
              <a:t>50 prosent arbeidsevne,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3425190"/>
            <a:ext cx="5231892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 spc="-80">
                <a:solidFill>
                  <a:srgbClr val="F3F0E2"/>
                </a:solidFill>
                <a:latin typeface="Lexend"/>
                <a:cs typeface="Lexend"/>
              </a:rPr>
              <a:t>er en jobb på 50 prosent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3920490"/>
            <a:ext cx="2006346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 spc="-80">
                <a:solidFill>
                  <a:srgbClr val="97CA31"/>
                </a:solidFill>
                <a:latin typeface="Lexend"/>
                <a:cs typeface="Lexend"/>
              </a:rPr>
              <a:t>helt 100.</a:t>
            </a:r>
          </a:p>
        </p:txBody>
      </p:sp>
      <p:pic>
        <p:nvPicPr>
          <p:cNvPr id="6" name="Picture 5" descr="gauge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2362200"/>
            <a:ext cx="2133600" cy="2133600"/>
          </a:xfrm>
          <a:prstGeom prst="rect">
            <a:avLst/>
          </a:prstGeom>
        </p:spPr>
      </p:pic>
      <p:pic>
        <p:nvPicPr>
          <p:cNvPr id="7" name="Picture 6" descr="gauge_a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0" y="2362200"/>
            <a:ext cx="2133600" cy="2133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25662" y="2841498"/>
            <a:ext cx="1536954" cy="4328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10"/>
              </a:lnSpc>
              <a:spcBef>
                <a:spcPts val="0"/>
              </a:spcBef>
              <a:spcAft>
                <a:spcPts val="0"/>
              </a:spcAft>
            </a:pPr>
            <a:r>
              <a:rPr sz="3960" b="1" spc="-139">
                <a:solidFill>
                  <a:srgbClr val="F3F0E2"/>
                </a:solidFill>
                <a:latin typeface="Lexend"/>
                <a:cs typeface="Lexend"/>
              </a:rPr>
              <a:t>50 %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20734" y="3318510"/>
            <a:ext cx="1146810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spc="5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arbeidsevne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12708" y="3641598"/>
            <a:ext cx="1242822" cy="373380"/>
          </a:xfrm>
          <a:prstGeom prst="roundRect">
            <a:avLst>
              <a:gd name="adj" fmla="val 50000"/>
            </a:avLst>
          </a:prstGeom>
          <a:solidFill>
            <a:srgbClr val="97CA3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1" name="Picture 10" descr="i-checkmark-circle__97CA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628" y="3729228"/>
            <a:ext cx="198120" cy="198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08948" y="3723132"/>
            <a:ext cx="101422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spc="-14">
                <a:solidFill>
                  <a:srgbClr val="97CA31"/>
                </a:solidFill>
                <a:latin typeface="Lexend"/>
                <a:cs typeface="Lexend"/>
              </a:rPr>
              <a:t>helt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2480" y="749808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-arrows-circlepath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852678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697992"/>
            <a:ext cx="4796028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Spiralen vi må bryte</a:t>
            </a:r>
          </a:p>
        </p:txBody>
      </p:sp>
      <p:sp>
        <p:nvSpPr>
          <p:cNvPr id="5" name="Oval 4"/>
          <p:cNvSpPr/>
          <p:nvPr/>
        </p:nvSpPr>
        <p:spPr>
          <a:xfrm>
            <a:off x="4328160" y="2502408"/>
            <a:ext cx="3535680" cy="2011680"/>
          </a:xfrm>
          <a:prstGeom prst="ellipse">
            <a:avLst/>
          </a:prstGeom>
          <a:noFill/>
          <a:ln w="19050">
            <a:solidFill>
              <a:srgbClr val="AA52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-arrows-circlepath__AA52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3287268"/>
            <a:ext cx="441960" cy="44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74920" y="1633728"/>
            <a:ext cx="2042160" cy="967740"/>
          </a:xfrm>
          <a:prstGeom prst="roundRect">
            <a:avLst>
              <a:gd name="adj" fmla="val 15748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65420" y="1814322"/>
            <a:ext cx="47091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AA523C"/>
                </a:solidFill>
                <a:latin typeface="Lexend"/>
                <a:cs typeface="Lexe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2976" y="1790700"/>
            <a:ext cx="1645158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Mindre av potten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2976" y="2006346"/>
            <a:ext cx="155600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går til å få folk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2976" y="2222754"/>
            <a:ext cx="826008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arbeid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051048"/>
            <a:ext cx="2042160" cy="752094"/>
          </a:xfrm>
          <a:prstGeom prst="roundRect">
            <a:avLst>
              <a:gd name="adj" fmla="val 20263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5740" y="3231642"/>
            <a:ext cx="46939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AA523C"/>
                </a:solidFill>
                <a:latin typeface="Lexend"/>
                <a:cs typeface="Lexe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1772" y="3208020"/>
            <a:ext cx="13716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flere uføre 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1772" y="3423666"/>
            <a:ext cx="111633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sykmeldte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4468368"/>
            <a:ext cx="2042160" cy="752094"/>
          </a:xfrm>
          <a:prstGeom prst="roundRect">
            <a:avLst>
              <a:gd name="adj" fmla="val 20263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5420" y="4648962"/>
            <a:ext cx="47472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AA523C"/>
                </a:solidFill>
                <a:latin typeface="Lexend"/>
                <a:cs typeface="Lexen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6786" y="4625340"/>
            <a:ext cx="167411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høyere utgifter 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6786" y="4840986"/>
            <a:ext cx="842772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ytelser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051048"/>
            <a:ext cx="2042160" cy="752094"/>
          </a:xfrm>
          <a:prstGeom prst="roundRect">
            <a:avLst>
              <a:gd name="adj" fmla="val 20263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5100" y="3231642"/>
            <a:ext cx="48310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AA523C"/>
                </a:solidFill>
                <a:latin typeface="Lexend"/>
                <a:cs typeface="Lexen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4848" y="3208020"/>
            <a:ext cx="1299972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enda mindre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4848" y="3423666"/>
            <a:ext cx="1335786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26301C"/>
                </a:solidFill>
                <a:latin typeface="Lexend"/>
                <a:cs typeface="Lexend"/>
              </a:rPr>
              <a:t>igjen til tiltak</a:t>
            </a:r>
          </a:p>
        </p:txBody>
      </p:sp>
      <p:sp>
        <p:nvSpPr>
          <p:cNvPr id="24" name="Oval 23"/>
          <p:cNvSpPr/>
          <p:nvPr/>
        </p:nvSpPr>
        <p:spPr>
          <a:xfrm>
            <a:off x="7345680" y="2593848"/>
            <a:ext cx="335280" cy="33528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5" name="Picture 24" descr="i-arrow-right__FBF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300000">
            <a:off x="7429500" y="2677668"/>
            <a:ext cx="167640" cy="16764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7345680" y="4148328"/>
            <a:ext cx="335280" cy="33528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7" name="Picture 26" descr="i-arrow-right__FBF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500000">
            <a:off x="7429500" y="4232148"/>
            <a:ext cx="167640" cy="16764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4511040" y="4148328"/>
            <a:ext cx="335280" cy="33528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9" name="Picture 28" descr="i-arrow-right__FBF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700000">
            <a:off x="4594860" y="4232148"/>
            <a:ext cx="167640" cy="16764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4511040" y="2593848"/>
            <a:ext cx="335280" cy="33528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1" name="Picture 30" descr="i-arrow-right__FBF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300000">
            <a:off x="4594860" y="2677668"/>
            <a:ext cx="167640" cy="167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2480" y="5821680"/>
            <a:ext cx="5583174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860" b="0" spc="-9">
                <a:solidFill>
                  <a:srgbClr val="26301C"/>
                </a:solidFill>
                <a:latin typeface="Lexend"/>
                <a:cs typeface="Lexend"/>
              </a:rPr>
              <a:t>Og arbeidskraften vi trenger, får vi fortsatt ikke.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90525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Fasit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033272"/>
            <a:ext cx="9755886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Sammenlignet med år 2000 har Norge fått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80" y="1542288"/>
            <a:ext cx="10607040" cy="838200"/>
          </a:xfrm>
          <a:prstGeom prst="roundRect">
            <a:avLst>
              <a:gd name="adj" fmla="val 2363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" y="1763268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7" name="Picture 6" descr="i-trend-up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1866138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7820" y="1804416"/>
            <a:ext cx="7833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36 prosent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flere uføre – mens befolkningen vokste 26 prosent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80" y="2502408"/>
            <a:ext cx="10607040" cy="838200"/>
          </a:xfrm>
          <a:prstGeom prst="roundRect">
            <a:avLst>
              <a:gd name="adj" fmla="val 2363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8700" y="2723388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1" name="Picture 10" descr="i-trend-up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826258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7820" y="2765298"/>
            <a:ext cx="4038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dobbelt så mange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unge uføre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" y="3462528"/>
            <a:ext cx="10607040" cy="838200"/>
          </a:xfrm>
          <a:prstGeom prst="roundRect">
            <a:avLst>
              <a:gd name="adj" fmla="val 2363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8700" y="3683508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5" name="Picture 14" descr="i-trend-down__FBF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3786378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07820" y="3725418"/>
            <a:ext cx="571347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langt færre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yrkesaktive bak hver pensjonist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" y="4422648"/>
            <a:ext cx="10607040" cy="838200"/>
          </a:xfrm>
          <a:prstGeom prst="roundRect">
            <a:avLst>
              <a:gd name="adj" fmla="val 2363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" y="4643628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9" name="Picture 18" descr="i-trend-up__FBF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4746498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07820" y="4685538"/>
            <a:ext cx="409117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større mangel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på arbeidskraft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480" y="5382768"/>
            <a:ext cx="10607040" cy="838200"/>
          </a:xfrm>
          <a:prstGeom prst="roundRect">
            <a:avLst>
              <a:gd name="adj" fmla="val 23636"/>
            </a:avLst>
          </a:prstGeom>
          <a:solidFill>
            <a:srgbClr val="FFFFFF">
              <a:alpha val="55000"/>
            </a:srgbClr>
          </a:solidFill>
          <a:ln w="7620">
            <a:solidFill>
              <a:srgbClr val="3F4E3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8700" y="5603748"/>
            <a:ext cx="396240" cy="396240"/>
          </a:xfrm>
          <a:prstGeom prst="ellipse">
            <a:avLst/>
          </a:prstGeom>
          <a:solidFill>
            <a:srgbClr val="AA5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3" name="Picture 22" descr="i-sack-kroner__FBF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5706618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07820" y="5645658"/>
            <a:ext cx="903960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spc="-20">
                <a:solidFill>
                  <a:srgbClr val="26301C"/>
                </a:solidFill>
                <a:latin typeface="Lexend"/>
                <a:cs typeface="Lexend"/>
              </a:rPr>
              <a:t>mer enn dobbelt så høye</a:t>
            </a:r>
            <a:r>
              <a:rPr sz="2039" b="0" spc="-20">
                <a:solidFill>
                  <a:srgbClr val="26301C"/>
                </a:solidFill>
                <a:latin typeface="Lexend"/>
                <a:cs typeface="Lexend"/>
              </a:rPr>
              <a:t> utgifter til inntektssikring, målt i 2025-kroner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2480" y="781050"/>
            <a:ext cx="259080" cy="22860"/>
          </a:xfrm>
          <a:prstGeom prst="roundRect">
            <a:avLst>
              <a:gd name="adj" fmla="val 50000"/>
            </a:avLst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8240" y="705612"/>
            <a:ext cx="1650492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spc="228" cap="all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Oppsummert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480" y="2606040"/>
            <a:ext cx="1060704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480" y="2068068"/>
            <a:ext cx="424815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sz="1860" b="0">
                <a:solidFill>
                  <a:srgbClr val="26301C"/>
                </a:solidFill>
                <a:latin typeface="Lexend"/>
                <a:cs typeface="Lexend"/>
              </a:rPr>
              <a:t>Går de store tallene i riktig retning?</a:t>
            </a:r>
          </a:p>
        </p:txBody>
      </p:sp>
      <p:pic>
        <p:nvPicPr>
          <p:cNvPr id="6" name="Picture 5" descr="i-x-mark-octagon__AA5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386" y="2065020"/>
            <a:ext cx="289560" cy="289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23626" y="1990344"/>
            <a:ext cx="99669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6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spc="-86">
                <a:solidFill>
                  <a:srgbClr val="AA523C"/>
                </a:solidFill>
                <a:latin typeface="Lexend"/>
                <a:cs typeface="Lexend"/>
              </a:rPr>
              <a:t>Nei.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480" y="3406140"/>
            <a:ext cx="1060704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2868168"/>
            <a:ext cx="5948934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sz="1860" b="0">
                <a:solidFill>
                  <a:srgbClr val="26301C"/>
                </a:solidFill>
                <a:latin typeface="Lexend"/>
                <a:cs typeface="Lexend"/>
              </a:rPr>
              <a:t>Har vi en knallgod plan for å snu utviklingen raskt?</a:t>
            </a:r>
          </a:p>
        </p:txBody>
      </p:sp>
      <p:pic>
        <p:nvPicPr>
          <p:cNvPr id="10" name="Picture 9" descr="i-x-mark-octagon__AA5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386" y="2865120"/>
            <a:ext cx="289560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23626" y="2790444"/>
            <a:ext cx="99669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6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spc="-86">
                <a:solidFill>
                  <a:srgbClr val="AA523C"/>
                </a:solidFill>
                <a:latin typeface="Lexend"/>
                <a:cs typeface="Lexend"/>
              </a:rPr>
              <a:t>Nei.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80" y="4343400"/>
            <a:ext cx="1060704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80" y="3588258"/>
            <a:ext cx="843381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sz="1860" b="0">
                <a:solidFill>
                  <a:srgbClr val="26301C"/>
                </a:solidFill>
                <a:latin typeface="Lexend"/>
                <a:cs typeface="Lexend"/>
              </a:rPr>
              <a:t>Kan vi bruke pengene og ressursene smartere, til å gjøre arbeid mulig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" y="3885438"/>
            <a:ext cx="1994154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sz="1860" b="0">
                <a:solidFill>
                  <a:srgbClr val="26301C"/>
                </a:solidFill>
                <a:latin typeface="Lexend"/>
                <a:cs typeface="Lexend"/>
              </a:rPr>
              <a:t>flere – raskere?</a:t>
            </a:r>
          </a:p>
        </p:txBody>
      </p:sp>
      <p:pic>
        <p:nvPicPr>
          <p:cNvPr id="15" name="Picture 14" descr="i-light-bulb__8151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158" y="3733800"/>
            <a:ext cx="289560" cy="289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61398" y="3659124"/>
            <a:ext cx="205816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6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spc="-86">
                <a:solidFill>
                  <a:srgbClr val="81512C"/>
                </a:solidFill>
                <a:latin typeface="Lexend"/>
                <a:cs typeface="Lexend"/>
              </a:rPr>
              <a:t>Åpenbart.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4662678"/>
            <a:ext cx="618591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sz="1860" b="0">
                <a:solidFill>
                  <a:srgbClr val="26301C"/>
                </a:solidFill>
                <a:latin typeface="Lexend"/>
                <a:cs typeface="Lexend"/>
              </a:rPr>
              <a:t>Trenger Norge et taktskifte i arbeidsinkluderingen?</a:t>
            </a:r>
          </a:p>
        </p:txBody>
      </p:sp>
      <p:pic>
        <p:nvPicPr>
          <p:cNvPr id="18" name="Picture 17" descr="i-checkmark-circle__5C7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190" y="4629150"/>
            <a:ext cx="350520" cy="350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40390" y="4530090"/>
            <a:ext cx="97917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108">
                <a:solidFill>
                  <a:srgbClr val="5C7A15"/>
                </a:solidFill>
                <a:latin typeface="Lexend"/>
                <a:cs typeface="Lexend"/>
              </a:rPr>
              <a:t>Ja.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80" y="1661160"/>
            <a:ext cx="6845808" cy="784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18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spc="-192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Norge har mange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80" y="2446020"/>
            <a:ext cx="4862322" cy="784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18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spc="-192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utfordringer.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3230880"/>
            <a:ext cx="8618982" cy="784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18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spc="-192">
                <a:solidFill>
                  <a:srgbClr val="F3F0E2"/>
                </a:solidFill>
                <a:latin typeface="Lexend"/>
                <a:cs typeface="Lexend"/>
              </a:rPr>
              <a:t>At folk vil jobbe, burde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" y="4015740"/>
            <a:ext cx="8113776" cy="784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18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spc="-192">
                <a:solidFill>
                  <a:srgbClr val="F3F0E2"/>
                </a:solidFill>
                <a:latin typeface="Lexend"/>
                <a:cs typeface="Lexend"/>
              </a:rPr>
              <a:t>ikke være </a:t>
            </a:r>
            <a:r>
              <a:rPr sz="6000" b="1" spc="-192">
                <a:solidFill>
                  <a:srgbClr val="97CA31"/>
                </a:solidFill>
                <a:latin typeface="Lexend"/>
                <a:cs typeface="Lexend"/>
              </a:rPr>
              <a:t>en av dem.</a:t>
            </a:r>
          </a:p>
        </p:txBody>
      </p:sp>
      <p:sp>
        <p:nvSpPr>
          <p:cNvPr id="6" name="Oval 5"/>
          <p:cNvSpPr/>
          <p:nvPr/>
        </p:nvSpPr>
        <p:spPr>
          <a:xfrm>
            <a:off x="792480" y="5760720"/>
            <a:ext cx="396240" cy="396240"/>
          </a:xfrm>
          <a:prstGeom prst="ellipse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7" name="Picture 6" descr="i-handshake__2831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586359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1120" y="5848350"/>
            <a:ext cx="5395722" cy="220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">
                <a:solidFill>
                  <a:srgbClr val="F3F0E2">
                    <a:alpha val="66000"/>
                  </a:srgbClr>
                </a:solidFill>
                <a:latin typeface="Lexend"/>
                <a:cs typeface="Lexend"/>
              </a:rPr>
              <a:t>Onar Aanestad, direktør · Rikets tilstand for arbeidsinkludering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2480" y="749808"/>
            <a:ext cx="396240" cy="396240"/>
          </a:xfrm>
          <a:prstGeom prst="ellipse">
            <a:avLst/>
          </a:prstGeom>
          <a:solidFill>
            <a:srgbClr val="3F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3" name="Picture 2" descr="i-books__F3F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852678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697992"/>
            <a:ext cx="162687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9">
                <a:solidFill>
                  <a:srgbClr val="26301C"/>
                </a:solidFill>
                <a:latin typeface="Lexend"/>
                <a:cs typeface="Lexend"/>
              </a:rPr>
              <a:t>Kilder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480" y="25786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480" y="23347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080" y="2258568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Stortinget – Innst. 15 S (2024–2025)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480" y="32263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480" y="27538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1080" y="2677668"/>
            <a:ext cx="45369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NAV – «1 av 5 står utenfor arbeidslivet» og statistikk 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1080" y="2906268"/>
            <a:ext cx="19385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folketrygdens utgifter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80" y="36454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480" y="34015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1080" y="3325368"/>
            <a:ext cx="46375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SSB – uføretrygdede og unge utenfor arbeid og utdanning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" y="40645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480" y="38206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1080" y="3744468"/>
            <a:ext cx="37818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DFØ / Anskaffelser.no – offentlige innkjøp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480" y="44836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480" y="42397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1080" y="4163568"/>
            <a:ext cx="505129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Stortinget – budsjettvedtak om tilrettelagte arbeidsplasser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80" y="51313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480" y="46588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080" y="4582668"/>
            <a:ext cx="475107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Nordre Follo kommune – kartlegging av oppgaver i helse 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080" y="4811268"/>
            <a:ext cx="8785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omsorg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2700" y="25786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2700" y="23347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1300" y="2258568"/>
            <a:ext cx="214503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Faktaportalen.no – uføre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2700" y="32263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62700" y="27538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1300" y="2677668"/>
            <a:ext cx="48950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NyAnalyse for Senter for et aldersvennlig Norge – «Verdien av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1300" y="2906268"/>
            <a:ext cx="180517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ett år lenger» (2023)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62700" y="36454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62700" y="34015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1300" y="3325368"/>
            <a:ext cx="25549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Regjeringen.no – NOU 2000:27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2700" y="40645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62700" y="38206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91300" y="3744468"/>
            <a:ext cx="319049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Dagsavisen – NAVs bemanningsvarsler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2700" y="44836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62700" y="42397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91300" y="4163568"/>
            <a:ext cx="35303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Statsregnskapet.dfo.no – folketrygden 2022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62700" y="4902708"/>
            <a:ext cx="5036820" cy="7620"/>
          </a:xfrm>
          <a:prstGeom prst="rect">
            <a:avLst/>
          </a:prstGeom>
          <a:solidFill>
            <a:srgbClr val="3F4E3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62700" y="4658868"/>
            <a:ext cx="91440" cy="15240"/>
          </a:xfrm>
          <a:prstGeom prst="rect">
            <a:avLst/>
          </a:prstGeom>
          <a:solidFill>
            <a:srgbClr val="97C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1300" y="4582668"/>
            <a:ext cx="29923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Store norske leksikon – folketrygden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480" y="5955792"/>
            <a:ext cx="3968496" cy="198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spc="5">
                <a:solidFill>
                  <a:srgbClr val="26301C">
                    <a:alpha val="62000"/>
                  </a:srgbClr>
                </a:solidFill>
                <a:latin typeface="Lexend"/>
                <a:cs typeface="Lexend"/>
              </a:rPr>
              <a:t>Ikoner: Aksel – NAVs designsystem. Typografi: Lexend.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sider">
  <a:themeElements>
    <a:clrScheme name="iArbeid">
      <a:dk1>
        <a:srgbClr val="3F4E36"/>
      </a:dk1>
      <a:lt1>
        <a:srgbClr val="F3F0E2"/>
      </a:lt1>
      <a:dk2>
        <a:srgbClr val="000000"/>
      </a:dk2>
      <a:lt2>
        <a:srgbClr val="FFFFFF"/>
      </a:lt2>
      <a:accent1>
        <a:srgbClr val="7F877D"/>
      </a:accent1>
      <a:accent2>
        <a:srgbClr val="97CA31"/>
      </a:accent2>
      <a:accent3>
        <a:srgbClr val="E3CE98"/>
      </a:accent3>
      <a:accent4>
        <a:srgbClr val="AA523C"/>
      </a:accent4>
      <a:accent5>
        <a:srgbClr val="81512C"/>
      </a:accent5>
      <a:accent6>
        <a:srgbClr val="BD9F79"/>
      </a:accent6>
      <a:hlink>
        <a:srgbClr val="467886"/>
      </a:hlink>
      <a:folHlink>
        <a:srgbClr val="96607D"/>
      </a:folHlink>
    </a:clrScheme>
    <a:fontScheme name="Custom 8">
      <a:majorFont>
        <a:latin typeface="Lexend"/>
        <a:ea typeface=""/>
        <a:cs typeface=""/>
      </a:majorFont>
      <a:minorFont>
        <a:latin typeface="Lexe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nnhold">
  <a:themeElements>
    <a:clrScheme name="iArbeid">
      <a:dk1>
        <a:srgbClr val="3F4E36"/>
      </a:dk1>
      <a:lt1>
        <a:srgbClr val="F3F0E2"/>
      </a:lt1>
      <a:dk2>
        <a:srgbClr val="3A2415"/>
      </a:dk2>
      <a:lt2>
        <a:srgbClr val="E8E8E8"/>
      </a:lt2>
      <a:accent1>
        <a:srgbClr val="7F877D"/>
      </a:accent1>
      <a:accent2>
        <a:srgbClr val="97CA31"/>
      </a:accent2>
      <a:accent3>
        <a:srgbClr val="E3CE98"/>
      </a:accent3>
      <a:accent4>
        <a:srgbClr val="AA523C"/>
      </a:accent4>
      <a:accent5>
        <a:srgbClr val="81512C"/>
      </a:accent5>
      <a:accent6>
        <a:srgbClr val="BD9F79"/>
      </a:accent6>
      <a:hlink>
        <a:srgbClr val="467886"/>
      </a:hlink>
      <a:folHlink>
        <a:srgbClr val="96607D"/>
      </a:folHlink>
    </a:clrScheme>
    <a:fontScheme name="Custom 8">
      <a:majorFont>
        <a:latin typeface="Lexend"/>
        <a:ea typeface=""/>
        <a:cs typeface=""/>
      </a:majorFont>
      <a:minorFont>
        <a:latin typeface="Lexe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Hvilesider">
  <a:themeElements>
    <a:clrScheme name="iArbeid">
      <a:dk1>
        <a:srgbClr val="3F4E36"/>
      </a:dk1>
      <a:lt1>
        <a:srgbClr val="F3F0E2"/>
      </a:lt1>
      <a:dk2>
        <a:srgbClr val="000000"/>
      </a:dk2>
      <a:lt2>
        <a:srgbClr val="FFFFFF"/>
      </a:lt2>
      <a:accent1>
        <a:srgbClr val="7F877D"/>
      </a:accent1>
      <a:accent2>
        <a:srgbClr val="97CA31"/>
      </a:accent2>
      <a:accent3>
        <a:srgbClr val="E3CE98"/>
      </a:accent3>
      <a:accent4>
        <a:srgbClr val="AA523C"/>
      </a:accent4>
      <a:accent5>
        <a:srgbClr val="81512C"/>
      </a:accent5>
      <a:accent6>
        <a:srgbClr val="BD9F79"/>
      </a:accent6>
      <a:hlink>
        <a:srgbClr val="467886"/>
      </a:hlink>
      <a:folHlink>
        <a:srgbClr val="96607D"/>
      </a:folHlink>
    </a:clrScheme>
    <a:fontScheme name="Custom 8">
      <a:majorFont>
        <a:latin typeface="Lexend"/>
        <a:ea typeface=""/>
        <a:cs typeface=""/>
      </a:majorFont>
      <a:minorFont>
        <a:latin typeface="Lexe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Sitat">
  <a:themeElements>
    <a:clrScheme name="iArbeid">
      <a:dk1>
        <a:srgbClr val="3F4E36"/>
      </a:dk1>
      <a:lt1>
        <a:srgbClr val="F3F0E2"/>
      </a:lt1>
      <a:dk2>
        <a:srgbClr val="000000"/>
      </a:dk2>
      <a:lt2>
        <a:srgbClr val="FFFFFF"/>
      </a:lt2>
      <a:accent1>
        <a:srgbClr val="7F877D"/>
      </a:accent1>
      <a:accent2>
        <a:srgbClr val="97CA31"/>
      </a:accent2>
      <a:accent3>
        <a:srgbClr val="E3CE98"/>
      </a:accent3>
      <a:accent4>
        <a:srgbClr val="AA523C"/>
      </a:accent4>
      <a:accent5>
        <a:srgbClr val="81512C"/>
      </a:accent5>
      <a:accent6>
        <a:srgbClr val="BD9F79"/>
      </a:accent6>
      <a:hlink>
        <a:srgbClr val="467886"/>
      </a:hlink>
      <a:folHlink>
        <a:srgbClr val="96607D"/>
      </a:folHlink>
    </a:clrScheme>
    <a:fontScheme name="Custom 8">
      <a:majorFont>
        <a:latin typeface="Lexend"/>
        <a:ea typeface=""/>
        <a:cs typeface=""/>
      </a:majorFont>
      <a:minorFont>
        <a:latin typeface="Lexe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Pause">
  <a:themeElements>
    <a:clrScheme name="iArbeid">
      <a:dk1>
        <a:srgbClr val="3F4E36"/>
      </a:dk1>
      <a:lt1>
        <a:srgbClr val="F3F0E2"/>
      </a:lt1>
      <a:dk2>
        <a:srgbClr val="000000"/>
      </a:dk2>
      <a:lt2>
        <a:srgbClr val="FFFFFF"/>
      </a:lt2>
      <a:accent1>
        <a:srgbClr val="7F877D"/>
      </a:accent1>
      <a:accent2>
        <a:srgbClr val="97CA31"/>
      </a:accent2>
      <a:accent3>
        <a:srgbClr val="E3CE98"/>
      </a:accent3>
      <a:accent4>
        <a:srgbClr val="AA523C"/>
      </a:accent4>
      <a:accent5>
        <a:srgbClr val="81512C"/>
      </a:accent5>
      <a:accent6>
        <a:srgbClr val="BD9F79"/>
      </a:accent6>
      <a:hlink>
        <a:srgbClr val="467886"/>
      </a:hlink>
      <a:folHlink>
        <a:srgbClr val="96607D"/>
      </a:folHlink>
    </a:clrScheme>
    <a:fontScheme name="iArbeid">
      <a:majorFont>
        <a:latin typeface="Lexend"/>
        <a:ea typeface=""/>
        <a:cs typeface=""/>
      </a:majorFont>
      <a:minorFont>
        <a:latin typeface="Lexe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Avslutningssider">
  <a:themeElements>
    <a:clrScheme name="iArbeid">
      <a:dk1>
        <a:srgbClr val="3F4E36"/>
      </a:dk1>
      <a:lt1>
        <a:srgbClr val="F3F0E2"/>
      </a:lt1>
      <a:dk2>
        <a:srgbClr val="000000"/>
      </a:dk2>
      <a:lt2>
        <a:srgbClr val="FFFFFF"/>
      </a:lt2>
      <a:accent1>
        <a:srgbClr val="7F877D"/>
      </a:accent1>
      <a:accent2>
        <a:srgbClr val="97CA31"/>
      </a:accent2>
      <a:accent3>
        <a:srgbClr val="E3CE98"/>
      </a:accent3>
      <a:accent4>
        <a:srgbClr val="AA523C"/>
      </a:accent4>
      <a:accent5>
        <a:srgbClr val="81512C"/>
      </a:accent5>
      <a:accent6>
        <a:srgbClr val="BD9F79"/>
      </a:accent6>
      <a:hlink>
        <a:srgbClr val="467886"/>
      </a:hlink>
      <a:folHlink>
        <a:srgbClr val="96607D"/>
      </a:folHlink>
    </a:clrScheme>
    <a:fontScheme name="Custom 8">
      <a:majorFont>
        <a:latin typeface="Lexend"/>
        <a:ea typeface=""/>
        <a:cs typeface=""/>
      </a:majorFont>
      <a:minorFont>
        <a:latin typeface="Lexe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1E5DCE7ABCC06468EC06FE9E8341BD7" ma:contentTypeVersion="12" ma:contentTypeDescription="Opprett et nytt dokument." ma:contentTypeScope="" ma:versionID="e2e8f42184ada3f35029cc1931f02dd9">
  <xsd:schema xmlns:xsd="http://www.w3.org/2001/XMLSchema" xmlns:xs="http://www.w3.org/2001/XMLSchema" xmlns:p="http://schemas.microsoft.com/office/2006/metadata/properties" xmlns:ns2="e952fd84-cde6-42ee-86fc-7f57b25220c1" xmlns:ns3="a442b621-b0d3-4eb9-b28f-0ab3a03d771f" targetNamespace="http://schemas.microsoft.com/office/2006/metadata/properties" ma:root="true" ma:fieldsID="8ef5f385bce0e085d79310bc9d687346" ns2:_="" ns3:_="">
    <xsd:import namespace="e952fd84-cde6-42ee-86fc-7f57b25220c1"/>
    <xsd:import namespace="a442b621-b0d3-4eb9-b28f-0ab3a03d77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52fd84-cde6-42ee-86fc-7f57b25220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Bildemerkelapper" ma:readOnly="false" ma:fieldId="{5cf76f15-5ced-4ddc-b409-7134ff3c332f}" ma:taxonomyMulti="true" ma:sspId="6662f648-57df-4c35-b253-bc9d5106c3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42b621-b0d3-4eb9-b28f-0ab3a03d77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f60bee08-3225-4ec7-a6fc-6cb758a47613}" ma:internalName="TaxCatchAll" ma:showField="CatchAllData" ma:web="a442b621-b0d3-4eb9-b28f-0ab3a03d77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42b621-b0d3-4eb9-b28f-0ab3a03d771f" xsi:nil="true"/>
    <lcf76f155ced4ddcb4097134ff3c332f xmlns="e952fd84-cde6-42ee-86fc-7f57b25220c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53C9846-E99D-4463-A274-EF04A5A6BEDD}"/>
</file>

<file path=customXml/itemProps2.xml><?xml version="1.0" encoding="utf-8"?>
<ds:datastoreItem xmlns:ds="http://schemas.openxmlformats.org/officeDocument/2006/customXml" ds:itemID="{C749B124-F12F-47C7-8302-E4E675B00954}"/>
</file>

<file path=customXml/itemProps3.xml><?xml version="1.0" encoding="utf-8"?>
<ds:datastoreItem xmlns:ds="http://schemas.openxmlformats.org/officeDocument/2006/customXml" ds:itemID="{75C90DDC-E8DA-4BA2-BDCA-7A97B2957ADA}"/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Lexend</vt:lpstr>
      <vt:lpstr>Forsider</vt:lpstr>
      <vt:lpstr>Innhold</vt:lpstr>
      <vt:lpstr>Hvilesider</vt:lpstr>
      <vt:lpstr>Sitat</vt:lpstr>
      <vt:lpstr>Pause</vt:lpstr>
      <vt:lpstr>Avslutningssider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Evensen, Marcus Alexander</dc:creator>
  <cp:lastModifiedBy>Evensen, Marcus Alexander</cp:lastModifiedBy>
  <cp:revision>13</cp:revision>
  <dcterms:created xsi:type="dcterms:W3CDTF">2025-06-04T08:52:40Z</dcterms:created>
  <dcterms:modified xsi:type="dcterms:W3CDTF">2025-08-31T20:26:32Z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0x01010001E5DCE7ABCC06468EC06FE9E8341BD7</vt:lpwstr>
  </property>
</Properties>
</file>