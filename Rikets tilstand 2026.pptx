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5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4"/>
    <p:sldMasterId id="2147483648" r:id="rId5"/>
    <p:sldMasterId id="2147483666" r:id="rId6"/>
    <p:sldMasterId id="2147483682" r:id="rId7"/>
    <p:sldMasterId id="2147483687" r:id="rId8"/>
    <p:sldMasterId id="2147483679" r:id="rId9"/>
  </p:sldMasterIdLst>
  <p:notesMasterIdLst>
    <p:notesMasterId r:id="rId38"/>
  </p:notesMasterIdLst>
  <p:handoutMasterIdLst>
    <p:handoutMasterId r:id="rId39"/>
  </p:handout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2415"/>
    <a:srgbClr val="65251A"/>
    <a:srgbClr val="CE8A39"/>
    <a:srgbClr val="DC9C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 autoAdjust="0"/>
    <p:restoredTop sz="94624"/>
  </p:normalViewPr>
  <p:slideViewPr>
    <p:cSldViewPr snapToGrid="0">
      <p:cViewPr>
        <p:scale>
          <a:sx n="72" d="100"/>
          <a:sy n="72" d="100"/>
        </p:scale>
        <p:origin x="856" y="9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03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slide" Target="slides/slide20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tableStyles" Target="tableStyle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265A2F-66C9-B0A9-CE3C-BB3A4CC4838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652C5-D46B-AF6D-B43D-A27BB0DD47E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030F9C-A61B-3CC8-5BFB-B6F963F68B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4DE810-3581-41FB-AC97-FCF56957208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13C278F-4A5D-950B-2532-5DDBF829058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4906D-A03C-486F-84FB-BEBFD2D39CB7}" type="datetimeFigureOut">
              <a:rPr lang="en-US" smtClean="0"/>
              <a:t>8/6/26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4209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2F1FC-631F-41CA-8038-356AB04079B0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BDA52F-A629-49CF-83AD-6CB60D599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183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Rikets tilstand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Tre spørsmål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Bakteppet: Norge 2000 til i dag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 punkter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1: 380 000 uføre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2: 22 000 unge uføre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Sitat: over 40 år utenfor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3: 53 000 uten kontakt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Sitat: Det burde være en nasjonal alarm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4: 24 kroner mot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Regnskapet for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Helhetsbildet: 15 mot 85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5: 850 milliarder i innkjøp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6: Vi mangler arbeidskraft, ikke folk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Sitat: Ressursen finnes allerede 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7: 1 000 tilrettelagte jobber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8: Postnummeret avgjør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9: Ordene lukker dører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Men virkeligheten forteller noe annet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Bruk språket til å åpne dører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 hindrer arbeid. Vi fremmer det ikke.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Punkt 10: Vi rekrutterer som i år 2000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Sitat: 50 prosent er helt 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Spiralen vi må bryte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Sammenlignet med år 2000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Oppsummert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Norge har mange utfordringer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Kilder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line on a dark background&#10;&#10;AI-generated content may be incorrect.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0442463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280806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26064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3445763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0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94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0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94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2161189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696326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696326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1904645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07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69829-54AC-5763-017B-BDADED9F96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1996" cy="68579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47339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696326" y="4886325"/>
            <a:ext cx="2856782" cy="945544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Navn</a:t>
            </a:r>
            <a:r>
              <a:rPr lang="en-US" dirty="0"/>
              <a:t> </a:t>
            </a:r>
            <a:r>
              <a:rPr lang="en-US" dirty="0" err="1"/>
              <a:t>Navnesen</a:t>
            </a:r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1D9AFF0-5BF2-3CBE-2808-C3D2A03B7A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696326" y="5937250"/>
            <a:ext cx="2856782" cy="27879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Dato</a:t>
            </a:r>
          </a:p>
        </p:txBody>
      </p:sp>
    </p:spTree>
    <p:extLst>
      <p:ext uri="{BB962C8B-B14F-4D97-AF65-F5344CB8AC3E}">
        <p14:creationId xmlns:p14="http://schemas.microsoft.com/office/powerpoint/2010/main" val="37968612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6208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2D5B6A0-EFCA-C983-6FC2-A6288B727D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156D7F2-7E87-E47F-F56B-E1E877BD87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32191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Lys -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2D5B6A0-EFCA-C983-6FC2-A6288B727D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156D7F2-7E87-E47F-F56B-E1E877BD87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DC9C81"/>
          </a:solidFill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29138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803227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E1D0BA-2C7A-96D0-329B-E509B772B70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525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rgbClr val="DC9C81"/>
              </a:buClr>
              <a:defRPr/>
            </a:lvl1pPr>
            <a:lvl2pPr>
              <a:buClr>
                <a:srgbClr val="DC9C81"/>
              </a:buClr>
              <a:defRPr/>
            </a:lvl2pPr>
            <a:lvl3pPr>
              <a:buClr>
                <a:srgbClr val="DC9C81"/>
              </a:buClr>
              <a:defRPr/>
            </a:lvl3pPr>
            <a:lvl4pPr>
              <a:buClr>
                <a:srgbClr val="DC9C81"/>
              </a:buClr>
              <a:defRPr/>
            </a:lvl4pPr>
            <a:lvl5pPr>
              <a:buClr>
                <a:srgbClr val="DC9C8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9787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+ innhold - Mørk - 0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3" y="638171"/>
            <a:ext cx="10914931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3" y="1495425"/>
            <a:ext cx="10914931" cy="4724403"/>
          </a:xfrm>
        </p:spPr>
        <p:txBody>
          <a:bodyPr bIns="0"/>
          <a:lstStyle>
            <a:lvl1pPr>
              <a:buClr>
                <a:srgbClr val="DC9C81"/>
              </a:buClr>
              <a:defRPr/>
            </a:lvl1pPr>
            <a:lvl2pPr>
              <a:buClr>
                <a:srgbClr val="DC9C81"/>
              </a:buClr>
              <a:defRPr/>
            </a:lvl2pPr>
            <a:lvl3pPr>
              <a:buClr>
                <a:srgbClr val="DC9C81"/>
              </a:buClr>
              <a:defRPr/>
            </a:lvl3pPr>
            <a:lvl4pPr>
              <a:buClr>
                <a:srgbClr val="DC9C81"/>
              </a:buClr>
              <a:defRPr/>
            </a:lvl4pPr>
            <a:lvl5pPr>
              <a:buClr>
                <a:srgbClr val="DC9C81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34328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, innhold + bilde - Ly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6F7F5-C47E-1F00-F827-108A60708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4" y="638171"/>
            <a:ext cx="6076232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F0120B2-829E-5ACF-18FA-4B287E799F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4" y="1495425"/>
            <a:ext cx="6076232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34EAF19-9309-4EE6-429E-C9FF3304C6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91399" y="416399"/>
            <a:ext cx="3895726" cy="6006152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271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tel + innhold - Mørk -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B50898-34D7-C03A-5A5A-4B4831730F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6948D0-4ACF-072F-DE8B-0B1655A636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91399" y="416399"/>
            <a:ext cx="3895726" cy="6006152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22D3397-9E09-12FF-5AD0-DAF4AA013D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894" y="638171"/>
            <a:ext cx="6076232" cy="613309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 err="1"/>
              <a:t>Overskrift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C41FAB-27F4-1181-79DB-305F1061DD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94" y="1495425"/>
            <a:ext cx="6076232" cy="4724403"/>
          </a:xfrm>
        </p:spPr>
        <p:txBody>
          <a:bodyPr bIns="0"/>
          <a:lstStyle>
            <a:lvl1pPr>
              <a:buClr>
                <a:schemeClr val="accent2"/>
              </a:buCl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2081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ende bil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41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- Mø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937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- Ly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3372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med kommentar - Mø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A18D-DF8A-6A05-10BB-3966DB8247C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52750" y="5105400"/>
            <a:ext cx="6286500" cy="1117331"/>
          </a:xfrm>
          <a:solidFill>
            <a:schemeClr val="bg1"/>
          </a:solidFill>
        </p:spPr>
        <p:txBody>
          <a:bodyPr lIns="360000" tIns="360000" rIns="360000" bIns="360000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err="1"/>
              <a:t>Skriv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kort</a:t>
            </a:r>
            <a:r>
              <a:rPr lang="en-US" dirty="0"/>
              <a:t> </a:t>
            </a:r>
            <a:r>
              <a:rPr lang="en-US" dirty="0" err="1"/>
              <a:t>tekst</a:t>
            </a:r>
            <a:r>
              <a:rPr lang="en-US" dirty="0"/>
              <a:t> her</a:t>
            </a:r>
          </a:p>
        </p:txBody>
      </p:sp>
    </p:spTree>
    <p:extLst>
      <p:ext uri="{BB962C8B-B14F-4D97-AF65-F5344CB8AC3E}">
        <p14:creationId xmlns:p14="http://schemas.microsoft.com/office/powerpoint/2010/main" val="19886314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rammet bilde med kommentar - Ly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DA0BA4D-804D-1740-C05D-3D3E1CB15A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9075" y="203597"/>
            <a:ext cx="11753850" cy="6450806"/>
          </a:xfrm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A18D-DF8A-6A05-10BB-3966DB8247C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52750" y="5105400"/>
            <a:ext cx="6286500" cy="1117331"/>
          </a:xfrm>
          <a:solidFill>
            <a:schemeClr val="accent3"/>
          </a:solidFill>
        </p:spPr>
        <p:txBody>
          <a:bodyPr lIns="360000" tIns="360000" rIns="360000" bIns="360000">
            <a:noAutofit/>
          </a:bodyPr>
          <a:lstStyle>
            <a:lvl1pPr marL="0" indent="0" algn="ctr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 err="1"/>
              <a:t>Skriv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kort</a:t>
            </a:r>
            <a:r>
              <a:rPr lang="en-US" dirty="0"/>
              <a:t> </a:t>
            </a:r>
            <a:r>
              <a:rPr lang="en-US" dirty="0" err="1"/>
              <a:t>tekst</a:t>
            </a:r>
            <a:r>
              <a:rPr lang="en-US" dirty="0"/>
              <a:t> her</a:t>
            </a:r>
          </a:p>
        </p:txBody>
      </p:sp>
    </p:spTree>
    <p:extLst>
      <p:ext uri="{BB962C8B-B14F-4D97-AF65-F5344CB8AC3E}">
        <p14:creationId xmlns:p14="http://schemas.microsoft.com/office/powerpoint/2010/main" val="34515172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background with circles&#10;&#10;AI-generated content may be incorrect.">
            <a:extLst>
              <a:ext uri="{FF2B5EF4-FFF2-40B4-BE49-F238E27FC236}">
                <a16:creationId xmlns:a16="http://schemas.microsoft.com/office/drawing/2014/main" id="{E6C2AD3E-EC90-4B85-63AF-EC2700F811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738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pattern&#10;&#10;AI-generated content may be incorrect.">
            <a:extLst>
              <a:ext uri="{FF2B5EF4-FFF2-40B4-BE49-F238E27FC236}">
                <a16:creationId xmlns:a16="http://schemas.microsoft.com/office/drawing/2014/main" id="{FAE993D7-E6F0-B017-00FD-E4E2FCDE43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19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background with circles&#10;&#10;AI-generated content may be incorrect.">
            <a:extLst>
              <a:ext uri="{FF2B5EF4-FFF2-40B4-BE49-F238E27FC236}">
                <a16:creationId xmlns:a16="http://schemas.microsoft.com/office/drawing/2014/main" id="{EA2DEA60-B5C9-25A8-B68B-515BA0DCA4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516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lesid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own background with circles&#10;&#10;AI-generated content may be incorrect.">
            <a:extLst>
              <a:ext uri="{FF2B5EF4-FFF2-40B4-BE49-F238E27FC236}">
                <a16:creationId xmlns:a16="http://schemas.microsoft.com/office/drawing/2014/main" id="{409BF03E-5979-9071-5D7D-86F9411356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683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3DEF0F2-98CB-8A79-6361-2F301F8A9D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C18F3E7-2738-1A18-E9CA-909DDEEE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5842001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AAE1F15-AE56-D3ED-D5F4-8092367F79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D6820C3-5C13-4178-499D-FEB5103930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3752749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8541D6-476F-2C80-A414-B6189AB0D0D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525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06B5F5E-9D6A-3A8F-3E49-F6126F7D1B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52846E23-D562-159E-4D2E-5091E0021A4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rgbClr val="DC9C81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14869286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at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1ECF1F-F997-F9C1-46C4-B43A0560C06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E8A3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17D779E-48AE-8DF6-4A0F-CCB1FB17B4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275DB4B6-827E-3D9B-0786-0830C7E833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175" y="628650"/>
            <a:ext cx="10915650" cy="5591175"/>
          </a:xfrm>
          <a:prstGeom prst="rect">
            <a:avLst/>
          </a:prstGeom>
        </p:spPr>
        <p:txBody>
          <a:bodyPr lIns="1080000" tIns="1080000" rIns="1080000" bIns="1080000" anchor="ctr" anchorCtr="0">
            <a:normAutofit/>
          </a:bodyPr>
          <a:lstStyle>
            <a:lvl1pPr marL="0" indent="0" algn="ctr">
              <a:buNone/>
              <a:defRPr sz="7200">
                <a:solidFill>
                  <a:srgbClr val="3A2415"/>
                </a:solidFill>
              </a:defRPr>
            </a:lvl1pPr>
          </a:lstStyle>
          <a:p>
            <a:pPr lvl="0"/>
            <a:r>
              <a:rPr lang="en-US" dirty="0"/>
              <a:t>Dette er et </a:t>
            </a:r>
            <a:r>
              <a:rPr lang="en-US" dirty="0" err="1"/>
              <a:t>stort</a:t>
            </a:r>
            <a:r>
              <a:rPr lang="en-US" dirty="0"/>
              <a:t> </a:t>
            </a:r>
            <a:r>
              <a:rPr lang="en-US" dirty="0" err="1"/>
              <a:t>sitat</a:t>
            </a:r>
            <a:r>
              <a:rPr lang="en-US" dirty="0"/>
              <a:t> over </a:t>
            </a:r>
            <a:r>
              <a:rPr lang="en-US" dirty="0" err="1"/>
              <a:t>flere</a:t>
            </a:r>
            <a:r>
              <a:rPr lang="en-US" dirty="0"/>
              <a:t> </a:t>
            </a:r>
            <a:r>
              <a:rPr lang="en-US" dirty="0" err="1"/>
              <a:t>linjer</a:t>
            </a:r>
            <a:r>
              <a:rPr lang="en-US" dirty="0"/>
              <a:t> med mer.</a:t>
            </a:r>
          </a:p>
        </p:txBody>
      </p:sp>
    </p:spTree>
    <p:extLst>
      <p:ext uri="{BB962C8B-B14F-4D97-AF65-F5344CB8AC3E}">
        <p14:creationId xmlns:p14="http://schemas.microsoft.com/office/powerpoint/2010/main" val="41727048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defRPr>
                <a:solidFill>
                  <a:srgbClr val="65251A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6D944A2-F884-3797-1316-14CE634A30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974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grey background&#10;&#10;AI-generated content may be incorrect.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AB9299-C3DC-6071-54BB-9ECCD7367C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040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F3FF61D-094A-0186-36F8-3F67AB8CC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814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6C08F-9D4F-5056-DDA8-1A948568C25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2266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 0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9C3C00-F03C-4690-CE22-F311218D49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2EE84B-B802-AF21-71BE-8A87F79B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5572129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>
                <a:solidFill>
                  <a:srgbClr val="3A241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Picture 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AB8EFD-BA29-A83E-DED5-CF60D20C46E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616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ning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and grey background&#10;&#10;AI-generated content may be incorrect.">
            <a:extLst>
              <a:ext uri="{FF2B5EF4-FFF2-40B4-BE49-F238E27FC236}">
                <a16:creationId xmlns:a16="http://schemas.microsoft.com/office/drawing/2014/main" id="{EBC03BCD-ADCD-CB11-36B6-613130EC9B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E4CD497-1684-FD7B-5B14-6DDF433B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638171"/>
            <a:ext cx="6067424" cy="3248029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18970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ning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C03BCD-ADCD-CB11-36B6-613130EC9B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E4CD497-1684-FD7B-5B14-6DDF433B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2" y="2371721"/>
            <a:ext cx="6067424" cy="2981329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09840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4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28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2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417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8" r:id="rId3"/>
    <p:sldLayoutId id="2147483656" r:id="rId4"/>
    <p:sldLayoutId id="2147483657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C840D0E-8B50-5F45-4D99-05982AEC3E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78F03B-F3C7-4E8A-498F-E79FEAC20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93" y="638171"/>
            <a:ext cx="10914931" cy="13255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7673E-8A4D-E33B-67DC-255076122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893" y="2349500"/>
            <a:ext cx="10914931" cy="3870329"/>
          </a:xfrm>
          <a:prstGeom prst="rect">
            <a:avLst/>
          </a:prstGeom>
        </p:spPr>
        <p:txBody>
          <a:bodyPr vert="horz" lIns="0" tIns="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12207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64" r:id="rId2"/>
    <p:sldLayoutId id="2147483665" r:id="rId3"/>
    <p:sldLayoutId id="2147483661" r:id="rId4"/>
    <p:sldLayoutId id="2147483663" r:id="rId5"/>
    <p:sldLayoutId id="2147483662" r:id="rId6"/>
    <p:sldLayoutId id="2147483674" r:id="rId7"/>
    <p:sldLayoutId id="2147483676" r:id="rId8"/>
    <p:sldLayoutId id="2147483671" r:id="rId9"/>
    <p:sldLayoutId id="2147483672" r:id="rId10"/>
    <p:sldLayoutId id="2147483673" r:id="rId11"/>
    <p:sldLayoutId id="2147483677" r:id="rId12"/>
    <p:sldLayoutId id="214748367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6449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0049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0632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3552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9.png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1640586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1565148"/>
            <a:ext cx="462534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Rikets tilstand · Arbeidsinkludering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046732"/>
            <a:ext cx="6396990" cy="737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F3F0E2"/>
                </a:solidFill>
                <a:latin typeface="Lexend"/>
                <a:cs typeface="Lexend"/>
              </a:rPr>
              <a:t>Rikets tilstand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784348"/>
            <a:ext cx="6827520" cy="737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F3F0E2"/>
                </a:solidFill>
                <a:latin typeface="Lexend"/>
                <a:cs typeface="Lexend"/>
              </a:rPr>
              <a:t>arbeidsinkludering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521964"/>
            <a:ext cx="1911858" cy="737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810"/>
              </a:lnSpc>
              <a:spcBef>
                <a:spcPts val="0"/>
              </a:spcBef>
              <a:spcAft>
                <a:spcPts val="0"/>
              </a:spcAft>
            </a:pPr>
            <a:r>
              <a:rPr sz="5640" b="1" spc="-181">
                <a:solidFill>
                  <a:srgbClr val="97CA31"/>
                </a:solidFill>
                <a:latin typeface="Lexend"/>
                <a:cs typeface="Lexend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565904"/>
            <a:ext cx="6127242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Ti punkter. Én konklusjon: Norge trenger et taktskifte.</a:t>
            </a:r>
          </a:p>
        </p:txBody>
      </p:sp>
      <p:sp>
        <p:nvSpPr>
          <p:cNvPr id="8" name="Oval 7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9" name="Picture 8" descr="i-person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1120" y="5839206"/>
            <a:ext cx="2211324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F3F0E2"/>
                </a:solidFill>
                <a:latin typeface="Lexend"/>
                <a:cs typeface="Lexend"/>
              </a:rPr>
              <a:t>Onar Aanestad, direktør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4804" y="5955030"/>
            <a:ext cx="7424166" cy="7620"/>
          </a:xfrm>
          <a:prstGeom prst="rect">
            <a:avLst/>
          </a:prstGeom>
          <a:solidFill>
            <a:srgbClr val="F3F0E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61370" y="5839206"/>
            <a:ext cx="758190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151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215493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Utgangspunktet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3155442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Tre spørsmål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74420" y="2455926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questionmark-circle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60" y="2585466"/>
            <a:ext cx="243840" cy="243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4420" y="3084576"/>
            <a:ext cx="51435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97CA31"/>
                </a:solidFill>
                <a:latin typeface="Lexend"/>
                <a:cs typeface="Lexe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3391662"/>
            <a:ext cx="243535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Hvordan går det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" y="3702558"/>
            <a:ext cx="199644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egentlig 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" y="4013454"/>
            <a:ext cx="303504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arbeidsinkluderingen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" y="4324350"/>
            <a:ext cx="139979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i Norge?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4454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676394" y="2455926"/>
            <a:ext cx="502920" cy="502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5" name="Picture 14" descr="i-trend-up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934" y="2585466"/>
            <a:ext cx="243840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76394" y="3084576"/>
            <a:ext cx="51282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81512C"/>
                </a:solidFill>
                <a:latin typeface="Lexend"/>
                <a:cs typeface="Lexen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6394" y="3391662"/>
            <a:ext cx="245211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Går utviklingen 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6394" y="3702558"/>
            <a:ext cx="213588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riktig retning?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5666" y="2189226"/>
            <a:ext cx="3403854" cy="2714244"/>
          </a:xfrm>
          <a:prstGeom prst="roundRect">
            <a:avLst>
              <a:gd name="adj" fmla="val 729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277606" y="2455926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1" name="Picture 20" descr="i-compass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7146" y="2585466"/>
            <a:ext cx="243840" cy="243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77606" y="3084576"/>
            <a:ext cx="51892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4">
                <a:solidFill>
                  <a:srgbClr val="AA523C"/>
                </a:solidFill>
                <a:latin typeface="Lexend"/>
                <a:cs typeface="Lexen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606" y="3391662"/>
            <a:ext cx="276529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Kan vi være trygge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7606" y="3702558"/>
            <a:ext cx="276072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på at Norge har 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7606" y="4013454"/>
            <a:ext cx="189509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god plan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7606" y="4324350"/>
            <a:ext cx="171678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framtiden?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" y="5486400"/>
            <a:ext cx="6687665" cy="6464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640"/>
              </a:lnSpc>
            </a:pP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For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å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svare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må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vi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sammenligne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Norge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i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dag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med Norge for 25</a:t>
            </a:r>
            <a:r>
              <a:rPr lang="nb-NO" sz="1860" spc="-9" dirty="0">
                <a:solidFill>
                  <a:srgbClr val="26301C"/>
                </a:solidFill>
                <a:cs typeface="Lexend"/>
              </a:rPr>
              <a:t> år siden.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endParaRPr sz="1860" b="0" spc="-9" dirty="0">
              <a:solidFill>
                <a:srgbClr val="26301C"/>
              </a:solidFill>
              <a:latin typeface="Lexend"/>
              <a:cs typeface="Lexen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44399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Bakteppet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1048512"/>
            <a:ext cx="3056382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Norge 2000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2603" y="1048512"/>
            <a:ext cx="3077718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 dirty="0">
                <a:solidFill>
                  <a:srgbClr val="26301C"/>
                </a:solidFill>
                <a:latin typeface="Lexend"/>
                <a:cs typeface="Lexend"/>
              </a:rPr>
              <a:t>Norge </a:t>
            </a:r>
            <a:r>
              <a:rPr sz="3600" b="1" spc="-79" dirty="0" err="1">
                <a:solidFill>
                  <a:srgbClr val="26301C"/>
                </a:solidFill>
                <a:latin typeface="Lexend"/>
                <a:cs typeface="Lexend"/>
              </a:rPr>
              <a:t>i</a:t>
            </a:r>
            <a:r>
              <a:rPr sz="3600" b="1" spc="-7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3600" b="1" spc="-79" dirty="0" err="1">
                <a:solidFill>
                  <a:srgbClr val="26301C"/>
                </a:solidFill>
                <a:latin typeface="Lexend"/>
                <a:cs typeface="Lexend"/>
              </a:rPr>
              <a:t>dag</a:t>
            </a:r>
            <a:endParaRPr sz="3600" b="1" spc="-79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92480" y="2011680"/>
            <a:ext cx="10607040" cy="1202436"/>
          </a:xfrm>
          <a:prstGeom prst="roundRect">
            <a:avLst>
              <a:gd name="adj" fmla="val 1647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28700" y="2361438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9" name="Picture 8" descr="i-wheelchair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2490978"/>
            <a:ext cx="243840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75460" y="2231136"/>
            <a:ext cx="2590800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280 000</a:t>
            </a:r>
          </a:p>
        </p:txBody>
      </p:sp>
      <p:pic>
        <p:nvPicPr>
          <p:cNvPr id="11" name="Picture 10" descr="i-arrow-right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03" y="2170176"/>
            <a:ext cx="448056" cy="4480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53593" y="2231136"/>
            <a:ext cx="2615184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 dirty="0">
                <a:solidFill>
                  <a:srgbClr val="26301C"/>
                </a:solidFill>
                <a:latin typeface="Lexend"/>
                <a:cs typeface="Lexend"/>
              </a:rPr>
              <a:t>380 000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5460" y="2757678"/>
            <a:ext cx="3823716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uføre – mens befolkningen vokste rundt 26 %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0780" y="2426208"/>
            <a:ext cx="1112520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5" name="Picture 14" descr="i-trend-up__AA52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2700" y="2513838"/>
            <a:ext cx="198120" cy="198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47020" y="2507742"/>
            <a:ext cx="883920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AA523C"/>
                </a:solidFill>
                <a:latin typeface="Lexend"/>
                <a:cs typeface="Lexend"/>
              </a:rPr>
              <a:t>+ 36 %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3396996"/>
            <a:ext cx="10607040" cy="1202436"/>
          </a:xfrm>
          <a:prstGeom prst="roundRect">
            <a:avLst>
              <a:gd name="adj" fmla="val 1647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28700" y="3746754"/>
            <a:ext cx="502920" cy="502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9" name="Picture 18" descr="i-person-group__8151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8240" y="3876294"/>
            <a:ext cx="243840" cy="243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75460" y="3616452"/>
            <a:ext cx="1144524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4,6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2864" y="3616452"/>
            <a:ext cx="1110234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3,3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5978" y="3616452"/>
            <a:ext cx="1088136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2,5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75460" y="4142994"/>
            <a:ext cx="4467606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yrkesaktive bak hver pensjonist (2000 – i dag – 2050)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04298" y="3811524"/>
            <a:ext cx="1159002" cy="373380"/>
          </a:xfrm>
          <a:prstGeom prst="roundRect">
            <a:avLst>
              <a:gd name="adj" fmla="val 50000"/>
            </a:avLst>
          </a:prstGeom>
          <a:solidFill>
            <a:srgbClr val="81512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trend-down__81512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26218" y="3899154"/>
            <a:ext cx="198120" cy="1981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400538" y="3893058"/>
            <a:ext cx="93040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81512C"/>
                </a:solidFill>
                <a:latin typeface="Lexend"/>
                <a:cs typeface="Lexend"/>
              </a:rPr>
              <a:t>halvert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" y="4782312"/>
            <a:ext cx="10607040" cy="1014984"/>
          </a:xfrm>
          <a:prstGeom prst="roundRect">
            <a:avLst>
              <a:gd name="adj" fmla="val 1951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8700" y="5038344"/>
            <a:ext cx="502920" cy="50292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1" name="Picture 30" descr="i-briefcase__F3F0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8240" y="5167884"/>
            <a:ext cx="243840" cy="2438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775460" y="5001768"/>
            <a:ext cx="224942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arbeidsledighet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2030" y="5009388"/>
            <a:ext cx="286131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 dirty="0" err="1">
                <a:solidFill>
                  <a:srgbClr val="26301C"/>
                </a:solidFill>
                <a:latin typeface="Lexend"/>
                <a:cs typeface="Lexend"/>
              </a:rPr>
              <a:t>arbeidskraftmangel</a:t>
            </a:r>
            <a:endParaRPr sz="2039" b="1" spc="-2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775460" y="5340858"/>
            <a:ext cx="2503170" cy="2316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spc="6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det Norge bekymrer seg for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91166" y="5103114"/>
            <a:ext cx="1072134" cy="373380"/>
          </a:xfrm>
          <a:prstGeom prst="roundRect">
            <a:avLst>
              <a:gd name="adj" fmla="val 50000"/>
            </a:avLst>
          </a:prstGeom>
          <a:solidFill>
            <a:srgbClr val="97CA31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7" name="Picture 36" descr="i-arrows-circlepath__5C7A1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13086" y="5190744"/>
            <a:ext cx="198120" cy="1981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487406" y="5184648"/>
            <a:ext cx="843534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 dirty="0" err="1">
                <a:solidFill>
                  <a:srgbClr val="5C7A15"/>
                </a:solidFill>
                <a:latin typeface="Lexend"/>
                <a:cs typeface="Lexend"/>
              </a:rPr>
              <a:t>snudd</a:t>
            </a:r>
            <a:endParaRPr sz="1380" b="1" spc="-14" dirty="0">
              <a:solidFill>
                <a:srgbClr val="5C7A15"/>
              </a:solidFill>
              <a:latin typeface="Lexend"/>
              <a:cs typeface="Lexend"/>
            </a:endParaRPr>
          </a:p>
        </p:txBody>
      </p:sp>
      <p:pic>
        <p:nvPicPr>
          <p:cNvPr id="39" name="Picture 10" descr="i-arrow-right__97CA31.png">
            <a:extLst>
              <a:ext uri="{FF2B5EF4-FFF2-40B4-BE49-F238E27FC236}">
                <a16:creationId xmlns:a16="http://schemas.microsoft.com/office/drawing/2014/main" id="{07D88200-2FC2-899F-D791-DDD4F13635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6535" y="1060323"/>
            <a:ext cx="448056" cy="448056"/>
          </a:xfrm>
          <a:prstGeom prst="rect">
            <a:avLst/>
          </a:prstGeom>
        </p:spPr>
      </p:pic>
      <p:pic>
        <p:nvPicPr>
          <p:cNvPr id="40" name="Picture 10" descr="i-arrow-right__97CA31.png">
            <a:extLst>
              <a:ext uri="{FF2B5EF4-FFF2-40B4-BE49-F238E27FC236}">
                <a16:creationId xmlns:a16="http://schemas.microsoft.com/office/drawing/2014/main" id="{211A86A7-4EDB-4D85-2C54-B38185460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8128" y="3588258"/>
            <a:ext cx="448056" cy="448056"/>
          </a:xfrm>
          <a:prstGeom prst="rect">
            <a:avLst/>
          </a:prstGeom>
        </p:spPr>
      </p:pic>
      <p:pic>
        <p:nvPicPr>
          <p:cNvPr id="41" name="Picture 10" descr="i-arrow-right__97CA31.png">
            <a:extLst>
              <a:ext uri="{FF2B5EF4-FFF2-40B4-BE49-F238E27FC236}">
                <a16:creationId xmlns:a16="http://schemas.microsoft.com/office/drawing/2014/main" id="{FB6293B7-4A3E-BEF9-B279-6F4A2C1CA1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9342" y="3587258"/>
            <a:ext cx="448056" cy="448056"/>
          </a:xfrm>
          <a:prstGeom prst="rect">
            <a:avLst/>
          </a:prstGeom>
        </p:spPr>
      </p:pic>
      <p:pic>
        <p:nvPicPr>
          <p:cNvPr id="42" name="Picture 10" descr="i-arrow-right__97CA31.png">
            <a:extLst>
              <a:ext uri="{FF2B5EF4-FFF2-40B4-BE49-F238E27FC236}">
                <a16:creationId xmlns:a16="http://schemas.microsoft.com/office/drawing/2014/main" id="{988A4C2A-94A1-78AF-4029-16321F18A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3953" y="4940808"/>
            <a:ext cx="448056" cy="4480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680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34112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1544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8976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6408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43840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1272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704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61360" y="2300478"/>
            <a:ext cx="152400" cy="15240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480" y="2787396"/>
            <a:ext cx="5740146" cy="10988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650"/>
              </a:lnSpc>
              <a:spcBef>
                <a:spcPts val="0"/>
              </a:spcBef>
              <a:spcAft>
                <a:spcPts val="0"/>
              </a:spcAft>
            </a:pPr>
            <a:r>
              <a:rPr sz="8400" b="1" spc="-269">
                <a:solidFill>
                  <a:srgbClr val="F3F0E2"/>
                </a:solidFill>
                <a:latin typeface="Lexend"/>
                <a:cs typeface="Lexend"/>
              </a:rPr>
              <a:t>Ti punkter.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4222242"/>
            <a:ext cx="420014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Tallene som beskriver Norge i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298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1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417826"/>
            <a:ext cx="5730240" cy="12054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 dirty="0">
                <a:solidFill>
                  <a:srgbClr val="26301C"/>
                </a:solidFill>
                <a:latin typeface="Lexend"/>
                <a:cs typeface="Lexend"/>
              </a:rPr>
              <a:t>380 000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639312"/>
            <a:ext cx="534924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uføre i Norge i dag. I 2000 var tallet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280 000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80" y="4500358"/>
            <a:ext cx="3649980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trend-up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587988"/>
            <a:ext cx="198120" cy="198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4581892"/>
            <a:ext cx="3421380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+ 36 %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i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antall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·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befolkningen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+ 26 %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6080" y="1811274"/>
            <a:ext cx="1821180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Andel av befolkningen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6080" y="2313432"/>
            <a:ext cx="103098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År 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9504" y="2201418"/>
            <a:ext cx="97688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6,2 %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36080" y="2586990"/>
            <a:ext cx="4430268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36080" y="2586990"/>
            <a:ext cx="4031742" cy="259080"/>
          </a:xfrm>
          <a:prstGeom prst="roundRect">
            <a:avLst>
              <a:gd name="adj" fmla="val 23529"/>
            </a:avLst>
          </a:prstGeom>
          <a:solidFill>
            <a:srgbClr val="7F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36080" y="3102102"/>
            <a:ext cx="832104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dag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98074" y="2990088"/>
            <a:ext cx="98831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AA523C"/>
                </a:solidFill>
                <a:latin typeface="Lexend"/>
                <a:cs typeface="Lexend"/>
              </a:rPr>
              <a:t>6,8 %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36080" y="3375660"/>
            <a:ext cx="4430268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736080" y="3375660"/>
            <a:ext cx="443026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36080" y="3816096"/>
            <a:ext cx="4687062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Befolkningen vokste 26 prosent i samme periode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6080" y="4113276"/>
            <a:ext cx="432663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– fra 4,5 til 5,6 millioner. Antallet uføre vokste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6080" y="4410456"/>
            <a:ext cx="355320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rundt 10 prosentpoeng raskere. Hvis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6080" y="4707636"/>
            <a:ext cx="442188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arbeidsinkluderingen gikk riktig vei, burde det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6080" y="5004816"/>
            <a:ext cx="181965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gått motsatt vei.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374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2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417826"/>
            <a:ext cx="4722876" cy="12054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22 000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639312"/>
            <a:ext cx="5567172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unge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uføre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under 30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år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. Ved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inngangen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spc="-9" dirty="0" err="1">
                <a:solidFill>
                  <a:srgbClr val="26301C"/>
                </a:solidFill>
                <a:latin typeface="Lexend"/>
                <a:cs typeface="Lexend"/>
              </a:rPr>
              <a:t>til</a:t>
            </a:r>
            <a:r>
              <a:rPr sz="1860" b="0" spc="-9" dirty="0">
                <a:solidFill>
                  <a:srgbClr val="26301C"/>
                </a:solidFill>
                <a:latin typeface="Lexend"/>
                <a:cs typeface="Lexend"/>
              </a:rPr>
              <a:t> 2000-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974592"/>
            <a:ext cx="2921508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tallet var de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11–12 000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4492752"/>
            <a:ext cx="1860042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8" name="Picture 7" descr="i-trend-up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580382"/>
            <a:ext cx="198120" cy="198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4286"/>
            <a:ext cx="16314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doblet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på</a:t>
            </a:r>
            <a:r>
              <a:rPr sz="1380" b="1" spc="-14" dirty="0">
                <a:solidFill>
                  <a:srgbClr val="AA523C"/>
                </a:solidFill>
                <a:latin typeface="Lexend"/>
                <a:cs typeface="Lexend"/>
              </a:rPr>
              <a:t> 25 </a:t>
            </a:r>
            <a:r>
              <a:rPr sz="1380" b="1" spc="-14" dirty="0" err="1">
                <a:solidFill>
                  <a:srgbClr val="AA523C"/>
                </a:solidFill>
                <a:latin typeface="Lexend"/>
                <a:cs typeface="Lexend"/>
              </a:rPr>
              <a:t>år</a:t>
            </a:r>
            <a:endParaRPr sz="1380" b="1" spc="-14" dirty="0">
              <a:solidFill>
                <a:srgbClr val="AA523C"/>
              </a:solidFill>
              <a:latin typeface="Lexend"/>
              <a:cs typeface="Lexen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36080" y="2313432"/>
            <a:ext cx="168630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Rundt</a:t>
            </a:r>
            <a:r>
              <a:rPr sz="1140" b="1" cap="all" spc="114" dirty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</a:t>
            </a:r>
            <a:r>
              <a:rPr sz="1140" b="1" cap="all" spc="114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år</a:t>
            </a:r>
            <a:r>
              <a:rPr sz="1140" b="1" cap="all" spc="114" dirty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0998" y="2201418"/>
            <a:ext cx="157048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11–12 000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36080" y="2586990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36080" y="2586990"/>
            <a:ext cx="2487930" cy="259080"/>
          </a:xfrm>
          <a:prstGeom prst="roundRect">
            <a:avLst>
              <a:gd name="adj" fmla="val 23529"/>
            </a:avLst>
          </a:prstGeom>
          <a:solidFill>
            <a:srgbClr val="7F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36080" y="3102102"/>
            <a:ext cx="832104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 dirty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</a:t>
            </a:r>
            <a:r>
              <a:rPr sz="1140" b="1" cap="all" spc="114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dag</a:t>
            </a:r>
            <a:endParaRPr sz="1140" b="1" cap="all" spc="114" dirty="0">
              <a:solidFill>
                <a:srgbClr val="26301C">
                  <a:alpha val="62000"/>
                </a:srgbClr>
              </a:solidFill>
              <a:latin typeface="Lexend"/>
              <a:cs typeface="Lexen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681716" y="2990088"/>
            <a:ext cx="115976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 dirty="0">
                <a:solidFill>
                  <a:srgbClr val="AA523C"/>
                </a:solidFill>
                <a:latin typeface="Lexend"/>
                <a:cs typeface="Lexend"/>
              </a:rPr>
              <a:t>22 000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36080" y="3445764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736080" y="3375660"/>
            <a:ext cx="4785360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36080" y="3887724"/>
            <a:ext cx="4785360" cy="964692"/>
          </a:xfrm>
          <a:prstGeom prst="roundRect">
            <a:avLst>
              <a:gd name="adj" fmla="val 20537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972300" y="4171950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0" name="Picture 19" descr="i-exclamationmark-triangle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4274820"/>
            <a:ext cx="190500" cy="1905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05700" y="4105656"/>
            <a:ext cx="3892296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Det mest bekymringsfulle er ikke hvor mange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5700" y="4367022"/>
            <a:ext cx="3759708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som står utenfor. Det er hvor tidlig det skjer.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1137666"/>
            <a:ext cx="792480" cy="792480"/>
          </a:xfrm>
          <a:prstGeom prst="ellipse">
            <a:avLst/>
          </a:prstGeom>
          <a:noFill/>
          <a:ln w="15240">
            <a:solidFill>
              <a:srgbClr val="F3F0E2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hourglass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20" y="1343406"/>
            <a:ext cx="381000" cy="38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80" y="2233422"/>
            <a:ext cx="6783324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Å bli stående utenfor fra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887218"/>
            <a:ext cx="7527798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20-årene er ikke noen få år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541776"/>
            <a:ext cx="5890260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utenfor. Det kan bety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195572"/>
            <a:ext cx="3119628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97CA31"/>
                </a:solidFill>
                <a:latin typeface="Lexend"/>
                <a:cs typeface="Lexend"/>
              </a:rPr>
              <a:t>over 40 år.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4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63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582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2801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020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5240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6459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7678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8897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0116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1336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2555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3774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4993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6212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432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8651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9870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089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2308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3528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4747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5966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7185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8404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9624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0843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2062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3281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4500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5720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46939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8158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49377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05968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18160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30352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42544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547360" y="5302758"/>
            <a:ext cx="83820" cy="548640"/>
          </a:xfrm>
          <a:prstGeom prst="roundRect">
            <a:avLst>
              <a:gd name="adj" fmla="val 27272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2480" y="5955792"/>
            <a:ext cx="2407158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Ett år per strek. Et helt yrkesliv.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67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3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070354"/>
            <a:ext cx="4850892" cy="12054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53 000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460242"/>
            <a:ext cx="542925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unge har det SSB kaller </a:t>
            </a:r>
            <a:r>
              <a:rPr sz="1860" b="1" spc="-9">
                <a:solidFill>
                  <a:srgbClr val="26301C"/>
                </a:solidFill>
                <a:latin typeface="Lexend"/>
                <a:cs typeface="Lexend"/>
              </a:rPr>
              <a:t>«ukjent status»</a:t>
            </a: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. De 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795522"/>
            <a:ext cx="5378196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ikke i arbeid, ikke i utdanning, ikke i tiltak – 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4130802"/>
            <a:ext cx="2817876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ofte ikke kjent for NAV.</a:t>
            </a:r>
          </a:p>
        </p:txBody>
      </p:sp>
      <p:sp>
        <p:nvSpPr>
          <p:cNvPr id="8" name="Oval 7"/>
          <p:cNvSpPr/>
          <p:nvPr/>
        </p:nvSpPr>
        <p:spPr>
          <a:xfrm>
            <a:off x="792480" y="464896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9" name="Picture 8" descr="i-questionmark-circle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751832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1120" y="4696968"/>
            <a:ext cx="396544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Over 22 000 av de unge utenfor er uføre.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4160" y="2304288"/>
            <a:ext cx="458266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104 000 unge mellom 15 og 29 år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2675382"/>
            <a:ext cx="4541520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står utenfor arbeid og utdanning – én prikk per tusen personer.</a:t>
            </a:r>
          </a:p>
        </p:txBody>
      </p:sp>
      <p:sp>
        <p:nvSpPr>
          <p:cNvPr id="13" name="Oval 12"/>
          <p:cNvSpPr/>
          <p:nvPr/>
        </p:nvSpPr>
        <p:spPr>
          <a:xfrm>
            <a:off x="661416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0184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34568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58952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83336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07720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32104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6488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80872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05256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29640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54024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78408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02792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27176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51560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75944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003280" y="305866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61416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85800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10184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34568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58952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83336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07720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32104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56488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80872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05256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29640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54024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978408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002792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027176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051560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075944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003280" y="330250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61416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85800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710184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734568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758952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783336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807720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32104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856488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80872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05256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929640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954024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78408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10027920" y="3546348"/>
            <a:ext cx="167640" cy="167640"/>
          </a:xfrm>
          <a:prstGeom prst="ellipse">
            <a:avLst/>
          </a:prstGeom>
          <a:noFill/>
          <a:ln w="15240">
            <a:solidFill>
              <a:srgbClr val="AA523C">
                <a:alpha val="85000"/>
              </a:srgbClr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10271760" y="354634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10515600" y="354634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10759440" y="354634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1003280" y="354634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661416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685800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710184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34568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758952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783336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807720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832104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856488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880872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905256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929640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954024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978408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1002792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1027176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1051560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1075944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003280" y="379018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661416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685800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10184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34568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58952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783336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807720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832104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56488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880872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905256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929640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954024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978408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1002792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1027176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051560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075944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1003280" y="403402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61416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685800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10184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34568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58952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783336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807720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832104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8564880" y="4277868"/>
            <a:ext cx="167640" cy="1676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6614160" y="4658868"/>
            <a:ext cx="121920" cy="12192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6819900" y="4632960"/>
            <a:ext cx="158419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kjent for systemet</a:t>
            </a:r>
          </a:p>
        </p:txBody>
      </p:sp>
      <p:sp>
        <p:nvSpPr>
          <p:cNvPr id="119" name="Oval 118"/>
          <p:cNvSpPr/>
          <p:nvPr/>
        </p:nvSpPr>
        <p:spPr>
          <a:xfrm>
            <a:off x="8312658" y="4658868"/>
            <a:ext cx="121920" cy="121920"/>
          </a:xfrm>
          <a:prstGeom prst="ellipse">
            <a:avLst/>
          </a:prstGeom>
          <a:noFill/>
          <a:ln w="15240">
            <a:solidFill>
              <a:srgbClr val="AA52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8518398" y="4632960"/>
            <a:ext cx="122301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ukjent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2013966"/>
            <a:ext cx="792480" cy="7924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bell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20" y="2219706"/>
            <a:ext cx="381000" cy="381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80" y="3110484"/>
            <a:ext cx="6858000" cy="8663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820"/>
              </a:lnSpc>
              <a:spcBef>
                <a:spcPts val="0"/>
              </a:spcBef>
              <a:spcAft>
                <a:spcPts val="0"/>
              </a:spcAft>
            </a:pPr>
            <a:r>
              <a:rPr sz="5880" b="0" spc="-141">
                <a:solidFill>
                  <a:srgbClr val="F3F0E2"/>
                </a:solidFill>
                <a:latin typeface="Lexend"/>
                <a:cs typeface="Lexend"/>
              </a:rPr>
              <a:t>Det burde være 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976878"/>
            <a:ext cx="5725668" cy="8663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820"/>
              </a:lnSpc>
              <a:spcBef>
                <a:spcPts val="0"/>
              </a:spcBef>
              <a:spcAft>
                <a:spcPts val="0"/>
              </a:spcAft>
            </a:pPr>
            <a:r>
              <a:rPr sz="5880" b="0" spc="-141">
                <a:solidFill>
                  <a:srgbClr val="E9A793"/>
                </a:solidFill>
                <a:latin typeface="Lexend"/>
                <a:cs typeface="Lexend"/>
              </a:rPr>
              <a:t>nasjonal alarm.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80822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4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2301240"/>
            <a:ext cx="3186684" cy="11010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670"/>
              </a:lnSpc>
              <a:spcBef>
                <a:spcPts val="0"/>
              </a:spcBef>
              <a:spcAft>
                <a:spcPts val="0"/>
              </a:spcAft>
            </a:pPr>
            <a:r>
              <a:rPr sz="10080" b="1" spc="-504">
                <a:solidFill>
                  <a:srgbClr val="26301C"/>
                </a:solidFill>
                <a:latin typeface="Lexend"/>
                <a:cs typeface="Lexend"/>
              </a:rPr>
              <a:t>24</a:t>
            </a:r>
            <a:r>
              <a:rPr sz="10080" b="0" spc="-50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: </a:t>
            </a:r>
            <a:r>
              <a:rPr sz="10080" b="1" spc="-504">
                <a:solidFill>
                  <a:srgbClr val="26301C"/>
                </a:solidFill>
                <a:latin typeface="Lexend"/>
                <a:cs typeface="Lexen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586734"/>
            <a:ext cx="522884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Så mange kroner går til utenforskap for hver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922014"/>
            <a:ext cx="424434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krone vi bruker på å få folk i arbeid.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4440936"/>
            <a:ext cx="3345942" cy="373380"/>
          </a:xfrm>
          <a:prstGeom prst="roundRect">
            <a:avLst>
              <a:gd name="adj" fmla="val 50000"/>
            </a:avLst>
          </a:prstGeom>
          <a:solidFill>
            <a:srgbClr val="AA523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8" name="Picture 7" descr="i-trend-up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528566"/>
            <a:ext cx="198120" cy="198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22470"/>
            <a:ext cx="31173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AA523C"/>
                </a:solidFill>
                <a:latin typeface="Lexend"/>
                <a:cs typeface="Lexend"/>
              </a:rPr>
              <a:t>fra 17 : 1 i år 2000 · + rundt 41 %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1416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9305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171944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450836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729728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0862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8751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65642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844534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23426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402318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81210" y="2742438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61416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9305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171944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450836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729728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0862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8751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565642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844534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123426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402318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681210" y="3021330"/>
            <a:ext cx="210312" cy="210312"/>
          </a:xfrm>
          <a:prstGeom prst="roundRect">
            <a:avLst>
              <a:gd name="adj" fmla="val 18115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0149840" y="2788920"/>
            <a:ext cx="396240" cy="396240"/>
          </a:xfrm>
          <a:prstGeom prst="roundRect">
            <a:avLst>
              <a:gd name="adj" fmla="val 17307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614160" y="3445002"/>
            <a:ext cx="121920" cy="121920"/>
          </a:xfrm>
          <a:prstGeom prst="roundRect">
            <a:avLst>
              <a:gd name="adj" fmla="val 25000"/>
            </a:avLst>
          </a:prstGeom>
          <a:solidFill>
            <a:srgbClr val="AA523C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19900" y="3419094"/>
            <a:ext cx="204216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24 kroner til utenforskap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0620" y="3445002"/>
            <a:ext cx="121920" cy="121920"/>
          </a:xfrm>
          <a:prstGeom prst="roundRect">
            <a:avLst>
              <a:gd name="adj" fmla="val 25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976360" y="3419094"/>
            <a:ext cx="15019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1 krone til arbeid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4160" y="3777996"/>
            <a:ext cx="466344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2000 var forholdet 17 : 1. En økning på rundt 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4160" y="4075176"/>
            <a:ext cx="181965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prosent på 25 år.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30159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Punkt 4 av 10 · fortsatt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4828794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F3F0E2"/>
                </a:solidFill>
                <a:latin typeface="Lexend"/>
                <a:cs typeface="Lexend"/>
              </a:rPr>
              <a:t>Regnskapet for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660142"/>
            <a:ext cx="1230630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uføretrygd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263575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520440" y="263575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21290" y="2632710"/>
            <a:ext cx="1398270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140,6 mrd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3090672"/>
            <a:ext cx="1309116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sykepenger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306628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20440" y="3066288"/>
            <a:ext cx="2947416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76738" y="3063240"/>
            <a:ext cx="1242822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66,7 mrd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3521202"/>
            <a:ext cx="2443734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arbeidsavklaringspenger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49681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520440" y="3496818"/>
            <a:ext cx="2474976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66070" y="3493770"/>
            <a:ext cx="1253490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55,9 mrd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" y="3951732"/>
            <a:ext cx="1260348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dagpenger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92734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520440" y="3927348"/>
            <a:ext cx="74599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79786" y="3924300"/>
            <a:ext cx="1239774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F3F0E2"/>
                </a:solidFill>
                <a:latin typeface="Lexend"/>
                <a:cs typeface="Lexend"/>
              </a:rPr>
              <a:t>16,9 mrd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" y="4347972"/>
            <a:ext cx="10607040" cy="7620"/>
          </a:xfrm>
          <a:prstGeom prst="rect">
            <a:avLst/>
          </a:prstGeom>
          <a:solidFill>
            <a:srgbClr val="F3F0E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480" y="4542282"/>
            <a:ext cx="2430018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97CA31"/>
                </a:solidFill>
                <a:latin typeface="Lexend"/>
                <a:cs typeface="Lexend"/>
              </a:rPr>
              <a:t>til arbeidsmarkedstiltak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4517898"/>
            <a:ext cx="6217920" cy="259080"/>
          </a:xfrm>
          <a:prstGeom prst="roundRect">
            <a:avLst>
              <a:gd name="adj" fmla="val 23529"/>
            </a:avLst>
          </a:prstGeom>
          <a:solidFill>
            <a:srgbClr val="F3F0E2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520440" y="4517898"/>
            <a:ext cx="512826" cy="259080"/>
          </a:xfrm>
          <a:prstGeom prst="roundRect">
            <a:avLst>
              <a:gd name="adj" fmla="val 23529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85882" y="4514850"/>
            <a:ext cx="1233678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spc="-26">
                <a:solidFill>
                  <a:srgbClr val="97CA31"/>
                </a:solidFill>
                <a:latin typeface="Lexend"/>
                <a:cs typeface="Lexend"/>
              </a:rPr>
              <a:t>11,6 mrd</a:t>
            </a:r>
          </a:p>
        </p:txBody>
      </p:sp>
      <p:sp>
        <p:nvSpPr>
          <p:cNvPr id="26" name="Oval 25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wallet__815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840" y="5791200"/>
            <a:ext cx="471297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Til sammen over </a:t>
            </a:r>
            <a:r>
              <a:rPr sz="1860" b="1" spc="-9">
                <a:solidFill>
                  <a:srgbClr val="F3F0E2"/>
                </a:solidFill>
                <a:latin typeface="Lexend"/>
                <a:cs typeface="Lexend"/>
              </a:rPr>
              <a:t>280 milliarder kroner</a:t>
            </a:r>
            <a:r>
              <a:rPr sz="1860" b="0" spc="-9">
                <a:solidFill>
                  <a:srgbClr val="F3F0E2"/>
                </a:solidFill>
                <a:latin typeface="Lexend"/>
                <a:cs typeface="Lexend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30159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4 av 10 · fortsatt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5064252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Tar vi med hele bildet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735580"/>
            <a:ext cx="24544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til å få folk i arbeid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9448" y="2622804"/>
            <a:ext cx="91135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5C7A15"/>
                </a:solidFill>
                <a:latin typeface="Lexend"/>
                <a:cs typeface="Lexend"/>
              </a:rPr>
              <a:t>15 %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3009138"/>
            <a:ext cx="528828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92480" y="3009138"/>
            <a:ext cx="793242" cy="259080"/>
          </a:xfrm>
          <a:prstGeom prst="roundRect">
            <a:avLst>
              <a:gd name="adj" fmla="val 23529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480" y="3524250"/>
            <a:ext cx="235762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til inntektssikring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76494" y="3411474"/>
            <a:ext cx="92430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AA523C"/>
                </a:solidFill>
                <a:latin typeface="Lexend"/>
                <a:cs typeface="Lexend"/>
              </a:rPr>
              <a:t>85 %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480" y="3797808"/>
            <a:ext cx="528828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92480" y="3797808"/>
            <a:ext cx="449503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2480" y="4237482"/>
            <a:ext cx="496290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Regner vi med alt vi bruker på å få folk i arbeid, går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80" y="4534662"/>
            <a:ext cx="540258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fortsatt fem av seks kroner til å dekke konsekvensene av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80" y="4831842"/>
            <a:ext cx="191795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at de står utenfor.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14160" y="1911096"/>
            <a:ext cx="478536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850380" y="2195322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8" name="Picture 17" descr="i-briefcase__815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250" y="2298192"/>
            <a:ext cx="190500" cy="190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99020" y="2129028"/>
            <a:ext cx="3619500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ca. 30 mrd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til tiltak for folk vi antar har 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9020" y="2390394"/>
            <a:ext cx="163601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arbeidspotensial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14160" y="2982468"/>
            <a:ext cx="478536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0380" y="320344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3" name="Picture 22" descr="i-cog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250" y="3306318"/>
            <a:ext cx="190500" cy="190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99020" y="3267456"/>
            <a:ext cx="2650236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16,6 mrd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i NAVs egen innsats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14160" y="3927348"/>
            <a:ext cx="478536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850380" y="414832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globe__8151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0" y="4251198"/>
            <a:ext cx="190500" cy="190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99020" y="4212336"/>
            <a:ext cx="267614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6–10 mrd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til integreringstiltak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14160" y="4872228"/>
            <a:ext cx="478536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850380" y="5156454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1" name="Picture 30" descr="i-tasklist__8151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250" y="5259324"/>
            <a:ext cx="190500" cy="1905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99020" y="5090160"/>
            <a:ext cx="3777996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3–6 mrd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fra fylkene til karriereveiledning og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9020" y="5351526"/>
            <a:ext cx="1124712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opplæring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908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5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906524"/>
            <a:ext cx="2731008" cy="12054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9490"/>
              </a:lnSpc>
              <a:spcBef>
                <a:spcPts val="0"/>
              </a:spcBef>
              <a:spcAft>
                <a:spcPts val="0"/>
              </a:spcAft>
            </a:pPr>
            <a:r>
              <a:rPr sz="11040" b="1" spc="-552">
                <a:solidFill>
                  <a:srgbClr val="26301C"/>
                </a:solidFill>
                <a:latin typeface="Lexend"/>
                <a:cs typeface="Lexend"/>
              </a:rPr>
              <a:t>850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3448" y="2561082"/>
            <a:ext cx="1610106" cy="5067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4640" b="0" spc="-93">
                <a:solidFill>
                  <a:srgbClr val="26301C"/>
                </a:solidFill>
                <a:latin typeface="Lexend"/>
                <a:cs typeface="Lexend"/>
              </a:rPr>
              <a:t>mrd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" y="3296412"/>
            <a:ext cx="468630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kjøpte det offentlige Norge inn varer 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3631692"/>
            <a:ext cx="2427732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tjenester for i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480" y="4149852"/>
            <a:ext cx="2890266" cy="388620"/>
          </a:xfrm>
          <a:prstGeom prst="roundRect">
            <a:avLst>
              <a:gd name="adj" fmla="val 50000"/>
            </a:avLst>
          </a:prstGeom>
          <a:solidFill>
            <a:srgbClr val="97CA31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9" name="Picture 8" descr="i-light-bulb__5C7A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45102"/>
            <a:ext cx="198120" cy="198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4246626"/>
            <a:ext cx="2661666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spc="-14">
                <a:solidFill>
                  <a:srgbClr val="5C7A15"/>
                </a:solidFill>
                <a:latin typeface="Lexend"/>
                <a:cs typeface="Lexend"/>
              </a:rPr>
              <a:t>1 % ≈ hele tiltaksbudsjettet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14160" y="1558290"/>
            <a:ext cx="4785360" cy="1722120"/>
          </a:xfrm>
          <a:prstGeom prst="roundRect">
            <a:avLst>
              <a:gd name="adj" fmla="val 11504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896100" y="2221230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3" name="Picture 12" descr="i-sack-kroner__F3F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8970" y="2324100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29500" y="1822704"/>
            <a:ext cx="388620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Ble bare én prosent av innkjøpene brukt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0" y="2119884"/>
            <a:ext cx="392963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strategisk til arbeidsinkludering, ville det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0" y="2417064"/>
            <a:ext cx="330174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tilsvare nesten hele budsjettet for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2714244"/>
            <a:ext cx="226695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arbeidsmarkedstiltak.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14160" y="3463290"/>
            <a:ext cx="4785360" cy="1424940"/>
          </a:xfrm>
          <a:prstGeom prst="roundRect">
            <a:avLst>
              <a:gd name="adj" fmla="val 13903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96100" y="3977640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0" name="Picture 19" descr="i-circle-slash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8970" y="4080510"/>
            <a:ext cx="190500" cy="1905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29500" y="3727704"/>
            <a:ext cx="393725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301C"/>
                </a:solidFill>
                <a:latin typeface="Lexend"/>
                <a:cs typeface="Lexend"/>
              </a:rPr>
              <a:t>30 prosent</a:t>
            </a: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 av vektingen skal handle 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4024884"/>
            <a:ext cx="391820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klima og miljø. Det sosiale i bærekraften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9500" y="4322064"/>
            <a:ext cx="257479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har vi knapt begynt med.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80" y="5486400"/>
            <a:ext cx="872261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Vi må bruke den offentlige innkjøpsmakten – og pengene vi uansett bruker 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80" y="5821680"/>
            <a:ext cx="136550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smartere.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67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6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7906512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mangler arbeidskraft. Ikke folk.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1863852"/>
            <a:ext cx="5189220" cy="1718310"/>
          </a:xfrm>
          <a:prstGeom prst="roundRect">
            <a:avLst>
              <a:gd name="adj" fmla="val 1152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8700" y="208483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clock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2187702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8700" y="2677004"/>
            <a:ext cx="2596896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 dirty="0">
                <a:solidFill>
                  <a:srgbClr val="26301C"/>
                </a:solidFill>
                <a:latin typeface="Lexend"/>
                <a:cs typeface="Lexend"/>
              </a:rPr>
              <a:t>150 000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3159252"/>
            <a:ext cx="3560826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flere i arbeid innen 2030 – regjeringens eget mål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300" y="1863852"/>
            <a:ext cx="5189220" cy="1718310"/>
          </a:xfrm>
          <a:prstGeom prst="roundRect">
            <a:avLst>
              <a:gd name="adj" fmla="val 1152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46520" y="2084832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2" name="Picture 11" descr="i-hospital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9390" y="2187702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46520" y="2677004"/>
            <a:ext cx="3352038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halvparten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159252"/>
            <a:ext cx="4805934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av oppgavene i Nordre Follo kan gjøres uten helsefaglig utdanning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" y="3764280"/>
            <a:ext cx="518922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8700" y="4048506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7" name="Picture 16" descr="i-first-aid__2630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1570" y="4151376"/>
            <a:ext cx="190500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92580" y="3982212"/>
            <a:ext cx="413156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Helse og omsorg mangler </a:t>
            </a:r>
            <a:r>
              <a:rPr sz="1320" b="1">
                <a:solidFill>
                  <a:srgbClr val="26301C"/>
                </a:solidFill>
                <a:latin typeface="Lexend"/>
                <a:cs typeface="Lexend"/>
              </a:rPr>
              <a:t>titusenvis</a:t>
            </a: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 av hender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2580" y="4243578"/>
            <a:ext cx="155600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årene framover.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3764280"/>
            <a:ext cx="5189220" cy="964692"/>
          </a:xfrm>
          <a:prstGeom prst="roundRect">
            <a:avLst>
              <a:gd name="adj" fmla="val 2053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46520" y="4048506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2" name="Picture 21" descr="i-cog__2630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9390" y="4151376"/>
            <a:ext cx="190500" cy="190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10400" y="3982212"/>
            <a:ext cx="4118610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NAV varsler også mangel på fagarbeidere innen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4243578"/>
            <a:ext cx="3454146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/>
                </a:solidFill>
                <a:latin typeface="Lexend"/>
                <a:cs typeface="Lexend"/>
              </a:rPr>
              <a:t>bygg, anlegg, industri og håndverksfag.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480" y="5001768"/>
            <a:ext cx="10607040" cy="1155192"/>
          </a:xfrm>
          <a:prstGeom prst="roundRect">
            <a:avLst>
              <a:gd name="adj" fmla="val 17150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74420" y="5327904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person-group__2831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3960" y="5457444"/>
            <a:ext cx="243840" cy="243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775460" y="5267706"/>
            <a:ext cx="940841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Likevel står rundt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700 000 mennesker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utenfor arbeid og utdanning. Inntil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5460" y="5578602"/>
            <a:ext cx="368274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150 000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av dem kan jobbe.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1572006"/>
            <a:ext cx="792480" cy="792480"/>
          </a:xfrm>
          <a:prstGeom prst="ellipse">
            <a:avLst/>
          </a:prstGeom>
          <a:noFill/>
          <a:ln w="15240">
            <a:solidFill>
              <a:srgbClr val="F3F0E2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globe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20" y="1777746"/>
            <a:ext cx="381000" cy="381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722120" y="1572006"/>
            <a:ext cx="792480" cy="79248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5" name="Picture 4" descr="i-person-group__2831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7860" y="1777746"/>
            <a:ext cx="3810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480" y="2668524"/>
            <a:ext cx="4200906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Norges største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3322320"/>
            <a:ext cx="7226046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arbeidskraftressurs finnes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3976116"/>
            <a:ext cx="4210050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F3F0E2"/>
                </a:solidFill>
                <a:latin typeface="Lexend"/>
                <a:cs typeface="Lexend"/>
              </a:rPr>
              <a:t>ikke i utlandet.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630674"/>
            <a:ext cx="6491478" cy="6537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440" b="0" spc="-107">
                <a:solidFill>
                  <a:srgbClr val="97CA31"/>
                </a:solidFill>
                <a:latin typeface="Lexend"/>
                <a:cs typeface="Lexend"/>
              </a:rPr>
              <a:t>Den finnes allerede 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374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7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802767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Stortinget vedtok 1 000 nye jobber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2011680"/>
            <a:ext cx="361645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Behovet – og Stortingets vedtak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7718" y="1898904"/>
            <a:ext cx="102184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1 000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480" y="2285238"/>
            <a:ext cx="1060704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92480" y="2285238"/>
            <a:ext cx="10607040" cy="259080"/>
          </a:xfrm>
          <a:prstGeom prst="roundRect">
            <a:avLst>
              <a:gd name="adj" fmla="val 23529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480" y="2800350"/>
            <a:ext cx="254736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Regjeringens forslag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4794" y="2687574"/>
            <a:ext cx="79476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26301C"/>
                </a:solidFill>
                <a:latin typeface="Lexend"/>
                <a:cs typeface="Lexend"/>
              </a:rPr>
              <a:t>500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480" y="3073908"/>
            <a:ext cx="1060704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92480" y="3073908"/>
            <a:ext cx="5303520" cy="259080"/>
          </a:xfrm>
          <a:prstGeom prst="roundRect">
            <a:avLst>
              <a:gd name="adj" fmla="val 23529"/>
            </a:avLst>
          </a:prstGeom>
          <a:solidFill>
            <a:srgbClr val="7F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2480" y="3589020"/>
            <a:ext cx="138607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114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Resultatet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34700" y="3476244"/>
            <a:ext cx="78486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41">
                <a:solidFill>
                  <a:srgbClr val="AA523C"/>
                </a:solidFill>
                <a:latin typeface="Lexend"/>
                <a:cs typeface="Lexend"/>
              </a:rPr>
              <a:t>700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" y="3862578"/>
            <a:ext cx="10607040" cy="259080"/>
          </a:xfrm>
          <a:prstGeom prst="roundRect">
            <a:avLst>
              <a:gd name="adj" fmla="val 23529"/>
            </a:avLst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2480" y="3862578"/>
            <a:ext cx="7424928" cy="259080"/>
          </a:xfrm>
          <a:prstGeom prst="roundRect">
            <a:avLst>
              <a:gd name="adj" fmla="val 23529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2480" y="4302252"/>
            <a:ext cx="817245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Mange står i kø for å jobbe, men får ikke. Tilrettelagt arbeid går alltid i pluss. Mangel på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" y="4599432"/>
            <a:ext cx="3480054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tilrettelagt arbeid går alltid i minus.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" y="5001768"/>
            <a:ext cx="10607040" cy="1155192"/>
          </a:xfrm>
          <a:prstGeom prst="roundRect">
            <a:avLst>
              <a:gd name="adj" fmla="val 17150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74420" y="532790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1" name="Picture 20" descr="i-exclamationmark-triangle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60" y="5457444"/>
            <a:ext cx="243840" cy="243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75460" y="5267706"/>
            <a:ext cx="886358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Arbeidsfolka i medlemsbedriftene har lært at de ikke kan stole på det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5460" y="5578602"/>
            <a:ext cx="748436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politikerne lover – selv når de stemmer for det i Stortinget.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9844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8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788517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Retten til tilrettelagt fagopplæring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1527048"/>
            <a:ext cx="623544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avgjøres av postnummeret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80" y="2577084"/>
            <a:ext cx="5189220" cy="2401824"/>
          </a:xfrm>
          <a:prstGeom prst="roundRect">
            <a:avLst>
              <a:gd name="adj" fmla="val 8248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74420" y="2843784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8" name="Picture 7" descr="i-checkmark-circle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60" y="2973324"/>
            <a:ext cx="2438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4420" y="3467100"/>
            <a:ext cx="472135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Østfold, Vestfold og Innlandet.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" y="3777996"/>
            <a:ext cx="390067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får elever som trenger det bli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" y="4088892"/>
            <a:ext cx="466877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lærekandidat – med fagopplæring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" y="4399788"/>
            <a:ext cx="121615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bedrift.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577084"/>
            <a:ext cx="5189220" cy="2401824"/>
          </a:xfrm>
          <a:prstGeom prst="roundRect">
            <a:avLst>
              <a:gd name="adj" fmla="val 8248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92240" y="284378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5" name="Picture 14" descr="i-x-mark-octagon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780" y="2973324"/>
            <a:ext cx="243840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92240" y="3467100"/>
            <a:ext cx="407898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Akershus, Rogaland og nord 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77996"/>
            <a:ext cx="380542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landet.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Her har elevene liten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88892"/>
            <a:ext cx="429310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mulighet. Alternativet er å bli på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99788"/>
            <a:ext cx="115443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skolen.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80" y="5486400"/>
            <a:ext cx="877214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Elevens rett til individuelt tilrettelagt fagopplæring er i praksis blitt et valgfag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80" y="5821680"/>
            <a:ext cx="1537716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for fylkene.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79679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9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475488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Ordene lukker dører</a:t>
            </a:r>
          </a:p>
        </p:txBody>
      </p:sp>
      <p:grpSp>
        <p:nvGrpSpPr>
          <p:cNvPr id="25" name="Gruppe 24">
            <a:extLst>
              <a:ext uri="{FF2B5EF4-FFF2-40B4-BE49-F238E27FC236}">
                <a16:creationId xmlns:a16="http://schemas.microsoft.com/office/drawing/2014/main" id="{3BC38EED-D9C8-2DBB-FC9A-DD6E6EEC9E8D}"/>
              </a:ext>
            </a:extLst>
          </p:cNvPr>
          <p:cNvGrpSpPr/>
          <p:nvPr/>
        </p:nvGrpSpPr>
        <p:grpSpPr>
          <a:xfrm>
            <a:off x="792480" y="2225738"/>
            <a:ext cx="792480" cy="792480"/>
            <a:chOff x="792480" y="2277618"/>
            <a:chExt cx="792480" cy="792480"/>
          </a:xfrm>
        </p:grpSpPr>
        <p:sp>
          <p:nvSpPr>
            <p:cNvPr id="5" name="Oval 4"/>
            <p:cNvSpPr/>
            <p:nvPr/>
          </p:nvSpPr>
          <p:spPr>
            <a:xfrm>
              <a:off x="792480" y="2277618"/>
              <a:ext cx="792480" cy="792480"/>
            </a:xfrm>
            <a:prstGeom prst="ellipse">
              <a:avLst/>
            </a:prstGeom>
            <a:solidFill>
              <a:srgbClr val="AA52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/>
            </a:p>
          </p:txBody>
        </p:sp>
        <p:pic>
          <p:nvPicPr>
            <p:cNvPr id="6" name="Picture 5" descr="i-door__FBF9F1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8220" y="2483358"/>
              <a:ext cx="381000" cy="381000"/>
            </a:xfrm>
            <a:prstGeom prst="rect">
              <a:avLst/>
            </a:prstGeom>
          </p:spPr>
        </p:pic>
      </p:grpSp>
      <p:sp>
        <p:nvSpPr>
          <p:cNvPr id="7" name="TextBox 6"/>
          <p:cNvSpPr txBox="1"/>
          <p:nvPr/>
        </p:nvSpPr>
        <p:spPr>
          <a:xfrm>
            <a:off x="792480" y="3251454"/>
            <a:ext cx="3075432" cy="6812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360"/>
              </a:lnSpc>
              <a:spcBef>
                <a:spcPts val="0"/>
              </a:spcBef>
              <a:spcAft>
                <a:spcPts val="0"/>
              </a:spcAft>
            </a:pPr>
            <a:r>
              <a:rPr sz="6240" b="1" spc="-312">
                <a:solidFill>
                  <a:srgbClr val="AA523C"/>
                </a:solidFill>
                <a:latin typeface="Lexend"/>
                <a:cs typeface="Lexend"/>
              </a:rPr>
              <a:t>«Ferdig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3933444"/>
            <a:ext cx="3382518" cy="6812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5360"/>
              </a:lnSpc>
              <a:spcBef>
                <a:spcPts val="0"/>
              </a:spcBef>
              <a:spcAft>
                <a:spcPts val="0"/>
              </a:spcAft>
            </a:pPr>
            <a:r>
              <a:rPr sz="6240" b="1" spc="-312">
                <a:solidFill>
                  <a:srgbClr val="AA523C"/>
                </a:solidFill>
                <a:latin typeface="Lexend"/>
                <a:cs typeface="Lexend"/>
              </a:rPr>
              <a:t>avklart»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799076"/>
            <a:ext cx="5112258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Slik er et menneske definert i det øyeblikket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5134356"/>
            <a:ext cx="282702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uføretrygden innvilges.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2506218"/>
            <a:ext cx="5036820" cy="1424940"/>
          </a:xfrm>
          <a:prstGeom prst="roundRect">
            <a:avLst>
              <a:gd name="adj" fmla="val 13903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44640" y="3020568"/>
            <a:ext cx="396240" cy="39624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3" name="Picture 12" descr="i-tasklist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510" y="3123438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78040" y="2770632"/>
            <a:ext cx="423595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Hvilken marsjordre gir egentlig det til NAV 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067812"/>
            <a:ext cx="3505962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som etter arbeidsgiverne er Norges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364992"/>
            <a:ext cx="373608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viktigste verktøy for å få folk i arbeid?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2700" y="4114038"/>
            <a:ext cx="5036820" cy="1127760"/>
          </a:xfrm>
          <a:prstGeom prst="roundRect">
            <a:avLst>
              <a:gd name="adj" fmla="val 17567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44640" y="4479798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9" name="Picture 18" descr="i-circle-slash__26301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510" y="4582668"/>
            <a:ext cx="190500" cy="19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78040" y="4378452"/>
            <a:ext cx="368427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Ordene sier at potensialet er kartlagt,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675632"/>
            <a:ext cx="387400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mulighetene vurdert og saken avsluttet.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300456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9 av 10 · fortsatt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846201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Men virkeligheten forteller noe annet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" y="3322320"/>
            <a:ext cx="1706880" cy="8648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809"/>
              </a:lnSpc>
              <a:spcBef>
                <a:spcPts val="0"/>
              </a:spcBef>
              <a:spcAft>
                <a:spcPts val="0"/>
              </a:spcAft>
            </a:pPr>
            <a:r>
              <a:rPr sz="7920" b="1" spc="-396">
                <a:solidFill>
                  <a:srgbClr val="26301C"/>
                </a:solidFill>
                <a:latin typeface="Lexend"/>
                <a:cs typeface="Lexend"/>
              </a:rPr>
              <a:t>4,6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480" y="4233672"/>
            <a:ext cx="241935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milliarder kroner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80" y="4728210"/>
            <a:ext cx="471678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omsatte arbeidsinkluderingsbedriftene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5063490"/>
            <a:ext cx="2267712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iArbeid for i 2024.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2060448"/>
            <a:ext cx="5036820" cy="2019300"/>
          </a:xfrm>
          <a:prstGeom prst="roundRect">
            <a:avLst>
              <a:gd name="adj" fmla="val 9811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44640" y="2871978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3" name="Picture 12" descr="i-buildings-3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510" y="2974848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78040" y="2324862"/>
            <a:ext cx="424357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Hver eneste dag går tusenvis av mennesker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622042"/>
            <a:ext cx="3657600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med uføretrygd på jobb i tilrettelagte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919222"/>
            <a:ext cx="4114038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arbeidsplasser over hele landet. De skaper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3216402"/>
            <a:ext cx="4092702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verdier for bedriften, for samfunnet og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513582"/>
            <a:ext cx="106527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seg selv.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2700" y="4262628"/>
            <a:ext cx="5036820" cy="1424940"/>
          </a:xfrm>
          <a:prstGeom prst="roundRect">
            <a:avLst>
              <a:gd name="adj" fmla="val 13903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644640" y="4776978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1" name="Picture 20" descr="i-door-open__2831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510" y="4879848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78040" y="4527042"/>
            <a:ext cx="4161282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301C"/>
                </a:solidFill>
                <a:latin typeface="Lexend"/>
                <a:cs typeface="Lexend"/>
              </a:rPr>
              <a:t>«Ferdig avklart»</a:t>
            </a: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 kommuniserer at uførhet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824222"/>
            <a:ext cx="417804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er slutten. For mange er det starten på noe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121402"/>
            <a:ext cx="718566" cy="2971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6301C"/>
                </a:solidFill>
                <a:latin typeface="Lexend"/>
                <a:cs typeface="Lexend"/>
              </a:rPr>
              <a:t>nytt.</a:t>
            </a:r>
          </a:p>
        </p:txBody>
      </p:sp>
      <p:grpSp>
        <p:nvGrpSpPr>
          <p:cNvPr id="26" name="Gruppe 25">
            <a:extLst>
              <a:ext uri="{FF2B5EF4-FFF2-40B4-BE49-F238E27FC236}">
                <a16:creationId xmlns:a16="http://schemas.microsoft.com/office/drawing/2014/main" id="{F646F2C3-DE7A-F651-23AF-DDE099BB7296}"/>
              </a:ext>
            </a:extLst>
          </p:cNvPr>
          <p:cNvGrpSpPr/>
          <p:nvPr/>
        </p:nvGrpSpPr>
        <p:grpSpPr>
          <a:xfrm>
            <a:off x="792480" y="2225738"/>
            <a:ext cx="792480" cy="792480"/>
            <a:chOff x="792480" y="2303089"/>
            <a:chExt cx="792480" cy="792480"/>
          </a:xfrm>
        </p:grpSpPr>
        <p:sp>
          <p:nvSpPr>
            <p:cNvPr id="27" name="Oval 4">
              <a:extLst>
                <a:ext uri="{FF2B5EF4-FFF2-40B4-BE49-F238E27FC236}">
                  <a16:creationId xmlns:a16="http://schemas.microsoft.com/office/drawing/2014/main" id="{0F9DA83E-6E94-AB5D-44EF-6C41C43F4982}"/>
                </a:ext>
              </a:extLst>
            </p:cNvPr>
            <p:cNvSpPr/>
            <p:nvPr/>
          </p:nvSpPr>
          <p:spPr>
            <a:xfrm>
              <a:off x="792480" y="2303089"/>
              <a:ext cx="792480" cy="792480"/>
            </a:xfrm>
            <a:prstGeom prst="ellipse">
              <a:avLst/>
            </a:prstGeom>
            <a:solidFill>
              <a:srgbClr val="97CA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/>
            </a:p>
          </p:txBody>
        </p:sp>
        <p:pic>
          <p:nvPicPr>
            <p:cNvPr id="28" name="Picture 5" descr="i-sack-kroner__28311D.png">
              <a:extLst>
                <a:ext uri="{FF2B5EF4-FFF2-40B4-BE49-F238E27FC236}">
                  <a16:creationId xmlns:a16="http://schemas.microsoft.com/office/drawing/2014/main" id="{74407D8B-B4F9-118F-7EA3-89C978B33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98220" y="2508829"/>
              <a:ext cx="381000" cy="3810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300456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9 av 10 · fortsatt</a:t>
            </a:r>
          </a:p>
        </p:txBody>
      </p:sp>
      <p:sp>
        <p:nvSpPr>
          <p:cNvPr id="4" name="Oval 3"/>
          <p:cNvSpPr/>
          <p:nvPr/>
        </p:nvSpPr>
        <p:spPr>
          <a:xfrm>
            <a:off x="792480" y="1051560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5" name="Picture 4" descr="i-door-open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20" y="1181100"/>
            <a:ext cx="243840" cy="243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93520" y="1053084"/>
            <a:ext cx="667740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Bruk språket til å åpne dører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2051" y="2659379"/>
            <a:ext cx="1993005" cy="45719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28238" y="2468880"/>
            <a:ext cx="2652522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ordinært</a:t>
            </a:r>
            <a:r>
              <a:rPr sz="2400" b="0" dirty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 </a:t>
            </a:r>
            <a:r>
              <a:rPr sz="2400" b="0" dirty="0" err="1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</a:t>
            </a:r>
            <a:endParaRPr sz="2400" b="0" dirty="0">
              <a:solidFill>
                <a:srgbClr val="26301C">
                  <a:alpha val="62000"/>
                </a:srgbClr>
              </a:solidFill>
              <a:latin typeface="Lexend"/>
              <a:cs typeface="Lexend"/>
            </a:endParaRPr>
          </a:p>
        </p:txBody>
      </p:sp>
      <p:pic>
        <p:nvPicPr>
          <p:cNvPr id="9" name="Picture 8" descr="i-arrow-right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576" y="2512746"/>
            <a:ext cx="360000" cy="3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31280" y="2450592"/>
            <a:ext cx="1378458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480" y="308991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357855" y="3543299"/>
            <a:ext cx="2029807" cy="45719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4042" y="3352800"/>
            <a:ext cx="2696718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restarbeidsevne</a:t>
            </a:r>
          </a:p>
        </p:txBody>
      </p:sp>
      <p:pic>
        <p:nvPicPr>
          <p:cNvPr id="14" name="Picture 13" descr="i-arrow-right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576" y="3396666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1280" y="3334512"/>
            <a:ext cx="2307336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arbeidsevne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" y="397383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616429" y="4427219"/>
            <a:ext cx="2647188" cy="45719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42616" y="4236720"/>
            <a:ext cx="3438144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arbeidskraftreserven</a:t>
            </a:r>
          </a:p>
        </p:txBody>
      </p:sp>
      <p:pic>
        <p:nvPicPr>
          <p:cNvPr id="19" name="Picture 18" descr="i-arrow-right__97CA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576" y="4280586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31280" y="4218432"/>
            <a:ext cx="3860292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170"/>
              </a:lnSpc>
              <a:spcBef>
                <a:spcPts val="0"/>
              </a:spcBef>
              <a:spcAft>
                <a:spcPts val="0"/>
              </a:spcAft>
            </a:pPr>
            <a:r>
              <a:rPr sz="2640" b="1" spc="-53">
                <a:solidFill>
                  <a:srgbClr val="3F4E36"/>
                </a:solidFill>
                <a:latin typeface="Lexend"/>
                <a:cs typeface="Lexend"/>
              </a:rPr>
              <a:t>arbeidskraftressursen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80" y="5486400"/>
            <a:ext cx="828675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Lær av Marit Breivik og ressursbenken. Ordene vi bruker lukker dørene til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80" y="5821680"/>
            <a:ext cx="5638038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arbeidslivet. Vi må bruke språket til å åpne dem.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69926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Regelverket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48512"/>
            <a:ext cx="875919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hindrer arbeid. Vi fremmer det ikke.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310384"/>
            <a:ext cx="5189220" cy="2090928"/>
          </a:xfrm>
          <a:prstGeom prst="roundRect">
            <a:avLst>
              <a:gd name="adj" fmla="val 9475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74420" y="257708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briefcase-clock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60" y="2706624"/>
            <a:ext cx="243840" cy="243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4420" y="3201162"/>
            <a:ext cx="473659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Arbeidsfolk i en tilrettelagt jobb kan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3512058"/>
            <a:ext cx="475107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ikke jobbe etter fylte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67 år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– slik alle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" y="3822192"/>
            <a:ext cx="161848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andre kan.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310384"/>
            <a:ext cx="5189220" cy="2090928"/>
          </a:xfrm>
          <a:prstGeom prst="roundRect">
            <a:avLst>
              <a:gd name="adj" fmla="val 9475"/>
            </a:avLst>
          </a:prstGeom>
          <a:solidFill>
            <a:srgbClr val="AA523C">
              <a:alpha val="10000"/>
            </a:srgbClr>
          </a:solidFill>
          <a:ln w="7620">
            <a:solidFill>
              <a:srgbClr val="AA523C">
                <a:alpha val="2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92240" y="2577084"/>
            <a:ext cx="502920" cy="50292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3" name="Picture 12" descr="i-first-aid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780" y="2706624"/>
            <a:ext cx="243840" cy="243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92240" y="3201162"/>
            <a:ext cx="4356354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De har </a:t>
            </a: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ikke rett til sykepenger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512058"/>
            <a:ext cx="489280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nettopp fordi de jobber selv om de 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2"/>
            <a:ext cx="102717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uføre.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4566666"/>
            <a:ext cx="10607040" cy="1036320"/>
          </a:xfrm>
          <a:prstGeom prst="roundRect">
            <a:avLst>
              <a:gd name="adj" fmla="val 19117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74420" y="4833366"/>
            <a:ext cx="502920" cy="50292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9" name="Picture 18" descr="i-checkmark-circle__2831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3960" y="4962906"/>
            <a:ext cx="243840" cy="243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75460" y="4928616"/>
            <a:ext cx="6340602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Norge trenger et mer arbeidsvennlig regelverk.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916430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Punkt 10 av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844143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Vi rekrutterer som om det er år 2000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2310384"/>
            <a:ext cx="5189220" cy="1362456"/>
          </a:xfrm>
          <a:prstGeom prst="roundRect">
            <a:avLst>
              <a:gd name="adj" fmla="val 14541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74420" y="2577084"/>
            <a:ext cx="396240" cy="396240"/>
          </a:xfrm>
          <a:prstGeom prst="ellipse">
            <a:avLst/>
          </a:prstGeom>
          <a:noFill/>
          <a:ln w="1524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magnifying-glass__2630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290" y="2679954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7820" y="2673096"/>
            <a:ext cx="845820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cap="all" spc="173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 dag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" y="3093720"/>
            <a:ext cx="422757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0" spc="-2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vi finner riktig person til jobben.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300" y="2310384"/>
            <a:ext cx="5189220" cy="1362456"/>
          </a:xfrm>
          <a:prstGeom prst="roundRect">
            <a:avLst>
              <a:gd name="adj" fmla="val 14541"/>
            </a:avLst>
          </a:prstGeom>
          <a:solidFill>
            <a:srgbClr val="97CA31">
              <a:alpha val="16000"/>
            </a:srgbClr>
          </a:solidFill>
          <a:ln w="7620">
            <a:solidFill>
              <a:srgbClr val="97CA31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92240" y="2577084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2" name="Picture 11" descr="i-sparkles__2831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110" y="2679954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25640" y="2673096"/>
            <a:ext cx="1277874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cap="all" spc="173">
                <a:solidFill>
                  <a:srgbClr val="26301C"/>
                </a:solidFill>
                <a:latin typeface="Lexend"/>
                <a:cs typeface="Lexend"/>
              </a:rPr>
              <a:t>Framover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93720"/>
            <a:ext cx="469773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vi må designe jobben til personen.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480" y="3855720"/>
            <a:ext cx="10607040" cy="1234440"/>
          </a:xfrm>
          <a:prstGeom prst="roundRect">
            <a:avLst>
              <a:gd name="adj" fmla="val 16049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8700" y="4076700"/>
            <a:ext cx="792480" cy="792480"/>
          </a:xfrm>
          <a:prstGeom prst="ellipse">
            <a:avLst/>
          </a:prstGeom>
          <a:solidFill>
            <a:srgbClr val="E3CE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7" name="Picture 16" descr="i-person-checkmark__8151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4440" y="4282440"/>
            <a:ext cx="381000" cy="381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49780" y="4076700"/>
            <a:ext cx="4289298" cy="4983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560" b="1" spc="-160">
                <a:solidFill>
                  <a:srgbClr val="26301C"/>
                </a:solidFill>
                <a:latin typeface="Lexend"/>
                <a:cs typeface="Lexend"/>
              </a:rPr>
              <a:t>Inntil 150 000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9780" y="4603242"/>
            <a:ext cx="8638794" cy="2613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060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mennesker står utenfor arbeidslivet og kan og vil jobbe – dersom de får muligheten og hjelpen de trenger.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80" y="5486400"/>
            <a:ext cx="8757666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Fra tradisjonell til inkluderende rekruttering. Innovativ rekruttering, om du vil.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80" y="5821680"/>
            <a:ext cx="3928110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Framover må vi bruke hele laget.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2480" y="2435352"/>
            <a:ext cx="3611880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F3F0E2"/>
                </a:solidFill>
                <a:latin typeface="Lexend"/>
                <a:cs typeface="Lexend"/>
              </a:rPr>
              <a:t>For den som 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" y="2930652"/>
            <a:ext cx="5148834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 dirty="0">
                <a:solidFill>
                  <a:srgbClr val="F3F0E2"/>
                </a:solidFill>
                <a:latin typeface="Lexend"/>
                <a:cs typeface="Lexend"/>
              </a:rPr>
              <a:t>50 </a:t>
            </a:r>
            <a:r>
              <a:rPr sz="3360" b="0" spc="-80" dirty="0" err="1">
                <a:solidFill>
                  <a:srgbClr val="F3F0E2"/>
                </a:solidFill>
                <a:latin typeface="Lexend"/>
                <a:cs typeface="Lexend"/>
              </a:rPr>
              <a:t>prosent</a:t>
            </a:r>
            <a:r>
              <a:rPr sz="3360" b="0" spc="-80" dirty="0">
                <a:solidFill>
                  <a:srgbClr val="F3F0E2"/>
                </a:solidFill>
                <a:latin typeface="Lexend"/>
                <a:cs typeface="Lexend"/>
              </a:rPr>
              <a:t> </a:t>
            </a:r>
            <a:r>
              <a:rPr sz="3360" b="0" spc="-80" dirty="0" err="1">
                <a:solidFill>
                  <a:srgbClr val="F3F0E2"/>
                </a:solidFill>
                <a:latin typeface="Lexend"/>
                <a:cs typeface="Lexend"/>
              </a:rPr>
              <a:t>arbeidsevne</a:t>
            </a:r>
            <a:r>
              <a:rPr sz="3360" b="0" spc="-80" dirty="0">
                <a:solidFill>
                  <a:srgbClr val="F3F0E2"/>
                </a:solidFill>
                <a:latin typeface="Lexend"/>
                <a:cs typeface="Lexend"/>
              </a:rPr>
              <a:t>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3425190"/>
            <a:ext cx="5231892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F3F0E2"/>
                </a:solidFill>
                <a:latin typeface="Lexend"/>
                <a:cs typeface="Lexend"/>
              </a:rPr>
              <a:t>er en jobb på 50 prosent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3920490"/>
            <a:ext cx="2006346" cy="4953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360" b="0" spc="-80">
                <a:solidFill>
                  <a:srgbClr val="97CA31"/>
                </a:solidFill>
                <a:latin typeface="Lexend"/>
                <a:cs typeface="Lexend"/>
              </a:rPr>
              <a:t>helt 100.</a:t>
            </a:r>
          </a:p>
        </p:txBody>
      </p:sp>
      <p:pic>
        <p:nvPicPr>
          <p:cNvPr id="6" name="Picture 5" descr="gauge_tr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363980"/>
            <a:ext cx="4130040" cy="4130040"/>
          </a:xfrm>
          <a:prstGeom prst="rect">
            <a:avLst/>
          </a:prstGeom>
        </p:spPr>
      </p:pic>
      <p:pic>
        <p:nvPicPr>
          <p:cNvPr id="7" name="Picture 6" descr="gauge_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1363980"/>
            <a:ext cx="4130040" cy="413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03667" y="3006196"/>
            <a:ext cx="2975104" cy="624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41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spc="-139" dirty="0">
                <a:solidFill>
                  <a:srgbClr val="F3F0E2"/>
                </a:solidFill>
                <a:latin typeface="Lexend"/>
                <a:cs typeface="Lexend"/>
              </a:rPr>
              <a:t>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964" y="3517629"/>
            <a:ext cx="2506223" cy="235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spc="5" dirty="0" err="1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arbeidsevne</a:t>
            </a:r>
            <a:endParaRPr sz="2400" b="0" spc="5" dirty="0">
              <a:solidFill>
                <a:srgbClr val="F3F0E2">
                  <a:alpha val="66000"/>
                </a:srgbClr>
              </a:solidFill>
              <a:latin typeface="Lexend"/>
              <a:cs typeface="Lexend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946675" y="3927658"/>
            <a:ext cx="2089088" cy="627622"/>
          </a:xfrm>
          <a:prstGeom prst="roundRect">
            <a:avLst>
              <a:gd name="adj" fmla="val 50000"/>
            </a:avLst>
          </a:prstGeom>
          <a:solidFill>
            <a:srgbClr val="97CA31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1" name="Picture 10" descr="i-checkmark-circle__97CA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705" y="4049717"/>
            <a:ext cx="383504" cy="38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10852" y="4172976"/>
            <a:ext cx="1076756" cy="244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spc="-14" dirty="0" err="1">
                <a:solidFill>
                  <a:srgbClr val="97CA31"/>
                </a:solidFill>
                <a:latin typeface="Lexend"/>
                <a:cs typeface="Lexend"/>
              </a:rPr>
              <a:t>helt</a:t>
            </a:r>
            <a:r>
              <a:rPr sz="2400" b="1" spc="-14" dirty="0">
                <a:solidFill>
                  <a:srgbClr val="97CA31"/>
                </a:solidFill>
                <a:latin typeface="Lexend"/>
                <a:cs typeface="Lexend"/>
              </a:rPr>
              <a:t> 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749808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arrows-circlepath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852678"/>
            <a:ext cx="190500" cy="19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697992"/>
            <a:ext cx="4796028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Spiralen vi må bryte</a:t>
            </a:r>
          </a:p>
        </p:txBody>
      </p:sp>
      <p:sp>
        <p:nvSpPr>
          <p:cNvPr id="5" name="Oval 4"/>
          <p:cNvSpPr/>
          <p:nvPr/>
        </p:nvSpPr>
        <p:spPr>
          <a:xfrm>
            <a:off x="4328160" y="2502408"/>
            <a:ext cx="3535680" cy="2011680"/>
          </a:xfrm>
          <a:prstGeom prst="ellipse">
            <a:avLst/>
          </a:prstGeom>
          <a:noFill/>
          <a:ln w="19050">
            <a:solidFill>
              <a:srgbClr val="AA52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-arrows-circlepath__AA52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20" y="3287268"/>
            <a:ext cx="441960" cy="4419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305104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/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25740" y="3231642"/>
            <a:ext cx="469392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1772" y="3208020"/>
            <a:ext cx="985334" cy="428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flere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uføre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og</a:t>
            </a:r>
            <a:endParaRPr lang="nb-NO" sz="1400" dirty="0">
              <a:solidFill>
                <a:srgbClr val="26301C"/>
              </a:solidFill>
              <a:latin typeface="Lexend"/>
              <a:cs typeface="Lexend"/>
            </a:endParaRP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400" b="0" dirty="0">
                <a:solidFill>
                  <a:srgbClr val="26301C"/>
                </a:solidFill>
                <a:latin typeface="Lexend"/>
                <a:cs typeface="Lexend"/>
              </a:rPr>
              <a:t>sykmeldte</a:t>
            </a:r>
            <a:endParaRPr sz="140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2514600" y="305104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/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05100" y="3231642"/>
            <a:ext cx="48310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4848" y="3208020"/>
            <a:ext cx="953210" cy="428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enda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mindre</a:t>
            </a:r>
            <a:endParaRPr lang="nb-NO" sz="1400" b="0" dirty="0">
              <a:solidFill>
                <a:srgbClr val="26301C"/>
              </a:solidFill>
              <a:latin typeface="Lexend"/>
              <a:cs typeface="Lexend"/>
            </a:endParaRP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400" dirty="0">
                <a:solidFill>
                  <a:srgbClr val="26301C"/>
                </a:solidFill>
                <a:latin typeface="Lexend"/>
                <a:cs typeface="Lexend"/>
              </a:rPr>
              <a:t>igjen til tiltak</a:t>
            </a:r>
            <a:endParaRPr sz="140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24" name="Oval 23"/>
          <p:cNvSpPr/>
          <p:nvPr/>
        </p:nvSpPr>
        <p:spPr>
          <a:xfrm rot="20700000">
            <a:off x="7235593" y="2656389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5" name="Picture 24" descr="i-arrow-right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0">
            <a:off x="7319413" y="2740209"/>
            <a:ext cx="167640" cy="16764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 rot="900000">
            <a:off x="7305946" y="3989115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7" name="Picture 26" descr="i-arrow-right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0">
            <a:off x="7389766" y="4072935"/>
            <a:ext cx="167640" cy="16764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 rot="900000">
            <a:off x="4539975" y="3985527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9" name="Picture 28" descr="i-arrow-right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600000">
            <a:off x="4623795" y="4069347"/>
            <a:ext cx="167640" cy="16764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 rot="1800000">
            <a:off x="4630932" y="2649692"/>
            <a:ext cx="335280" cy="33528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1" name="Picture 30" descr="i-arrow-right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100000">
            <a:off x="4714752" y="2733512"/>
            <a:ext cx="167640" cy="1676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92480" y="5821680"/>
            <a:ext cx="5583174" cy="335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spc="-9">
                <a:solidFill>
                  <a:srgbClr val="26301C"/>
                </a:solidFill>
                <a:latin typeface="Lexend"/>
                <a:cs typeface="Lexend"/>
              </a:rPr>
              <a:t>Og arbeidskraften vi trenger, får vi fortsatt ikke.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74920" y="1633728"/>
            <a:ext cx="2042160" cy="967740"/>
          </a:xfrm>
          <a:prstGeom prst="roundRect">
            <a:avLst>
              <a:gd name="adj" fmla="val 15748"/>
            </a:avLst>
          </a:prstGeom>
          <a:solidFill>
            <a:srgbClr val="FFFFFF"/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265420" y="1814322"/>
            <a:ext cx="470916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dirty="0">
                <a:solidFill>
                  <a:srgbClr val="AA523C"/>
                </a:solidFill>
                <a:latin typeface="Lexend"/>
                <a:cs typeface="Lexe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2976" y="1790700"/>
            <a:ext cx="1499616" cy="654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Mindre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av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potten</a:t>
            </a:r>
            <a:endParaRPr lang="nb-NO" sz="1400" b="0" dirty="0">
              <a:solidFill>
                <a:srgbClr val="26301C"/>
              </a:solidFill>
              <a:latin typeface="Lexend"/>
              <a:cs typeface="Lexend"/>
            </a:endParaRPr>
          </a:p>
          <a:p>
            <a:pPr>
              <a:lnSpc>
                <a:spcPts val="1700"/>
              </a:lnSpc>
            </a:pPr>
            <a:r>
              <a:rPr lang="nb-NO" sz="1400" dirty="0">
                <a:solidFill>
                  <a:srgbClr val="26301C"/>
                </a:solidFill>
                <a:cs typeface="Lexend"/>
              </a:rPr>
              <a:t>går til å få folk i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400" b="0" dirty="0">
                <a:solidFill>
                  <a:srgbClr val="26301C"/>
                </a:solidFill>
                <a:latin typeface="Lexend"/>
                <a:cs typeface="Lexend"/>
              </a:rPr>
              <a:t>arbeid</a:t>
            </a:r>
            <a:endParaRPr sz="140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74920" y="4468368"/>
            <a:ext cx="2042160" cy="752094"/>
          </a:xfrm>
          <a:prstGeom prst="roundRect">
            <a:avLst>
              <a:gd name="adj" fmla="val 20263"/>
            </a:avLst>
          </a:prstGeom>
          <a:solidFill>
            <a:srgbClr val="FFFFFF"/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526786" y="4625340"/>
            <a:ext cx="1279774" cy="428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høyere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utgifter</a:t>
            </a:r>
            <a:r>
              <a:rPr sz="140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400" b="0" dirty="0" err="1">
                <a:solidFill>
                  <a:srgbClr val="26301C"/>
                </a:solidFill>
                <a:latin typeface="Lexend"/>
                <a:cs typeface="Lexend"/>
              </a:rPr>
              <a:t>til</a:t>
            </a:r>
            <a:endParaRPr lang="nb-NO" sz="1400" b="0" dirty="0">
              <a:solidFill>
                <a:srgbClr val="26301C"/>
              </a:solidFill>
              <a:latin typeface="Lexend"/>
              <a:cs typeface="Lexend"/>
            </a:endParaRP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nb-NO" sz="1400" dirty="0">
                <a:solidFill>
                  <a:srgbClr val="26301C"/>
                </a:solidFill>
                <a:latin typeface="Lexend"/>
                <a:cs typeface="Lexend"/>
              </a:rPr>
              <a:t>ytelser</a:t>
            </a:r>
            <a:endParaRPr sz="140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65420" y="4648962"/>
            <a:ext cx="474726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AA523C"/>
                </a:solidFill>
                <a:latin typeface="Lexend"/>
                <a:cs typeface="Lexend"/>
              </a:rPr>
              <a:t>03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90525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Fasit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1033272"/>
            <a:ext cx="975588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Sammenlignet med år 2000 har Norge fått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480" y="168097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8700" y="190195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trend-up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2004822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7820" y="1943100"/>
            <a:ext cx="783336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36 prosent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flere uføre – mens befolkningen vokste 26 prosent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480" y="264109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8700" y="286207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1" name="Picture 10" descr="i-trend-up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2964942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7820" y="2903982"/>
            <a:ext cx="40386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dobbelt så mange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unge uføre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480" y="360121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28700" y="382219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5" name="Picture 14" descr="i-trend-down__FBF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570" y="3925062"/>
            <a:ext cx="190500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07820" y="3864102"/>
            <a:ext cx="571347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langt færre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yrkesaktive bak hver pensjonist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480" y="456133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28700" y="478231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19" name="Picture 18" descr="i-trend-up__FBF9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4885182"/>
            <a:ext cx="190500" cy="19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07820" y="4824222"/>
            <a:ext cx="4091178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større mangel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på arbeidskraft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480" y="5521452"/>
            <a:ext cx="10607040" cy="838200"/>
          </a:xfrm>
          <a:prstGeom prst="roundRect">
            <a:avLst>
              <a:gd name="adj" fmla="val 23636"/>
            </a:avLst>
          </a:prstGeom>
          <a:solidFill>
            <a:srgbClr val="FFFFFF">
              <a:alpha val="55000"/>
            </a:srgbClr>
          </a:solidFill>
          <a:ln w="7620">
            <a:solidFill>
              <a:srgbClr val="3F4E36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8700" y="5742432"/>
            <a:ext cx="396240" cy="396240"/>
          </a:xfrm>
          <a:prstGeom prst="ellipse">
            <a:avLst/>
          </a:prstGeom>
          <a:solidFill>
            <a:srgbClr val="AA5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23" name="Picture 22" descr="i-sack-kroner__FBF9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1570" y="5845302"/>
            <a:ext cx="190500" cy="190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07820" y="5784342"/>
            <a:ext cx="9039606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450"/>
              </a:lnSpc>
              <a:spcBef>
                <a:spcPts val="0"/>
              </a:spcBef>
              <a:spcAft>
                <a:spcPts val="0"/>
              </a:spcAft>
            </a:pPr>
            <a:r>
              <a:rPr sz="2039" b="1" spc="-20">
                <a:solidFill>
                  <a:srgbClr val="26301C"/>
                </a:solidFill>
                <a:latin typeface="Lexend"/>
                <a:cs typeface="Lexend"/>
              </a:rPr>
              <a:t>mer enn dobbelt så høye</a:t>
            </a:r>
            <a:r>
              <a:rPr sz="2039" b="0" spc="-20">
                <a:solidFill>
                  <a:srgbClr val="26301C"/>
                </a:solidFill>
                <a:latin typeface="Lexend"/>
                <a:cs typeface="Lexend"/>
              </a:rPr>
              <a:t> utgifter til inntektssikring, målt i 2025-kroner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92480" y="781050"/>
            <a:ext cx="259080" cy="22860"/>
          </a:xfrm>
          <a:prstGeom prst="roundRect">
            <a:avLst>
              <a:gd name="adj" fmla="val 50000"/>
            </a:avLst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58240" y="705612"/>
            <a:ext cx="165049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cap="all" spc="228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Oppsummert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480" y="260604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480" y="2068068"/>
            <a:ext cx="4248150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Går de store tallene i riktig retning?</a:t>
            </a:r>
          </a:p>
        </p:txBody>
      </p:sp>
      <p:pic>
        <p:nvPicPr>
          <p:cNvPr id="6" name="Picture 5" descr="i-x-mark-octagon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386" y="2065020"/>
            <a:ext cx="289560" cy="289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23626" y="1990344"/>
            <a:ext cx="996696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>
                <a:solidFill>
                  <a:srgbClr val="AA523C"/>
                </a:solidFill>
                <a:latin typeface="Lexend"/>
                <a:cs typeface="Lexend"/>
              </a:rPr>
              <a:t>Nei.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80" y="340614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480" y="2868168"/>
            <a:ext cx="5948934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Har vi en knallgod plan for å snu utviklingen raskt?</a:t>
            </a:r>
          </a:p>
        </p:txBody>
      </p:sp>
      <p:pic>
        <p:nvPicPr>
          <p:cNvPr id="10" name="Picture 9" descr="i-x-mark-octagon__AA5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386" y="2865120"/>
            <a:ext cx="289560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23626" y="2790444"/>
            <a:ext cx="996696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>
                <a:solidFill>
                  <a:srgbClr val="AA523C"/>
                </a:solidFill>
                <a:latin typeface="Lexend"/>
                <a:cs typeface="Lexend"/>
              </a:rPr>
              <a:t>Nei.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" y="4343400"/>
            <a:ext cx="1060704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2480" y="3588258"/>
            <a:ext cx="4458593" cy="56425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Kan vi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bruke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pengene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og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ressursene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smartere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,</a:t>
            </a:r>
            <a:br>
              <a:rPr lang="nb-NO" sz="1860" b="0" dirty="0">
                <a:solidFill>
                  <a:srgbClr val="26301C"/>
                </a:solidFill>
                <a:latin typeface="Lexend"/>
                <a:cs typeface="Lexend"/>
              </a:rPr>
            </a:b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til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å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gjøre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arbeid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</a:t>
            </a:r>
            <a:r>
              <a:rPr sz="1860" b="0" dirty="0" err="1">
                <a:solidFill>
                  <a:srgbClr val="26301C"/>
                </a:solidFill>
                <a:latin typeface="Lexend"/>
                <a:cs typeface="Lexend"/>
              </a:rPr>
              <a:t>mulig</a:t>
            </a:r>
            <a:r>
              <a:rPr sz="1860" b="0" dirty="0">
                <a:solidFill>
                  <a:srgbClr val="26301C"/>
                </a:solidFill>
                <a:latin typeface="Lexend"/>
                <a:cs typeface="Lexend"/>
              </a:rPr>
              <a:t> for</a:t>
            </a:r>
            <a:r>
              <a:rPr lang="nb-NO" sz="1860" b="0" dirty="0">
                <a:solidFill>
                  <a:srgbClr val="26301C"/>
                </a:solidFill>
                <a:latin typeface="Lexend"/>
                <a:cs typeface="Lexend"/>
              </a:rPr>
              <a:t> flere — raskere</a:t>
            </a:r>
            <a:endParaRPr sz="1860" b="0" dirty="0">
              <a:solidFill>
                <a:srgbClr val="26301C"/>
              </a:solidFill>
              <a:latin typeface="Lexend"/>
              <a:cs typeface="Lexend"/>
            </a:endParaRPr>
          </a:p>
        </p:txBody>
      </p:sp>
      <p:pic>
        <p:nvPicPr>
          <p:cNvPr id="15" name="Picture 14" descr="i-light-bulb__8151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6084" y="3733800"/>
            <a:ext cx="289560" cy="289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2324" y="3659124"/>
            <a:ext cx="1449243" cy="43415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60"/>
              </a:lnSpc>
              <a:spcBef>
                <a:spcPts val="0"/>
              </a:spcBef>
              <a:spcAft>
                <a:spcPts val="0"/>
              </a:spcAft>
            </a:pPr>
            <a:r>
              <a:rPr sz="2880" b="1" spc="-86" dirty="0" err="1">
                <a:solidFill>
                  <a:srgbClr val="81512C"/>
                </a:solidFill>
                <a:latin typeface="Lexend"/>
                <a:cs typeface="Lexend"/>
              </a:rPr>
              <a:t>Åpenbart</a:t>
            </a:r>
            <a:r>
              <a:rPr lang="nb-NO" sz="2880" b="1" spc="-86" dirty="0">
                <a:solidFill>
                  <a:srgbClr val="81512C"/>
                </a:solidFill>
                <a:latin typeface="Lexend"/>
                <a:cs typeface="Lexend"/>
              </a:rPr>
              <a:t>.</a:t>
            </a:r>
            <a:endParaRPr sz="2880" b="1" spc="-86" dirty="0">
              <a:solidFill>
                <a:srgbClr val="81512C"/>
              </a:solidFill>
              <a:latin typeface="Lexend"/>
              <a:cs typeface="Lexen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2480" y="4662678"/>
            <a:ext cx="6185916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sz="1860" b="0">
                <a:solidFill>
                  <a:srgbClr val="26301C"/>
                </a:solidFill>
                <a:latin typeface="Lexend"/>
                <a:cs typeface="Lexend"/>
              </a:rPr>
              <a:t>Trenger Norge et taktskifte i arbeidsinkluderingen?</a:t>
            </a:r>
          </a:p>
        </p:txBody>
      </p:sp>
      <p:pic>
        <p:nvPicPr>
          <p:cNvPr id="18" name="Picture 17" descr="i-checkmark-circle__5C7A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3190" y="4629150"/>
            <a:ext cx="350520" cy="350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740390" y="4530090"/>
            <a:ext cx="97917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108">
                <a:solidFill>
                  <a:srgbClr val="5C7A15"/>
                </a:solidFill>
                <a:latin typeface="Lexend"/>
                <a:cs typeface="Lexend"/>
              </a:rPr>
              <a:t>Ja.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3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2480" y="1661160"/>
            <a:ext cx="6845808" cy="7848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Norge har mange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" y="2446020"/>
            <a:ext cx="4862322" cy="7848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 dirty="0" err="1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utfordringer</a:t>
            </a:r>
            <a:r>
              <a:rPr sz="6000" b="1" spc="-192" dirty="0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" y="3230880"/>
            <a:ext cx="8618982" cy="7848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/>
                </a:solidFill>
                <a:latin typeface="Lexend"/>
                <a:cs typeface="Lexend"/>
              </a:rPr>
              <a:t>At folk vil jobbe, burde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80" y="4015740"/>
            <a:ext cx="8113776" cy="7848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61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spc="-192">
                <a:solidFill>
                  <a:srgbClr val="F3F0E2"/>
                </a:solidFill>
                <a:latin typeface="Lexend"/>
                <a:cs typeface="Lexend"/>
              </a:rPr>
              <a:t>ikke være </a:t>
            </a:r>
            <a:r>
              <a:rPr sz="6000" b="1" spc="-192">
                <a:solidFill>
                  <a:srgbClr val="97CA31"/>
                </a:solidFill>
                <a:latin typeface="Lexend"/>
                <a:cs typeface="Lexend"/>
              </a:rPr>
              <a:t>en av dem.</a:t>
            </a:r>
          </a:p>
        </p:txBody>
      </p:sp>
      <p:sp>
        <p:nvSpPr>
          <p:cNvPr id="6" name="Oval 5"/>
          <p:cNvSpPr/>
          <p:nvPr/>
        </p:nvSpPr>
        <p:spPr>
          <a:xfrm>
            <a:off x="792480" y="5760720"/>
            <a:ext cx="396240" cy="396240"/>
          </a:xfrm>
          <a:prstGeom prst="ellipse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7" name="Picture 6" descr="i-handshake__2831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863590"/>
            <a:ext cx="19050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1120" y="5848350"/>
            <a:ext cx="5395722" cy="220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">
                <a:solidFill>
                  <a:srgbClr val="F3F0E2">
                    <a:alpha val="66000"/>
                  </a:srgbClr>
                </a:solidFill>
                <a:latin typeface="Lexend"/>
                <a:cs typeface="Lexend"/>
              </a:rPr>
              <a:t>Onar Aanestad, direktør · Rikets tilstand for arbeidsinkludering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3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2480" y="749808"/>
            <a:ext cx="396240" cy="396240"/>
          </a:xfrm>
          <a:prstGeom prst="ellipse">
            <a:avLst/>
          </a:prstGeom>
          <a:solidFill>
            <a:srgbClr val="3F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pic>
        <p:nvPicPr>
          <p:cNvPr id="3" name="Picture 2" descr="i-books__F3F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852678"/>
            <a:ext cx="190500" cy="19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697992"/>
            <a:ext cx="1626870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-79">
                <a:solidFill>
                  <a:srgbClr val="26301C"/>
                </a:solidFill>
                <a:latin typeface="Lexend"/>
                <a:cs typeface="Lexend"/>
              </a:rPr>
              <a:t>Kilder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480" y="25786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480" y="23347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1080" y="2258568"/>
            <a:ext cx="292608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Stortinget – Innst. 15 S (2024–2025)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480" y="32263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2480" y="27538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1080" y="2677668"/>
            <a:ext cx="453694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NAV – «1 av 5 står utenfor arbeidslivet» og statistikk 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1080" y="2906268"/>
            <a:ext cx="193852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folketrygdens utgifter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" y="36454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2480" y="34015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1080" y="3325368"/>
            <a:ext cx="463753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SSB – uføretrygdede og unge utenfor arbeid og utdanning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480" y="40645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2480" y="38206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1080" y="3744468"/>
            <a:ext cx="378180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DFØ / Anskaffelser.no – offentlige innkjøp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80" y="44836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2480" y="42397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1080" y="4163568"/>
            <a:ext cx="505129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Stortinget – budsjettvedtak om tilrettelagte arbeidsplasser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" y="51313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2480" y="46588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1080" y="4582668"/>
            <a:ext cx="475107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Nordre Follo kommune – kartlegging av oppgaver i helse 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1080" y="4811268"/>
            <a:ext cx="87858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omsorg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2700" y="25786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62700" y="23347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91300" y="2258568"/>
            <a:ext cx="214503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Faktaportalen.no – uføre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2700" y="32263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62700" y="27538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91300" y="2677668"/>
            <a:ext cx="489508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NyAnalyse for Senter for et aldersvennlig Norge – «Verdien av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91300" y="2906268"/>
            <a:ext cx="180517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ett år lenger» (2023)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62700" y="36454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62700" y="34015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91300" y="3325368"/>
            <a:ext cx="255498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Regjeringen.no – NOU 2000:27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62700" y="40645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62700" y="38206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91300" y="3744468"/>
            <a:ext cx="319049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Dagsavisen – NAVs bemanningsvarsler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2700" y="44836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62700" y="42397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91300" y="4163568"/>
            <a:ext cx="353034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Statsregnskapet.dfo.no – folketrygden 2022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62700" y="4902708"/>
            <a:ext cx="5036820" cy="7620"/>
          </a:xfrm>
          <a:prstGeom prst="rect">
            <a:avLst/>
          </a:prstGeom>
          <a:solidFill>
            <a:srgbClr val="3F4E3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62700" y="4658868"/>
            <a:ext cx="91440" cy="15240"/>
          </a:xfrm>
          <a:prstGeom prst="rect">
            <a:avLst/>
          </a:prstGeom>
          <a:solidFill>
            <a:srgbClr val="97C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91300" y="4582668"/>
            <a:ext cx="299237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Store norske leksikon – folketrygden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480" y="5955792"/>
            <a:ext cx="3968496" cy="1988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spc="5">
                <a:solidFill>
                  <a:srgbClr val="26301C">
                    <a:alpha val="62000"/>
                  </a:srgbClr>
                </a:solidFill>
                <a:latin typeface="Lexend"/>
                <a:cs typeface="Lexend"/>
              </a:rPr>
              <a:t>Ikoner: Aksel – NAVs designsystem. Typografi: Lexend.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r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Innhold">
  <a:themeElements>
    <a:clrScheme name="iArbeid">
      <a:dk1>
        <a:srgbClr val="3F4E36"/>
      </a:dk1>
      <a:lt1>
        <a:srgbClr val="F3F0E2"/>
      </a:lt1>
      <a:dk2>
        <a:srgbClr val="3A2415"/>
      </a:dk2>
      <a:lt2>
        <a:srgbClr val="E8E8E8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Hvile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Sitat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Pause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iArbeid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Avslutningssider">
  <a:themeElements>
    <a:clrScheme name="iArbeid">
      <a:dk1>
        <a:srgbClr val="3F4E36"/>
      </a:dk1>
      <a:lt1>
        <a:srgbClr val="F3F0E2"/>
      </a:lt1>
      <a:dk2>
        <a:srgbClr val="000000"/>
      </a:dk2>
      <a:lt2>
        <a:srgbClr val="FFFFFF"/>
      </a:lt2>
      <a:accent1>
        <a:srgbClr val="7F877D"/>
      </a:accent1>
      <a:accent2>
        <a:srgbClr val="97CA31"/>
      </a:accent2>
      <a:accent3>
        <a:srgbClr val="E3CE98"/>
      </a:accent3>
      <a:accent4>
        <a:srgbClr val="AA523C"/>
      </a:accent4>
      <a:accent5>
        <a:srgbClr val="81512C"/>
      </a:accent5>
      <a:accent6>
        <a:srgbClr val="BD9F79"/>
      </a:accent6>
      <a:hlink>
        <a:srgbClr val="467886"/>
      </a:hlink>
      <a:folHlink>
        <a:srgbClr val="96607D"/>
      </a:folHlink>
    </a:clrScheme>
    <a:fontScheme name="Custom 8">
      <a:majorFont>
        <a:latin typeface="Lexend"/>
        <a:ea typeface=""/>
        <a:cs typeface=""/>
      </a:majorFont>
      <a:minorFont>
        <a:latin typeface="Lexe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442b621-b0d3-4eb9-b28f-0ab3a03d771f" xsi:nil="true"/>
    <lcf76f155ced4ddcb4097134ff3c332f xmlns="e952fd84-cde6-42ee-86fc-7f57b25220c1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1E5DCE7ABCC06468EC06FE9E8341BD7" ma:contentTypeVersion="12" ma:contentTypeDescription="Opprett et nytt dokument." ma:contentTypeScope="" ma:versionID="e2e8f42184ada3f35029cc1931f02dd9">
  <xsd:schema xmlns:xsd="http://www.w3.org/2001/XMLSchema" xmlns:xs="http://www.w3.org/2001/XMLSchema" xmlns:p="http://schemas.microsoft.com/office/2006/metadata/properties" xmlns:ns2="e952fd84-cde6-42ee-86fc-7f57b25220c1" xmlns:ns3="a442b621-b0d3-4eb9-b28f-0ab3a03d771f" targetNamespace="http://schemas.microsoft.com/office/2006/metadata/properties" ma:root="true" ma:fieldsID="8ef5f385bce0e085d79310bc9d687346" ns2:_="" ns3:_="">
    <xsd:import namespace="e952fd84-cde6-42ee-86fc-7f57b25220c1"/>
    <xsd:import namespace="a442b621-b0d3-4eb9-b28f-0ab3a03d77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52fd84-cde6-42ee-86fc-7f57b25220c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Bildemerkelapper" ma:readOnly="false" ma:fieldId="{5cf76f15-5ced-4ddc-b409-7134ff3c332f}" ma:taxonomyMulti="true" ma:sspId="6662f648-57df-4c35-b253-bc9d5106c3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42b621-b0d3-4eb9-b28f-0ab3a03d771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ingsdetaljer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f60bee08-3225-4ec7-a6fc-6cb758a47613}" ma:internalName="TaxCatchAll" ma:showField="CatchAllData" ma:web="a442b621-b0d3-4eb9-b28f-0ab3a03d77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C90DDC-E8DA-4BA2-BDCA-7A97B2957ADA}">
  <ds:schemaRefs>
    <ds:schemaRef ds:uri="http://schemas.microsoft.com/office/2006/metadata/properties"/>
    <ds:schemaRef ds:uri="http://schemas.microsoft.com/office/infopath/2007/PartnerControls"/>
    <ds:schemaRef ds:uri="a442b621-b0d3-4eb9-b28f-0ab3a03d771f"/>
    <ds:schemaRef ds:uri="e952fd84-cde6-42ee-86fc-7f57b25220c1"/>
  </ds:schemaRefs>
</ds:datastoreItem>
</file>

<file path=customXml/itemProps2.xml><?xml version="1.0" encoding="utf-8"?>
<ds:datastoreItem xmlns:ds="http://schemas.openxmlformats.org/officeDocument/2006/customXml" ds:itemID="{253C9846-E99D-4463-A274-EF04A5A6BED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952fd84-cde6-42ee-86fc-7f57b25220c1"/>
    <ds:schemaRef ds:uri="a442b621-b0d3-4eb9-b28f-0ab3a03d77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749B124-F12F-47C7-8302-E4E675B0095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1608</Words>
  <Application>Microsoft Macintosh PowerPoint</Application>
  <PresentationFormat>Widescreen</PresentationFormat>
  <Paragraphs>318</Paragraphs>
  <Slides>28</Slides>
  <Notes>28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6</vt:i4>
      </vt:variant>
      <vt:variant>
        <vt:lpstr>Lysbildetitler</vt:lpstr>
      </vt:variant>
      <vt:variant>
        <vt:i4>28</vt:i4>
      </vt:variant>
    </vt:vector>
  </HeadingPairs>
  <TitlesOfParts>
    <vt:vector size="37" baseType="lpstr">
      <vt:lpstr>Aptos</vt:lpstr>
      <vt:lpstr>Arial</vt:lpstr>
      <vt:lpstr>Lexend</vt:lpstr>
      <vt:lpstr>Forsider</vt:lpstr>
      <vt:lpstr>Innhold</vt:lpstr>
      <vt:lpstr>Hvilesider</vt:lpstr>
      <vt:lpstr>Sitat</vt:lpstr>
      <vt:lpstr>Pause</vt:lpstr>
      <vt:lpstr>Avslutningssider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Evensen, Marcus Alexander</dc:creator>
  <cp:lastModifiedBy>Marcus Evensen</cp:lastModifiedBy>
  <cp:revision>16</cp:revision>
  <dcterms:created xsi:type="dcterms:W3CDTF">2025-06-04T08:52:40Z</dcterms:created>
  <dcterms:modified xsi:type="dcterms:W3CDTF">2026-08-06T06:11:12Z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0x01010001E5DCE7ABCC06468EC06FE9E8341BD7</vt:lpwstr>
  </property>
</Properties>
</file>