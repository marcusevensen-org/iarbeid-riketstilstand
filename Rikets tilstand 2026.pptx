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  <p:sldMasterId id="2147483648" r:id="rId2"/>
    <p:sldMasterId id="2147483666" r:id="rId3"/>
    <p:sldMasterId id="2147483682" r:id="rId4"/>
    <p:sldMasterId id="2147483687" r:id="rId5"/>
    <p:sldMasterId id="2147483679" r:id="rId6"/>
  </p:sldMasterIdLst>
  <p:notesMasterIdLst>
    <p:notesMasterId r:id="rId19"/>
  </p:notesMasterIdLst>
  <p:handoutMasterIdLst>
    <p:handoutMasterId r:id="rId20"/>
  </p:handoutMasterIdLst>
  <p:sldIdLst>
    <p:sldId id="256" r:id="rId16"/>
    <p:sldId id="257" r:id="rId17"/>
    <p:sldId id="258" r:id="rId18"/>
    <p:sldId id="259" r:id="rId15"/>
    <p:sldId id="260" r:id="rId14"/>
    <p:sldId id="261" r:id="rId13"/>
    <p:sldId id="262" r:id="rId12"/>
    <p:sldId id="263" r:id="rId11"/>
    <p:sldId id="264" r:id="rId10"/>
    <p:sldId id="265" r:id="rId9"/>
    <p:sldId id="266" r:id="rId8"/>
    <p:sldId id="267" r:id="rId7"/>
    <p:sldId id="268" r:id="rId28"/>
    <p:sldId id="269" r:id="rId29"/>
    <p:sldId id="270" r:id="rId30"/>
    <p:sldId id="271" r:id="rId31"/>
    <p:sldId id="272" r:id="rId32"/>
    <p:sldId id="273" r:id="rId33"/>
    <p:sldId id="274" r:id="rId34"/>
    <p:sldId id="275" r:id="rId35"/>
    <p:sldId id="276" r:id="rId36"/>
    <p:sldId id="277" r:id="rId37"/>
    <p:sldId id="278" r:id="rId38"/>
    <p:sldId id="279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2415"/>
    <a:srgbClr val="65251A"/>
    <a:srgbClr val="CE8A39"/>
    <a:srgbClr val="DC9C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030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" Target="slides/slide12.xml"/><Relationship Id="rId8" Type="http://schemas.openxmlformats.org/officeDocument/2006/relationships/slide" Target="slides/slide11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8.xml"/><Relationship Id="rId12" Type="http://schemas.openxmlformats.org/officeDocument/2006/relationships/slide" Target="slides/slide7.xml"/><Relationship Id="rId13" Type="http://schemas.openxmlformats.org/officeDocument/2006/relationships/slide" Target="slides/slide6.xml"/><Relationship Id="rId14" Type="http://schemas.openxmlformats.org/officeDocument/2006/relationships/slide" Target="slides/slide5.xml"/><Relationship Id="rId15" Type="http://schemas.openxmlformats.org/officeDocument/2006/relationships/slide" Target="slides/slide4.xml"/><Relationship Id="rId16" Type="http://schemas.openxmlformats.org/officeDocument/2006/relationships/slide" Target="slides/slide1.xml"/><Relationship Id="rId17" Type="http://schemas.openxmlformats.org/officeDocument/2006/relationships/slide" Target="slides/slide2.xml"/><Relationship Id="rId18" Type="http://schemas.openxmlformats.org/officeDocument/2006/relationships/slide" Target="slides/slide3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customXml" Target="../customXml/item1.xml"/><Relationship Id="rId26" Type="http://schemas.openxmlformats.org/officeDocument/2006/relationships/customXml" Target="../customXml/item2.xml"/><Relationship Id="rId27" Type="http://schemas.openxmlformats.org/officeDocument/2006/relationships/customXml" Target="../customXml/item3.xml"/><Relationship Id="rId28" Type="http://schemas.openxmlformats.org/officeDocument/2006/relationships/slide" Target="slides/slide13.xml"/><Relationship Id="rId29" Type="http://schemas.openxmlformats.org/officeDocument/2006/relationships/slide" Target="slides/slide14.xml"/><Relationship Id="rId30" Type="http://schemas.openxmlformats.org/officeDocument/2006/relationships/slide" Target="slides/slide15.xml"/><Relationship Id="rId31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4265A2F-66C9-B0A9-CE3C-BB3A4CC4838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6652C5-D46B-AF6D-B43D-A27BB0DD47E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030F9C-A61B-3CC8-5BFB-B6F963F68B9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4DE810-3581-41FB-AC97-FCF5695720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13C278F-4A5D-950B-2532-5DDBF829058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14906D-A03C-486F-84FB-BEBFD2D39CB7}" type="datetimeFigureOut">
              <a:rPr lang="en-US" smtClean="0"/>
              <a:t>8/31/2025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4209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D2F1FC-631F-41CA-8038-356AB04079B0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BDA52F-A629-49CF-83AD-6CB60D599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1837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Rikets tilstand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 spørsmål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Bakteppet: Norge 2000 til i dag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Sju statuser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Status 1: 390 000 uføre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Status 2: 22 000 unge uføre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Sitat: 40 eller 50 år utenfor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Status 3: Ordene lukker dører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 virkeligheten forteller noe annet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Bruk språket til å åpne dører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 hindrer arbeid. Vi fremmer det ikke.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Status 4: 24 kroner mot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Regnskapet for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Status 5: Vi mangler arbeidskraft, ikke folk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Sitat: Ressursen finnes allerede 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Status 6: 53 000 med ukjent status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Sitat: Det burde være en nasjonal alarm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Status 7: Vi rekrutterer som i år 2000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Sitat: 50 prosent er helt 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Spiralen vi må bryte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Sammenlignet med år 2000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Oppsummert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Norge har mange utfordringer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Kilder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9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5.png"/><Relationship Id="rId3" Type="http://schemas.openxmlformats.org/officeDocument/2006/relationships/image" Target="../media/image8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6.png"/><Relationship Id="rId3" Type="http://schemas.openxmlformats.org/officeDocument/2006/relationships/image" Target="../media/image8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7.png"/><Relationship Id="rId3" Type="http://schemas.openxmlformats.org/officeDocument/2006/relationships/image" Target="../media/image9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8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een line on a dark background&#10;&#10;AI-generated content may be incorrect.">
            <a:extLst>
              <a:ext uri="{FF2B5EF4-FFF2-40B4-BE49-F238E27FC236}">
                <a16:creationId xmlns:a16="http://schemas.microsoft.com/office/drawing/2014/main" id="{70569829-54AC-5763-017B-BDADED9F96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0" y="638171"/>
            <a:ext cx="6067424" cy="4733929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94" y="4886325"/>
            <a:ext cx="2856782" cy="945544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 err="1"/>
              <a:t>Navn</a:t>
            </a:r>
            <a:r>
              <a:rPr lang="en-US" dirty="0"/>
              <a:t> </a:t>
            </a:r>
            <a:r>
              <a:rPr lang="en-US" dirty="0" err="1"/>
              <a:t>Navnesen</a:t>
            </a:r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1D9AFF0-5BF2-3CBE-2808-C3D2A03B7A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8894" y="5937250"/>
            <a:ext cx="2856782" cy="27879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Dato</a:t>
            </a:r>
          </a:p>
        </p:txBody>
      </p:sp>
    </p:spTree>
    <p:extLst>
      <p:ext uri="{BB962C8B-B14F-4D97-AF65-F5344CB8AC3E}">
        <p14:creationId xmlns:p14="http://schemas.microsoft.com/office/powerpoint/2010/main" val="10442463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0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569829-54AC-5763-017B-BDADED9F96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0" y="638171"/>
            <a:ext cx="6067424" cy="47339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94" y="4886325"/>
            <a:ext cx="2856782" cy="945544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 err="1"/>
              <a:t>Navn</a:t>
            </a:r>
            <a:r>
              <a:rPr lang="en-US" dirty="0"/>
              <a:t> </a:t>
            </a:r>
            <a:r>
              <a:rPr lang="en-US" dirty="0" err="1"/>
              <a:t>Navnesen</a:t>
            </a:r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1D9AFF0-5BF2-3CBE-2808-C3D2A03B7A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8894" y="5937250"/>
            <a:ext cx="2856782" cy="27879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Dato</a:t>
            </a:r>
          </a:p>
        </p:txBody>
      </p:sp>
    </p:spTree>
    <p:extLst>
      <p:ext uri="{BB962C8B-B14F-4D97-AF65-F5344CB8AC3E}">
        <p14:creationId xmlns:p14="http://schemas.microsoft.com/office/powerpoint/2010/main" val="28080646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0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569829-54AC-5763-017B-BDADED9F96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0" y="638171"/>
            <a:ext cx="6067424" cy="4733929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94" y="4886325"/>
            <a:ext cx="2856782" cy="945544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 err="1"/>
              <a:t>Navn</a:t>
            </a:r>
            <a:r>
              <a:rPr lang="en-US" dirty="0"/>
              <a:t> </a:t>
            </a:r>
            <a:r>
              <a:rPr lang="en-US" dirty="0" err="1"/>
              <a:t>Navnesen</a:t>
            </a:r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1D9AFF0-5BF2-3CBE-2808-C3D2A03B7A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8894" y="5937250"/>
            <a:ext cx="2856782" cy="27879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Dato</a:t>
            </a:r>
          </a:p>
        </p:txBody>
      </p:sp>
    </p:spTree>
    <p:extLst>
      <p:ext uri="{BB962C8B-B14F-4D97-AF65-F5344CB8AC3E}">
        <p14:creationId xmlns:p14="http://schemas.microsoft.com/office/powerpoint/2010/main" val="1260643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0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569829-54AC-5763-017B-BDADED9F96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0" y="638171"/>
            <a:ext cx="6067424" cy="47339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94" y="4886325"/>
            <a:ext cx="2856782" cy="945544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 err="1"/>
              <a:t>Navn</a:t>
            </a:r>
            <a:r>
              <a:rPr lang="en-US" dirty="0"/>
              <a:t> </a:t>
            </a:r>
            <a:r>
              <a:rPr lang="en-US" dirty="0" err="1"/>
              <a:t>Navnesen</a:t>
            </a:r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1D9AFF0-5BF2-3CBE-2808-C3D2A03B7A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8894" y="5937250"/>
            <a:ext cx="2856782" cy="27879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Dato</a:t>
            </a:r>
          </a:p>
        </p:txBody>
      </p:sp>
    </p:spTree>
    <p:extLst>
      <p:ext uri="{BB962C8B-B14F-4D97-AF65-F5344CB8AC3E}">
        <p14:creationId xmlns:p14="http://schemas.microsoft.com/office/powerpoint/2010/main" val="33445763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0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569829-54AC-5763-017B-BDADED9F96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8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0" y="638171"/>
            <a:ext cx="6067424" cy="47339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3A241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94" y="4886325"/>
            <a:ext cx="2856782" cy="945544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>
              <a:buNone/>
              <a:defRPr sz="2000">
                <a:solidFill>
                  <a:srgbClr val="3A2415"/>
                </a:solidFill>
              </a:defRPr>
            </a:lvl1pPr>
          </a:lstStyle>
          <a:p>
            <a:pPr lvl="0"/>
            <a:r>
              <a:rPr lang="en-US" dirty="0" err="1"/>
              <a:t>Navn</a:t>
            </a:r>
            <a:r>
              <a:rPr lang="en-US" dirty="0"/>
              <a:t> </a:t>
            </a:r>
            <a:r>
              <a:rPr lang="en-US" dirty="0" err="1"/>
              <a:t>Navnesen</a:t>
            </a:r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1D9AFF0-5BF2-3CBE-2808-C3D2A03B7A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8894" y="5937250"/>
            <a:ext cx="2856782" cy="27879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>
                <a:solidFill>
                  <a:srgbClr val="3A2415"/>
                </a:solidFill>
              </a:defRPr>
            </a:lvl1pPr>
          </a:lstStyle>
          <a:p>
            <a:pPr lvl="0"/>
            <a:r>
              <a:rPr lang="en-US" dirty="0"/>
              <a:t>Dato</a:t>
            </a:r>
          </a:p>
        </p:txBody>
      </p:sp>
    </p:spTree>
    <p:extLst>
      <p:ext uri="{BB962C8B-B14F-4D97-AF65-F5344CB8AC3E}">
        <p14:creationId xmlns:p14="http://schemas.microsoft.com/office/powerpoint/2010/main" val="32161189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06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569829-54AC-5763-017B-BDADED9F96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8" cy="685799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92" y="638171"/>
            <a:ext cx="6067424" cy="47339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696326" y="4886325"/>
            <a:ext cx="2856782" cy="945544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 algn="r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 err="1"/>
              <a:t>Navn</a:t>
            </a:r>
            <a:r>
              <a:rPr lang="en-US" dirty="0"/>
              <a:t> </a:t>
            </a:r>
            <a:r>
              <a:rPr lang="en-US" dirty="0" err="1"/>
              <a:t>Navnesen</a:t>
            </a:r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1D9AFF0-5BF2-3CBE-2808-C3D2A03B7A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696326" y="5937250"/>
            <a:ext cx="2856782" cy="27879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r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Dato</a:t>
            </a:r>
          </a:p>
        </p:txBody>
      </p:sp>
    </p:spTree>
    <p:extLst>
      <p:ext uri="{BB962C8B-B14F-4D97-AF65-F5344CB8AC3E}">
        <p14:creationId xmlns:p14="http://schemas.microsoft.com/office/powerpoint/2010/main" val="19046451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07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569829-54AC-5763-017B-BDADED9F96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2191996" cy="685799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92" y="638171"/>
            <a:ext cx="6067424" cy="47339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696326" y="4886325"/>
            <a:ext cx="2856782" cy="945544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 algn="r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 err="1"/>
              <a:t>Navn</a:t>
            </a:r>
            <a:r>
              <a:rPr lang="en-US" dirty="0"/>
              <a:t> </a:t>
            </a:r>
            <a:r>
              <a:rPr lang="en-US" dirty="0" err="1"/>
              <a:t>Navnesen</a:t>
            </a:r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1D9AFF0-5BF2-3CBE-2808-C3D2A03B7A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696326" y="5937250"/>
            <a:ext cx="2856782" cy="27879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r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Dato</a:t>
            </a:r>
          </a:p>
        </p:txBody>
      </p:sp>
    </p:spTree>
    <p:extLst>
      <p:ext uri="{BB962C8B-B14F-4D97-AF65-F5344CB8AC3E}">
        <p14:creationId xmlns:p14="http://schemas.microsoft.com/office/powerpoint/2010/main" val="37968612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+ innhold - Lys -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893" y="638171"/>
            <a:ext cx="10914931" cy="613309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 err="1"/>
              <a:t>Overskrift</a:t>
            </a:r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93" y="1495425"/>
            <a:ext cx="10914931" cy="4724403"/>
          </a:xfrm>
        </p:spPr>
        <p:txBody>
          <a:bodyPr bIns="0"/>
          <a:lstStyle>
            <a:lvl1pPr>
              <a:buClr>
                <a:schemeClr val="accent2"/>
              </a:buClr>
              <a:defRPr/>
            </a:lvl1pPr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62082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+ innhold - Lys -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2D5B6A0-EFCA-C983-6FC2-A6288B727DA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156D7F2-7E87-E47F-F56B-E1E877BD87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893" y="638171"/>
            <a:ext cx="10914931" cy="613309"/>
          </a:xfrm>
        </p:spPr>
        <p:txBody>
          <a:bodyPr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 err="1"/>
              <a:t>Overskrift</a:t>
            </a:r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93" y="1495425"/>
            <a:ext cx="10914931" cy="4724403"/>
          </a:xfrm>
        </p:spPr>
        <p:txBody>
          <a:bodyPr bIns="0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532191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+ innhold - Lys - 0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2D5B6A0-EFCA-C983-6FC2-A6288B727DA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156D7F2-7E87-E47F-F56B-E1E877BD87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rgbClr val="DC9C81"/>
          </a:solidFill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893" y="638171"/>
            <a:ext cx="10914931" cy="613309"/>
          </a:xfrm>
        </p:spPr>
        <p:txBody>
          <a:bodyPr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 err="1"/>
              <a:t>Overskrift</a:t>
            </a:r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93" y="1495425"/>
            <a:ext cx="10914931" cy="4724403"/>
          </a:xfrm>
        </p:spPr>
        <p:txBody>
          <a:bodyPr bIns="0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229138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+ innhold - Mørk -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CB50898-34D7-C03A-5A5A-4B4831730F8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893" y="638171"/>
            <a:ext cx="10914931" cy="613309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 err="1"/>
              <a:t>Overskrift</a:t>
            </a:r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93" y="1495425"/>
            <a:ext cx="10914931" cy="4724403"/>
          </a:xfrm>
        </p:spPr>
        <p:txBody>
          <a:bodyPr bIns="0"/>
          <a:lstStyle>
            <a:lvl1pPr>
              <a:buClr>
                <a:schemeClr val="accent2"/>
              </a:buClr>
              <a:defRPr/>
            </a:lvl1pPr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803227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+ innhold - Mørk - 0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1E1D0BA-2C7A-96D0-329B-E509B772B70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525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CB50898-34D7-C03A-5A5A-4B4831730F8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893" y="638171"/>
            <a:ext cx="10914931" cy="613309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 err="1"/>
              <a:t>Overskrift</a:t>
            </a:r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93" y="1495425"/>
            <a:ext cx="10914931" cy="4724403"/>
          </a:xfrm>
        </p:spPr>
        <p:txBody>
          <a:bodyPr bIns="0"/>
          <a:lstStyle>
            <a:lvl1pPr>
              <a:buClr>
                <a:srgbClr val="DC9C81"/>
              </a:buClr>
              <a:defRPr/>
            </a:lvl1pPr>
            <a:lvl2pPr>
              <a:buClr>
                <a:srgbClr val="DC9C81"/>
              </a:buClr>
              <a:defRPr/>
            </a:lvl2pPr>
            <a:lvl3pPr>
              <a:buClr>
                <a:srgbClr val="DC9C81"/>
              </a:buClr>
              <a:defRPr/>
            </a:lvl3pPr>
            <a:lvl4pPr>
              <a:buClr>
                <a:srgbClr val="DC9C81"/>
              </a:buClr>
              <a:defRPr/>
            </a:lvl4pPr>
            <a:lvl5pPr>
              <a:buClr>
                <a:srgbClr val="DC9C81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978741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+ innhold - Mørk - 0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CB50898-34D7-C03A-5A5A-4B4831730F8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893" y="638171"/>
            <a:ext cx="10914931" cy="613309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 err="1"/>
              <a:t>Overskrift</a:t>
            </a:r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93" y="1495425"/>
            <a:ext cx="10914931" cy="4724403"/>
          </a:xfrm>
        </p:spPr>
        <p:txBody>
          <a:bodyPr bIns="0"/>
          <a:lstStyle>
            <a:lvl1pPr>
              <a:buClr>
                <a:srgbClr val="DC9C81"/>
              </a:buClr>
              <a:defRPr/>
            </a:lvl1pPr>
            <a:lvl2pPr>
              <a:buClr>
                <a:srgbClr val="DC9C81"/>
              </a:buClr>
              <a:defRPr/>
            </a:lvl2pPr>
            <a:lvl3pPr>
              <a:buClr>
                <a:srgbClr val="DC9C81"/>
              </a:buClr>
              <a:defRPr/>
            </a:lvl3pPr>
            <a:lvl4pPr>
              <a:buClr>
                <a:srgbClr val="DC9C81"/>
              </a:buClr>
              <a:defRPr/>
            </a:lvl4pPr>
            <a:lvl5pPr>
              <a:buClr>
                <a:srgbClr val="DC9C81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4343283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, innhold + bilde - Lys -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894" y="638171"/>
            <a:ext cx="6076232" cy="613309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 err="1"/>
              <a:t>Overskrift</a:t>
            </a:r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94" y="1495425"/>
            <a:ext cx="6076232" cy="4724403"/>
          </a:xfrm>
        </p:spPr>
        <p:txBody>
          <a:bodyPr bIns="0"/>
          <a:lstStyle>
            <a:lvl1pPr>
              <a:buClr>
                <a:schemeClr val="accent2"/>
              </a:buClr>
              <a:defRPr/>
            </a:lvl1pPr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134EAF19-9309-4EE6-429E-C9FF3304C68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91399" y="416399"/>
            <a:ext cx="3895726" cy="6006152"/>
          </a:xfrm>
          <a:prstGeom prst="roundRect">
            <a:avLst>
              <a:gd name="adj" fmla="val 5000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2712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tel + innhold - Mørk -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CB50898-34D7-C03A-5A5A-4B4831730F8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6948D0-4ACF-072F-DE8B-0B1655A636D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91399" y="416399"/>
            <a:ext cx="3895726" cy="6006152"/>
          </a:xfrm>
          <a:prstGeom prst="roundRect">
            <a:avLst>
              <a:gd name="adj" fmla="val 5000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22D3397-9E09-12FF-5AD0-DAF4AA013D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894" y="638171"/>
            <a:ext cx="6076232" cy="613309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 err="1"/>
              <a:t>Overskrift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5C41FAB-27F4-1181-79DB-305F1061DD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94" y="1495425"/>
            <a:ext cx="6076232" cy="4724403"/>
          </a:xfrm>
        </p:spPr>
        <p:txBody>
          <a:bodyPr bIns="0"/>
          <a:lstStyle>
            <a:lvl1pPr>
              <a:buClr>
                <a:schemeClr val="accent2"/>
              </a:buClr>
              <a:defRPr/>
            </a:lvl1pPr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20816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ldekkende bil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DA0BA4D-804D-1740-C05D-3D3E1CB15A8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7419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rammet bilde - Mø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DA0BA4D-804D-1740-C05D-3D3E1CB15A8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9075" y="203597"/>
            <a:ext cx="11753850" cy="6450806"/>
          </a:xfrm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937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rammet bilde - Ly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DA0BA4D-804D-1740-C05D-3D3E1CB15A8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9075" y="203597"/>
            <a:ext cx="11753850" cy="6450806"/>
          </a:xfrm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3372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rammet bilde med kommentar - Mø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DA0BA4D-804D-1740-C05D-3D3E1CB15A8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9075" y="203597"/>
            <a:ext cx="11753850" cy="6450806"/>
          </a:xfrm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F0A18D-DF8A-6A05-10BB-3966DB8247C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52750" y="5105400"/>
            <a:ext cx="6286500" cy="1117331"/>
          </a:xfrm>
          <a:solidFill>
            <a:schemeClr val="bg1"/>
          </a:solidFill>
        </p:spPr>
        <p:txBody>
          <a:bodyPr lIns="360000" tIns="360000" rIns="360000" bIns="360000">
            <a:noAutofit/>
          </a:bodyPr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 err="1"/>
              <a:t>Skriv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kort</a:t>
            </a:r>
            <a:r>
              <a:rPr lang="en-US" dirty="0"/>
              <a:t> </a:t>
            </a:r>
            <a:r>
              <a:rPr lang="en-US" dirty="0" err="1"/>
              <a:t>tekst</a:t>
            </a:r>
            <a:r>
              <a:rPr lang="en-US" dirty="0"/>
              <a:t> her</a:t>
            </a:r>
          </a:p>
        </p:txBody>
      </p:sp>
    </p:spTree>
    <p:extLst>
      <p:ext uri="{BB962C8B-B14F-4D97-AF65-F5344CB8AC3E}">
        <p14:creationId xmlns:p14="http://schemas.microsoft.com/office/powerpoint/2010/main" val="19886314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rammet bilde med kommentar - Ly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DA0BA4D-804D-1740-C05D-3D3E1CB15A8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9075" y="203597"/>
            <a:ext cx="11753850" cy="6450806"/>
          </a:xfrm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F0A18D-DF8A-6A05-10BB-3966DB8247C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52750" y="5105400"/>
            <a:ext cx="6286500" cy="1117331"/>
          </a:xfrm>
          <a:solidFill>
            <a:schemeClr val="accent3"/>
          </a:solidFill>
        </p:spPr>
        <p:txBody>
          <a:bodyPr lIns="360000" tIns="360000" rIns="360000" bIns="360000">
            <a:noAutofit/>
          </a:bodyPr>
          <a:lstStyle>
            <a:lvl1pPr marL="0" indent="0" algn="ctr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 err="1"/>
              <a:t>Skriv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kort</a:t>
            </a:r>
            <a:r>
              <a:rPr lang="en-US" dirty="0"/>
              <a:t> </a:t>
            </a:r>
            <a:r>
              <a:rPr lang="en-US" dirty="0" err="1"/>
              <a:t>tekst</a:t>
            </a:r>
            <a:r>
              <a:rPr lang="en-US" dirty="0"/>
              <a:t> her</a:t>
            </a:r>
          </a:p>
        </p:txBody>
      </p:sp>
    </p:spTree>
    <p:extLst>
      <p:ext uri="{BB962C8B-B14F-4D97-AF65-F5344CB8AC3E}">
        <p14:creationId xmlns:p14="http://schemas.microsoft.com/office/powerpoint/2010/main" val="34515172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vileside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en background with circles&#10;&#10;AI-generated content may be incorrect.">
            <a:extLst>
              <a:ext uri="{FF2B5EF4-FFF2-40B4-BE49-F238E27FC236}">
                <a16:creationId xmlns:a16="http://schemas.microsoft.com/office/drawing/2014/main" id="{E6C2AD3E-EC90-4B85-63AF-EC2700F8110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6738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vileside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 up of a pattern&#10;&#10;AI-generated content may be incorrect.">
            <a:extLst>
              <a:ext uri="{FF2B5EF4-FFF2-40B4-BE49-F238E27FC236}">
                <a16:creationId xmlns:a16="http://schemas.microsoft.com/office/drawing/2014/main" id="{FAE993D7-E6F0-B017-00FD-E4E2FCDE43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719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vileside 0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background with circles&#10;&#10;AI-generated content may be incorrect.">
            <a:extLst>
              <a:ext uri="{FF2B5EF4-FFF2-40B4-BE49-F238E27FC236}">
                <a16:creationId xmlns:a16="http://schemas.microsoft.com/office/drawing/2014/main" id="{EA2DEA60-B5C9-25A8-B68B-515BA0DCA4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0516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vileside 0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rown background with circles&#10;&#10;AI-generated content may be incorrect.">
            <a:extLst>
              <a:ext uri="{FF2B5EF4-FFF2-40B4-BE49-F238E27FC236}">
                <a16:creationId xmlns:a16="http://schemas.microsoft.com/office/drawing/2014/main" id="{409BF03E-5979-9071-5D7D-86F9411356E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6833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tat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3DEF0F2-98CB-8A79-6361-2F301F8A9D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C18F3E7-2738-1A18-E9CA-909DDEEE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175" y="628650"/>
            <a:ext cx="10915650" cy="5591175"/>
          </a:xfrm>
          <a:prstGeom prst="rect">
            <a:avLst/>
          </a:prstGeom>
        </p:spPr>
        <p:txBody>
          <a:bodyPr lIns="1080000" tIns="1080000" rIns="1080000" bIns="1080000" anchor="ctr" anchorCtr="0">
            <a:normAutofit/>
          </a:bodyPr>
          <a:lstStyle>
            <a:lvl1pPr marL="0" indent="0" algn="ctr">
              <a:buNone/>
              <a:defRPr sz="72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Dette er et </a:t>
            </a:r>
            <a:r>
              <a:rPr lang="en-US" dirty="0" err="1"/>
              <a:t>stort</a:t>
            </a:r>
            <a:r>
              <a:rPr lang="en-US" dirty="0"/>
              <a:t> </a:t>
            </a:r>
            <a:r>
              <a:rPr lang="en-US" dirty="0" err="1"/>
              <a:t>sitat</a:t>
            </a:r>
            <a:r>
              <a:rPr lang="en-US" dirty="0"/>
              <a:t> over </a:t>
            </a:r>
            <a:r>
              <a:rPr lang="en-US" dirty="0" err="1"/>
              <a:t>flere</a:t>
            </a:r>
            <a:r>
              <a:rPr lang="en-US" dirty="0"/>
              <a:t> </a:t>
            </a:r>
            <a:r>
              <a:rPr lang="en-US" dirty="0" err="1"/>
              <a:t>linjer</a:t>
            </a:r>
            <a:r>
              <a:rPr lang="en-US" dirty="0"/>
              <a:t> med mer.</a:t>
            </a:r>
          </a:p>
        </p:txBody>
      </p:sp>
    </p:spTree>
    <p:extLst>
      <p:ext uri="{BB962C8B-B14F-4D97-AF65-F5344CB8AC3E}">
        <p14:creationId xmlns:p14="http://schemas.microsoft.com/office/powerpoint/2010/main" val="5842001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tat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AAE1F15-AE56-D3ED-D5F4-8092367F79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D6820C3-5C13-4178-499D-FEB5103930E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175" y="628650"/>
            <a:ext cx="10915650" cy="5591175"/>
          </a:xfrm>
          <a:prstGeom prst="rect">
            <a:avLst/>
          </a:prstGeom>
        </p:spPr>
        <p:txBody>
          <a:bodyPr lIns="1080000" tIns="1080000" rIns="1080000" bIns="1080000" anchor="ctr" anchorCtr="0">
            <a:normAutofit/>
          </a:bodyPr>
          <a:lstStyle>
            <a:lvl1pPr marL="0" indent="0" algn="ctr">
              <a:buNone/>
              <a:defRPr sz="7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Dette er et </a:t>
            </a:r>
            <a:r>
              <a:rPr lang="en-US" dirty="0" err="1"/>
              <a:t>stort</a:t>
            </a:r>
            <a:r>
              <a:rPr lang="en-US" dirty="0"/>
              <a:t> </a:t>
            </a:r>
            <a:r>
              <a:rPr lang="en-US" dirty="0" err="1"/>
              <a:t>sitat</a:t>
            </a:r>
            <a:r>
              <a:rPr lang="en-US" dirty="0"/>
              <a:t> over </a:t>
            </a:r>
            <a:r>
              <a:rPr lang="en-US" dirty="0" err="1"/>
              <a:t>flere</a:t>
            </a:r>
            <a:r>
              <a:rPr lang="en-US" dirty="0"/>
              <a:t> </a:t>
            </a:r>
            <a:r>
              <a:rPr lang="en-US" dirty="0" err="1"/>
              <a:t>linjer</a:t>
            </a:r>
            <a:r>
              <a:rPr lang="en-US" dirty="0"/>
              <a:t> med mer.</a:t>
            </a:r>
          </a:p>
        </p:txBody>
      </p:sp>
    </p:spTree>
    <p:extLst>
      <p:ext uri="{BB962C8B-B14F-4D97-AF65-F5344CB8AC3E}">
        <p14:creationId xmlns:p14="http://schemas.microsoft.com/office/powerpoint/2010/main" val="37527497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tat 0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8541D6-476F-2C80-A414-B6189AB0D0D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525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06B5F5E-9D6A-3A8F-3E49-F6126F7D1B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52846E23-D562-159E-4D2E-5091E0021A4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175" y="628650"/>
            <a:ext cx="10915650" cy="5591175"/>
          </a:xfrm>
          <a:prstGeom prst="rect">
            <a:avLst/>
          </a:prstGeom>
        </p:spPr>
        <p:txBody>
          <a:bodyPr lIns="1080000" tIns="1080000" rIns="1080000" bIns="1080000" anchor="ctr" anchorCtr="0">
            <a:normAutofit/>
          </a:bodyPr>
          <a:lstStyle>
            <a:lvl1pPr marL="0" indent="0" algn="ctr">
              <a:buNone/>
              <a:defRPr sz="7200">
                <a:solidFill>
                  <a:srgbClr val="DC9C81"/>
                </a:solidFill>
              </a:defRPr>
            </a:lvl1pPr>
          </a:lstStyle>
          <a:p>
            <a:pPr lvl="0"/>
            <a:r>
              <a:rPr lang="en-US" dirty="0"/>
              <a:t>Dette er et </a:t>
            </a:r>
            <a:r>
              <a:rPr lang="en-US" dirty="0" err="1"/>
              <a:t>stort</a:t>
            </a:r>
            <a:r>
              <a:rPr lang="en-US" dirty="0"/>
              <a:t> </a:t>
            </a:r>
            <a:r>
              <a:rPr lang="en-US" dirty="0" err="1"/>
              <a:t>sitat</a:t>
            </a:r>
            <a:r>
              <a:rPr lang="en-US" dirty="0"/>
              <a:t> over </a:t>
            </a:r>
            <a:r>
              <a:rPr lang="en-US" dirty="0" err="1"/>
              <a:t>flere</a:t>
            </a:r>
            <a:r>
              <a:rPr lang="en-US" dirty="0"/>
              <a:t> </a:t>
            </a:r>
            <a:r>
              <a:rPr lang="en-US" dirty="0" err="1"/>
              <a:t>linjer</a:t>
            </a:r>
            <a:r>
              <a:rPr lang="en-US" dirty="0"/>
              <a:t> med mer.</a:t>
            </a:r>
          </a:p>
        </p:txBody>
      </p:sp>
    </p:spTree>
    <p:extLst>
      <p:ext uri="{BB962C8B-B14F-4D97-AF65-F5344CB8AC3E}">
        <p14:creationId xmlns:p14="http://schemas.microsoft.com/office/powerpoint/2010/main" val="14869286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tat 0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61ECF1F-F997-F9C1-46C4-B43A0560C06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E8A3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17D779E-48AE-8DF6-4A0F-CCB1FB17B43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275DB4B6-827E-3D9B-0786-0830C7E833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175" y="628650"/>
            <a:ext cx="10915650" cy="5591175"/>
          </a:xfrm>
          <a:prstGeom prst="rect">
            <a:avLst/>
          </a:prstGeom>
        </p:spPr>
        <p:txBody>
          <a:bodyPr lIns="1080000" tIns="1080000" rIns="1080000" bIns="1080000" anchor="ctr" anchorCtr="0">
            <a:normAutofit/>
          </a:bodyPr>
          <a:lstStyle>
            <a:lvl1pPr marL="0" indent="0" algn="ctr">
              <a:buNone/>
              <a:defRPr sz="7200">
                <a:solidFill>
                  <a:srgbClr val="3A2415"/>
                </a:solidFill>
              </a:defRPr>
            </a:lvl1pPr>
          </a:lstStyle>
          <a:p>
            <a:pPr lvl="0"/>
            <a:r>
              <a:rPr lang="en-US" dirty="0"/>
              <a:t>Dette er et </a:t>
            </a:r>
            <a:r>
              <a:rPr lang="en-US" dirty="0" err="1"/>
              <a:t>stort</a:t>
            </a:r>
            <a:r>
              <a:rPr lang="en-US" dirty="0"/>
              <a:t> </a:t>
            </a:r>
            <a:r>
              <a:rPr lang="en-US" dirty="0" err="1"/>
              <a:t>sitat</a:t>
            </a:r>
            <a:r>
              <a:rPr lang="en-US" dirty="0"/>
              <a:t> over </a:t>
            </a:r>
            <a:r>
              <a:rPr lang="en-US" dirty="0" err="1"/>
              <a:t>flere</a:t>
            </a:r>
            <a:r>
              <a:rPr lang="en-US" dirty="0"/>
              <a:t> </a:t>
            </a:r>
            <a:r>
              <a:rPr lang="en-US" dirty="0" err="1"/>
              <a:t>linjer</a:t>
            </a:r>
            <a:r>
              <a:rPr lang="en-US" dirty="0"/>
              <a:t> med mer.</a:t>
            </a:r>
          </a:p>
        </p:txBody>
      </p:sp>
    </p:spTree>
    <p:extLst>
      <p:ext uri="{BB962C8B-B14F-4D97-AF65-F5344CB8AC3E}">
        <p14:creationId xmlns:p14="http://schemas.microsoft.com/office/powerpoint/2010/main" val="41727048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9C3C00-F03C-4690-CE22-F311218D49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FF3FF61D-094A-0186-36F8-3F67AB8CC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92" y="638171"/>
            <a:ext cx="6067424" cy="557212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defRPr>
                <a:solidFill>
                  <a:srgbClr val="65251A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8" name="Picture 7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6D944A2-F884-3797-1316-14CE634A30D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974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een and grey background&#10;&#10;AI-generated content may be incorrect.">
            <a:extLst>
              <a:ext uri="{FF2B5EF4-FFF2-40B4-BE49-F238E27FC236}">
                <a16:creationId xmlns:a16="http://schemas.microsoft.com/office/drawing/2014/main" id="{319C3C00-F03C-4690-CE22-F311218D49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FF3FF61D-094A-0186-36F8-3F67AB8CC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92" y="638171"/>
            <a:ext cx="6067424" cy="5572129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AB9299-C3DC-6071-54BB-9ECCD7367C4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00401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 0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9C3C00-F03C-4690-CE22-F311218D49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FF3FF61D-094A-0186-36F8-3F67AB8CC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8142" y="638171"/>
            <a:ext cx="6067424" cy="5572129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>
                <a:solidFill>
                  <a:srgbClr val="3A241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6C08F-9D4F-5056-DDA8-1A948568C25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22667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 0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9C3C00-F03C-4690-CE22-F311218D49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2EE84B-B802-AF21-71BE-8A87F79BB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92" y="638171"/>
            <a:ext cx="6067424" cy="5572129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>
                <a:solidFill>
                  <a:srgbClr val="3A241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4" name="Picture 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AB8EFD-BA29-A83E-DED5-CF60D20C46E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3616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vslutning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een and grey background&#10;&#10;AI-generated content may be incorrect.">
            <a:extLst>
              <a:ext uri="{FF2B5EF4-FFF2-40B4-BE49-F238E27FC236}">
                <a16:creationId xmlns:a16="http://schemas.microsoft.com/office/drawing/2014/main" id="{EBC03BCD-ADCD-CB11-36B6-613130EC9B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FE4CD497-1684-FD7B-5B14-6DDF433BC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92" y="638171"/>
            <a:ext cx="6067424" cy="3248029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189709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vslutning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BC03BCD-ADCD-CB11-36B6-613130EC9B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FE4CD497-1684-FD7B-5B14-6DDF433BC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92" y="2371721"/>
            <a:ext cx="6067424" cy="2981329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098406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slideLayout" Target="../slideLayouts/slideLayout9.xml"/><Relationship Id="rId3" Type="http://schemas.openxmlformats.org/officeDocument/2006/relationships/slideLayout" Target="../slideLayouts/slideLayout10.xml"/><Relationship Id="rId4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4.xml"/><Relationship Id="rId8" Type="http://schemas.openxmlformats.org/officeDocument/2006/relationships/slideLayout" Target="../slideLayouts/slideLayout15.xml"/><Relationship Id="rId9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0.xml"/><Relationship Id="rId14" Type="http://schemas.openxmlformats.org/officeDocument/2006/relationships/theme" Target="../theme/theme2.xml"/><Relationship Id="rId15" Type="http://schemas.openxmlformats.org/officeDocument/2006/relationships/image" Target="../media/image8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4.xml"/><Relationship Id="rId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5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1.xml"/><Relationship Id="rId4" Type="http://schemas.openxmlformats.org/officeDocument/2006/relationships/slideLayout" Target="../slideLayouts/slideLayout32.xml"/><Relationship Id="rId5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slideLayout" Target="../slideLayouts/slideLayout34.xml"/><Relationship Id="rId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5417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8" r:id="rId3"/>
    <p:sldLayoutId id="2147483656" r:id="rId4"/>
    <p:sldLayoutId id="2147483657" r:id="rId5"/>
    <p:sldLayoutId id="2147483659" r:id="rId6"/>
    <p:sldLayoutId id="2147483660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C840D0E-8B50-5F45-4D99-05982AEC3E9C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78F03B-F3C7-4E8A-498F-E79FEAC20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93" y="638171"/>
            <a:ext cx="10914931" cy="13255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D7673E-8A4D-E33B-67DC-2550761229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8893" y="2349500"/>
            <a:ext cx="10914931" cy="3870329"/>
          </a:xfrm>
          <a:prstGeom prst="rect">
            <a:avLst/>
          </a:prstGeom>
        </p:spPr>
        <p:txBody>
          <a:bodyPr vert="horz" lIns="0" tIns="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12207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64" r:id="rId2"/>
    <p:sldLayoutId id="2147483665" r:id="rId3"/>
    <p:sldLayoutId id="2147483661" r:id="rId4"/>
    <p:sldLayoutId id="2147483663" r:id="rId5"/>
    <p:sldLayoutId id="2147483662" r:id="rId6"/>
    <p:sldLayoutId id="2147483674" r:id="rId7"/>
    <p:sldLayoutId id="2147483676" r:id="rId8"/>
    <p:sldLayoutId id="2147483671" r:id="rId9"/>
    <p:sldLayoutId id="2147483672" r:id="rId10"/>
    <p:sldLayoutId id="2147483673" r:id="rId11"/>
    <p:sldLayoutId id="2147483677" r:id="rId12"/>
    <p:sldLayoutId id="2147483678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6449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7" r:id="rId2"/>
    <p:sldLayoutId id="2147483668" r:id="rId3"/>
    <p:sldLayoutId id="2147483669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0049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0632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3552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6.png"/><Relationship Id="rId3" Type="http://schemas.openxmlformats.org/officeDocument/2006/relationships/image" Target="../media/image31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8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9.png"/><Relationship Id="rId3" Type="http://schemas.openxmlformats.org/officeDocument/2006/relationships/image" Target="../media/image48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7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8.png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31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92480" y="1640586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8240" y="1565148"/>
            <a:ext cx="462534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spc="228" cap="all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Rikets tilstand · Arbeidsinkludering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2046732"/>
            <a:ext cx="6396990" cy="737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810"/>
              </a:lnSpc>
              <a:spcBef>
                <a:spcPts val="0"/>
              </a:spcBef>
              <a:spcAft>
                <a:spcPts val="0"/>
              </a:spcAft>
            </a:pPr>
            <a:r>
              <a:rPr sz="5640" b="1" spc="-181">
                <a:solidFill>
                  <a:srgbClr val="F3F0E2"/>
                </a:solidFill>
                <a:latin typeface="Lexend"/>
                <a:cs typeface="Lexend"/>
              </a:rPr>
              <a:t>Rikets tilstand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2784348"/>
            <a:ext cx="6827520" cy="737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810"/>
              </a:lnSpc>
              <a:spcBef>
                <a:spcPts val="0"/>
              </a:spcBef>
              <a:spcAft>
                <a:spcPts val="0"/>
              </a:spcAft>
            </a:pPr>
            <a:r>
              <a:rPr sz="5640" b="1" spc="-181">
                <a:solidFill>
                  <a:srgbClr val="F3F0E2"/>
                </a:solidFill>
                <a:latin typeface="Lexend"/>
                <a:cs typeface="Lexend"/>
              </a:rPr>
              <a:t>arbeidsinkludering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" y="3521964"/>
            <a:ext cx="1911858" cy="737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810"/>
              </a:lnSpc>
              <a:spcBef>
                <a:spcPts val="0"/>
              </a:spcBef>
              <a:spcAft>
                <a:spcPts val="0"/>
              </a:spcAft>
            </a:pPr>
            <a:r>
              <a:rPr sz="5640" b="1" spc="-181">
                <a:solidFill>
                  <a:srgbClr val="97CA31"/>
                </a:solidFill>
                <a:latin typeface="Lexend"/>
                <a:cs typeface="Lexend"/>
              </a:rPr>
              <a:t>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" y="4565904"/>
            <a:ext cx="6322314" cy="335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F3F0E2"/>
                </a:solidFill>
                <a:latin typeface="Lexend"/>
                <a:cs typeface="Lexend"/>
              </a:rPr>
              <a:t>Sju statuser. Én konklusjon: Norge trenger et taktskifte.</a:t>
            </a:r>
          </a:p>
        </p:txBody>
      </p:sp>
      <p:sp>
        <p:nvSpPr>
          <p:cNvPr id="8" name="Oval 7"/>
          <p:cNvSpPr/>
          <p:nvPr/>
        </p:nvSpPr>
        <p:spPr>
          <a:xfrm>
            <a:off x="792480" y="5760720"/>
            <a:ext cx="396240" cy="396240"/>
          </a:xfrm>
          <a:prstGeom prst="ellipse">
            <a:avLst/>
          </a:prstGeom>
          <a:solidFill>
            <a:srgbClr val="3F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9" name="Picture 8" descr="i-person__F3F0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5863590"/>
            <a:ext cx="190500" cy="19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41120" y="5839206"/>
            <a:ext cx="2211324" cy="2316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spc="6">
                <a:solidFill>
                  <a:srgbClr val="F3F0E2"/>
                </a:solidFill>
                <a:latin typeface="Lexend"/>
                <a:cs typeface="Lexend"/>
              </a:rPr>
              <a:t>Onar Aanestad, direktør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4804" y="5955030"/>
            <a:ext cx="7424166" cy="7620"/>
          </a:xfrm>
          <a:prstGeom prst="rect">
            <a:avLst/>
          </a:prstGeom>
          <a:solidFill>
            <a:srgbClr val="F3F0E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61370" y="5839206"/>
            <a:ext cx="758190" cy="2316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spc="151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2154936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spc="228" cap="all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Utgangspunktet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48512"/>
            <a:ext cx="3155442" cy="4937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Tre spørsmål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480" y="2189226"/>
            <a:ext cx="3403854" cy="2714244"/>
          </a:xfrm>
          <a:prstGeom prst="roundRect">
            <a:avLst>
              <a:gd name="adj" fmla="val 7299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4420" y="2455926"/>
            <a:ext cx="502920" cy="50292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7" name="Picture 6" descr="i-questionmark-circle__2831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2585466"/>
            <a:ext cx="243840" cy="243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4420" y="3084576"/>
            <a:ext cx="51435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4">
                <a:solidFill>
                  <a:srgbClr val="97CA31"/>
                </a:solidFill>
                <a:latin typeface="Lexend"/>
                <a:cs typeface="Lexen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" y="3391662"/>
            <a:ext cx="2435352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Hvordan går det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" y="3702558"/>
            <a:ext cx="199644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egentlig 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" y="4013454"/>
            <a:ext cx="3035046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arbeidsinkluderingen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" y="4324350"/>
            <a:ext cx="1399794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i Norge?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94454" y="2189226"/>
            <a:ext cx="3403854" cy="2714244"/>
          </a:xfrm>
          <a:prstGeom prst="roundRect">
            <a:avLst>
              <a:gd name="adj" fmla="val 7299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76394" y="2455926"/>
            <a:ext cx="502920" cy="50292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5" name="Picture 14" descr="i-trend-up__8151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5934" y="2585466"/>
            <a:ext cx="243840" cy="243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76394" y="3084576"/>
            <a:ext cx="51282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4">
                <a:solidFill>
                  <a:srgbClr val="81512C"/>
                </a:solidFill>
                <a:latin typeface="Lexend"/>
                <a:cs typeface="Lexen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6394" y="3391662"/>
            <a:ext cx="2452116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Går utviklingen 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6394" y="3702558"/>
            <a:ext cx="2135886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riktig retning?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95666" y="2189226"/>
            <a:ext cx="3403854" cy="2714244"/>
          </a:xfrm>
          <a:prstGeom prst="roundRect">
            <a:avLst>
              <a:gd name="adj" fmla="val 7299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7606" y="2455926"/>
            <a:ext cx="502920" cy="50292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21" name="Picture 20" descr="i-compass__FBF9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7146" y="2585466"/>
            <a:ext cx="243840" cy="243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277606" y="3084576"/>
            <a:ext cx="51892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4">
                <a:solidFill>
                  <a:srgbClr val="AA523C"/>
                </a:solidFill>
                <a:latin typeface="Lexend"/>
                <a:cs typeface="Lexen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7606" y="3391662"/>
            <a:ext cx="2765298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Kan vi være trygge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7606" y="3702558"/>
            <a:ext cx="2760726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på at Norge har 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7606" y="4013454"/>
            <a:ext cx="1895094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god plan for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7606" y="4324350"/>
            <a:ext cx="1716786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framtiden?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480" y="5486400"/>
            <a:ext cx="7165848" cy="335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For å svare må vi sammenligne Norge i dag med Norge for 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480" y="5821680"/>
            <a:ext cx="1253490" cy="335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år siden.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3C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44399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spc="228" cap="all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Bakteppet</a:t>
            </a:r>
          </a:p>
        </p:txBody>
      </p:sp>
      <p:pic>
        <p:nvPicPr>
          <p:cNvPr id="4" name="Picture 3" descr="i-arrow-right__97CA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822" y="1164336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2480" y="1048512"/>
            <a:ext cx="3056382" cy="4937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Norge 2000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006" y="1048512"/>
            <a:ext cx="3077718" cy="4937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Norge i dag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480" y="2011680"/>
            <a:ext cx="10607040" cy="1202436"/>
          </a:xfrm>
          <a:prstGeom prst="roundRect">
            <a:avLst>
              <a:gd name="adj" fmla="val 1647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28700" y="2361438"/>
            <a:ext cx="502920" cy="50292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9" name="Picture 8" descr="i-wheelchair__FBF9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240" y="2490978"/>
            <a:ext cx="243840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75460" y="2231136"/>
            <a:ext cx="2590800" cy="4983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280 000</a:t>
            </a:r>
          </a:p>
        </p:txBody>
      </p:sp>
      <p:pic>
        <p:nvPicPr>
          <p:cNvPr id="11" name="Picture 10" descr="i-arrow-right__97CA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8620" y="234391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25340" y="2231136"/>
            <a:ext cx="2602992" cy="4983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>
                <a:solidFill>
                  <a:srgbClr val="26301C"/>
                </a:solidFill>
                <a:latin typeface="Lexend"/>
                <a:cs typeface="Lexend"/>
              </a:rPr>
              <a:t>390 000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5460" y="2757678"/>
            <a:ext cx="3825240" cy="2316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spc="6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uføre – mens befolkningen vokste rundt 25 %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87128" y="2426208"/>
            <a:ext cx="1376172" cy="373380"/>
          </a:xfrm>
          <a:prstGeom prst="roundRect">
            <a:avLst>
              <a:gd name="adj" fmla="val 50000"/>
            </a:avLst>
          </a:prstGeom>
          <a:solidFill>
            <a:srgbClr val="AA523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5" name="Picture 14" descr="i-trend-up__AA52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9048" y="2513838"/>
            <a:ext cx="198120" cy="1981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183368" y="2507742"/>
            <a:ext cx="1147572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spc="-14">
                <a:solidFill>
                  <a:srgbClr val="AA523C"/>
                </a:solidFill>
                <a:latin typeface="Lexend"/>
                <a:cs typeface="Lexend"/>
              </a:rPr>
              <a:t>nær 40 %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480" y="3396996"/>
            <a:ext cx="10607040" cy="1202436"/>
          </a:xfrm>
          <a:prstGeom prst="roundRect">
            <a:avLst>
              <a:gd name="adj" fmla="val 1647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8700" y="3746754"/>
            <a:ext cx="502920" cy="50292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9" name="Picture 18" descr="i-person-group__8151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8240" y="3876294"/>
            <a:ext cx="243840" cy="2438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75460" y="3616452"/>
            <a:ext cx="1144524" cy="4983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>
                <a:solidFill>
                  <a:srgbClr val="26301C"/>
                </a:solidFill>
                <a:latin typeface="Lexend"/>
                <a:cs typeface="Lexend"/>
              </a:rPr>
              <a:t>4,6</a:t>
            </a:r>
          </a:p>
        </p:txBody>
      </p:sp>
      <p:pic>
        <p:nvPicPr>
          <p:cNvPr id="21" name="Picture 20" descr="i-arrow-right__97CA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7104" y="3752850"/>
            <a:ext cx="228600" cy="228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102864" y="3616452"/>
            <a:ext cx="1110234" cy="4983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3,3</a:t>
            </a:r>
          </a:p>
        </p:txBody>
      </p:sp>
      <p:pic>
        <p:nvPicPr>
          <p:cNvPr id="23" name="Picture 22" descr="i-arrow-right__97CA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0218" y="3752850"/>
            <a:ext cx="228600" cy="228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95978" y="3616452"/>
            <a:ext cx="1088136" cy="4983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>
                <a:solidFill>
                  <a:srgbClr val="26301C"/>
                </a:solidFill>
                <a:latin typeface="Lexend"/>
                <a:cs typeface="Lexend"/>
              </a:rPr>
              <a:t>2,5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75460" y="4142994"/>
            <a:ext cx="4467606" cy="2316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spc="6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yrkesaktive bak hver pensjonist (2000 – i dag – 2050)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04298" y="3811524"/>
            <a:ext cx="1159002" cy="373380"/>
          </a:xfrm>
          <a:prstGeom prst="roundRect">
            <a:avLst>
              <a:gd name="adj" fmla="val 50000"/>
            </a:avLst>
          </a:prstGeom>
          <a:solidFill>
            <a:srgbClr val="81512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27" name="Picture 26" descr="i-trend-down__81512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6218" y="3899154"/>
            <a:ext cx="198120" cy="1981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400538" y="3893058"/>
            <a:ext cx="930402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spc="-14">
                <a:solidFill>
                  <a:srgbClr val="81512C"/>
                </a:solidFill>
                <a:latin typeface="Lexend"/>
                <a:cs typeface="Lexend"/>
              </a:rPr>
              <a:t>halvert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2480" y="4782312"/>
            <a:ext cx="10607040" cy="1014984"/>
          </a:xfrm>
          <a:prstGeom prst="roundRect">
            <a:avLst>
              <a:gd name="adj" fmla="val 19519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28700" y="5038344"/>
            <a:ext cx="502920" cy="502920"/>
          </a:xfrm>
          <a:prstGeom prst="ellipse">
            <a:avLst/>
          </a:prstGeom>
          <a:solidFill>
            <a:srgbClr val="3F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31" name="Picture 30" descr="i-briefcase__F3F0E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8240" y="5167884"/>
            <a:ext cx="243840" cy="2438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775460" y="5001768"/>
            <a:ext cx="2249424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arbeidsledighet</a:t>
            </a:r>
          </a:p>
        </p:txBody>
      </p:sp>
      <p:pic>
        <p:nvPicPr>
          <p:cNvPr id="33" name="Picture 32" descr="i-arrow-right__97CA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7244" y="5044440"/>
            <a:ext cx="228600" cy="2286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238244" y="5001768"/>
            <a:ext cx="286131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arbeidskraftmangel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75460" y="5340858"/>
            <a:ext cx="2503170" cy="2316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spc="6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det Norge bekymrer seg for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91166" y="5103114"/>
            <a:ext cx="1072134" cy="373380"/>
          </a:xfrm>
          <a:prstGeom prst="roundRect">
            <a:avLst>
              <a:gd name="adj" fmla="val 50000"/>
            </a:avLst>
          </a:prstGeom>
          <a:solidFill>
            <a:srgbClr val="97CA31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37" name="Picture 36" descr="i-arrows-circlepath__5C7A1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13086" y="5190744"/>
            <a:ext cx="198120" cy="1981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487406" y="5184648"/>
            <a:ext cx="84353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spc="-14">
                <a:solidFill>
                  <a:srgbClr val="5C7A15"/>
                </a:solidFill>
                <a:latin typeface="Lexend"/>
                <a:cs typeface="Lexend"/>
              </a:rPr>
              <a:t>snudd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31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9248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680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4112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1544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8976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6408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43840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480" y="2787396"/>
            <a:ext cx="6466332" cy="10988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650"/>
              </a:lnSpc>
              <a:spcBef>
                <a:spcPts val="0"/>
              </a:spcBef>
              <a:spcAft>
                <a:spcPts val="0"/>
              </a:spcAft>
            </a:pPr>
            <a:r>
              <a:rPr sz="8400" b="1" spc="-269">
                <a:solidFill>
                  <a:srgbClr val="F3F0E2"/>
                </a:solidFill>
                <a:latin typeface="Lexend"/>
                <a:cs typeface="Lexend"/>
              </a:rPr>
              <a:t>Sju statuser.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80" y="4222242"/>
            <a:ext cx="4200144" cy="335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Tallene som beskriver Norge i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740408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spc="228" cap="all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Status 1 av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2417826"/>
            <a:ext cx="5699760" cy="12054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490"/>
              </a:lnSpc>
              <a:spcBef>
                <a:spcPts val="0"/>
              </a:spcBef>
              <a:spcAft>
                <a:spcPts val="0"/>
              </a:spcAft>
            </a:pPr>
            <a:r>
              <a:rPr sz="11040" b="1" spc="-552">
                <a:solidFill>
                  <a:srgbClr val="26301C"/>
                </a:solidFill>
                <a:latin typeface="Lexend"/>
                <a:cs typeface="Lexend"/>
              </a:rPr>
              <a:t>390 000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3806952"/>
            <a:ext cx="5349240" cy="335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uføre i Norge i dag. I 2000 var tallet </a:t>
            </a:r>
            <a:r>
              <a:rPr sz="1860" b="1" spc="-9">
                <a:solidFill>
                  <a:srgbClr val="26301C"/>
                </a:solidFill>
                <a:latin typeface="Lexend"/>
                <a:cs typeface="Lexend"/>
              </a:rPr>
              <a:t>280 000</a:t>
            </a: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480" y="4325112"/>
            <a:ext cx="2945892" cy="373380"/>
          </a:xfrm>
          <a:prstGeom prst="roundRect">
            <a:avLst>
              <a:gd name="adj" fmla="val 50000"/>
            </a:avLst>
          </a:prstGeom>
          <a:solidFill>
            <a:srgbClr val="AA523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7" name="Picture 6" descr="i-trend-up__AA52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412742"/>
            <a:ext cx="198120" cy="198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4406646"/>
            <a:ext cx="2717292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spc="-14">
                <a:solidFill>
                  <a:srgbClr val="AA523C"/>
                </a:solidFill>
                <a:latin typeface="Lexend"/>
                <a:cs typeface="Lexend"/>
              </a:rPr>
              <a:t>+ nær 40 % i antall på 25 år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5600" y="1811274"/>
            <a:ext cx="1821180" cy="1988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spc="5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Andel av befolkningen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5600" y="2313432"/>
            <a:ext cx="1030986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spc="114" cap="all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År 2000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1884" y="2201418"/>
            <a:ext cx="98298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41">
                <a:solidFill>
                  <a:srgbClr val="26301C"/>
                </a:solidFill>
                <a:latin typeface="Lexend"/>
                <a:cs typeface="Lexend"/>
              </a:rPr>
              <a:t>6,3 %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05600" y="2586990"/>
            <a:ext cx="4459224" cy="259080"/>
          </a:xfrm>
          <a:prstGeom prst="roundRect">
            <a:avLst>
              <a:gd name="adj" fmla="val 23529"/>
            </a:avLst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05600" y="2586990"/>
            <a:ext cx="4013454" cy="259080"/>
          </a:xfrm>
          <a:prstGeom prst="roundRect">
            <a:avLst>
              <a:gd name="adj" fmla="val 23529"/>
            </a:avLst>
          </a:prstGeom>
          <a:solidFill>
            <a:srgbClr val="7F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05600" y="3102102"/>
            <a:ext cx="832104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spc="114" cap="all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I dag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2552" y="2990088"/>
            <a:ext cx="972312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41">
                <a:solidFill>
                  <a:srgbClr val="AA523C"/>
                </a:solidFill>
                <a:latin typeface="Lexend"/>
                <a:cs typeface="Lexend"/>
              </a:rPr>
              <a:t>7,0 %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05600" y="3375660"/>
            <a:ext cx="4459224" cy="259080"/>
          </a:xfrm>
          <a:prstGeom prst="roundRect">
            <a:avLst>
              <a:gd name="adj" fmla="val 23529"/>
            </a:avLst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705600" y="3375660"/>
            <a:ext cx="4459224" cy="259080"/>
          </a:xfrm>
          <a:prstGeom prst="roundRect">
            <a:avLst>
              <a:gd name="adj" fmla="val 23529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05600" y="3816096"/>
            <a:ext cx="4461510" cy="2971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Befolkningen har vokst med rundt 25 prosent 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05600" y="4113276"/>
            <a:ext cx="3950970" cy="2971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samme periode. Men også som andel av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5600" y="4410456"/>
            <a:ext cx="3701796" cy="2971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befolkningen går uføretallet opp. Hvis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5600" y="4707636"/>
            <a:ext cx="4421886" cy="2971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arbeidsinkluderingen gikk riktig vei, burde det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5600" y="5004816"/>
            <a:ext cx="1130808" cy="2971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gått ned.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74117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spc="228" cap="all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Status 2 av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2249424"/>
            <a:ext cx="4722876" cy="12054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490"/>
              </a:lnSpc>
              <a:spcBef>
                <a:spcPts val="0"/>
              </a:spcBef>
              <a:spcAft>
                <a:spcPts val="0"/>
              </a:spcAft>
            </a:pPr>
            <a:r>
              <a:rPr sz="11040" b="1" spc="-552">
                <a:solidFill>
                  <a:srgbClr val="26301C"/>
                </a:solidFill>
                <a:latin typeface="Lexend"/>
                <a:cs typeface="Lexend"/>
              </a:rPr>
              <a:t>22 000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3639312"/>
            <a:ext cx="5567172" cy="335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unge uføre under 30 år. Ved inngangen til 2000-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" y="3974592"/>
            <a:ext cx="2418588" cy="335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tallet var de </a:t>
            </a:r>
            <a:r>
              <a:rPr sz="1860" b="1" spc="-9">
                <a:solidFill>
                  <a:srgbClr val="26301C"/>
                </a:solidFill>
                <a:latin typeface="Lexend"/>
                <a:cs typeface="Lexend"/>
              </a:rPr>
              <a:t>8 000</a:t>
            </a: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480" y="4492752"/>
            <a:ext cx="1856232" cy="373380"/>
          </a:xfrm>
          <a:prstGeom prst="roundRect">
            <a:avLst>
              <a:gd name="adj" fmla="val 50000"/>
            </a:avLst>
          </a:prstGeom>
          <a:solidFill>
            <a:srgbClr val="AA523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8" name="Picture 7" descr="i-trend-up__AA52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580382"/>
            <a:ext cx="198120" cy="198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8720" y="4574286"/>
            <a:ext cx="1627632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spc="-14">
                <a:solidFill>
                  <a:srgbClr val="AA523C"/>
                </a:solidFill>
                <a:latin typeface="Lexend"/>
                <a:cs typeface="Lexend"/>
              </a:rPr>
              <a:t>+ om lag 175 %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4160" y="2383536"/>
            <a:ext cx="1686306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spc="114" cap="all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Rundt år 2000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84764" y="2270760"/>
            <a:ext cx="1034796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41">
                <a:solidFill>
                  <a:srgbClr val="26301C"/>
                </a:solidFill>
                <a:latin typeface="Lexend"/>
                <a:cs typeface="Lexend"/>
              </a:rPr>
              <a:t>8 000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14160" y="2657094"/>
            <a:ext cx="4785360" cy="259080"/>
          </a:xfrm>
          <a:prstGeom prst="roundRect">
            <a:avLst>
              <a:gd name="adj" fmla="val 23529"/>
            </a:avLst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14160" y="2657094"/>
            <a:ext cx="1741932" cy="259080"/>
          </a:xfrm>
          <a:prstGeom prst="roundRect">
            <a:avLst>
              <a:gd name="adj" fmla="val 23529"/>
            </a:avLst>
          </a:prstGeom>
          <a:solidFill>
            <a:srgbClr val="7F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4160" y="3172206"/>
            <a:ext cx="832104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spc="114" cap="all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I dag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59796" y="3059430"/>
            <a:ext cx="1159764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41">
                <a:solidFill>
                  <a:srgbClr val="AA523C"/>
                </a:solidFill>
                <a:latin typeface="Lexend"/>
                <a:cs typeface="Lexend"/>
              </a:rPr>
              <a:t>22 000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14160" y="3445764"/>
            <a:ext cx="4785360" cy="259080"/>
          </a:xfrm>
          <a:prstGeom prst="roundRect">
            <a:avLst>
              <a:gd name="adj" fmla="val 23529"/>
            </a:avLst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14160" y="3445764"/>
            <a:ext cx="4785360" cy="259080"/>
          </a:xfrm>
          <a:prstGeom prst="roundRect">
            <a:avLst>
              <a:gd name="adj" fmla="val 23529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14160" y="3887724"/>
            <a:ext cx="4785360" cy="964692"/>
          </a:xfrm>
          <a:prstGeom prst="roundRect">
            <a:avLst>
              <a:gd name="adj" fmla="val 20537"/>
            </a:avLst>
          </a:prstGeom>
          <a:solidFill>
            <a:srgbClr val="AA523C">
              <a:alpha val="10000"/>
            </a:srgbClr>
          </a:solidFill>
          <a:ln w="7620">
            <a:solidFill>
              <a:srgbClr val="AA523C">
                <a:alpha val="2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0380" y="4171950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20" name="Picture 19" descr="i-exclamationmark-triangle__FBF9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250" y="4274820"/>
            <a:ext cx="190500" cy="1905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83780" y="4105656"/>
            <a:ext cx="3930396" cy="2613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Nær tredoblet på 25 år – en økning på om lag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83780" y="4367022"/>
            <a:ext cx="1261872" cy="2613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175 prosent.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31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92480" y="1137666"/>
            <a:ext cx="792480" cy="792480"/>
          </a:xfrm>
          <a:prstGeom prst="ellipse">
            <a:avLst/>
          </a:prstGeom>
          <a:noFill/>
          <a:ln w="15240">
            <a:solidFill>
              <a:srgbClr val="F3F0E2">
                <a:alpha val="2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3" name="Picture 2" descr="i-hourglass__F3F0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220" y="1343406"/>
            <a:ext cx="381000" cy="381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80" y="2233422"/>
            <a:ext cx="6783324" cy="653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440" b="0" spc="-107">
                <a:solidFill>
                  <a:srgbClr val="F3F0E2"/>
                </a:solidFill>
                <a:latin typeface="Lexend"/>
                <a:cs typeface="Lexend"/>
              </a:rPr>
              <a:t>Å bli stående utenfor fra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2887218"/>
            <a:ext cx="7527798" cy="653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440" b="0" spc="-107">
                <a:solidFill>
                  <a:srgbClr val="F3F0E2"/>
                </a:solidFill>
                <a:latin typeface="Lexend"/>
                <a:cs typeface="Lexend"/>
              </a:rPr>
              <a:t>20-årene er ikke noen få år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" y="3541776"/>
            <a:ext cx="5890260" cy="653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440" b="0" spc="-107">
                <a:solidFill>
                  <a:srgbClr val="F3F0E2"/>
                </a:solidFill>
                <a:latin typeface="Lexend"/>
                <a:cs typeface="Lexend"/>
              </a:rPr>
              <a:t>utenfor. Det kan bety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" y="4195572"/>
            <a:ext cx="3877056" cy="653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440" b="0" spc="-107">
                <a:solidFill>
                  <a:srgbClr val="97CA31"/>
                </a:solidFill>
                <a:latin typeface="Lexend"/>
                <a:cs typeface="Lexend"/>
              </a:rPr>
              <a:t>40 eller 50 år.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24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363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582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801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020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5240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459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7678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8897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0116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1336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555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3774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4993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6212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7432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651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9870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1089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308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3528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4747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5966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7185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8404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9624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0843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2062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3281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4500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5720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6939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158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9377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596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1816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3035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254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5473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6692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7912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9131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0350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1569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2788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008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5227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6446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7665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2480" y="5955792"/>
            <a:ext cx="2407158" cy="1988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spc="5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Ett år per strek. Et helt yrkesliv.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74498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spc="228" cap="all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Status 3 av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48512"/>
            <a:ext cx="4754880" cy="4937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Ordene lukker dører</a:t>
            </a:r>
          </a:p>
        </p:txBody>
      </p:sp>
      <p:sp>
        <p:nvSpPr>
          <p:cNvPr id="5" name="Oval 4"/>
          <p:cNvSpPr/>
          <p:nvPr/>
        </p:nvSpPr>
        <p:spPr>
          <a:xfrm>
            <a:off x="792480" y="2277618"/>
            <a:ext cx="792480" cy="79248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6" name="Picture 5" descr="i-door__FBF9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220" y="2483358"/>
            <a:ext cx="381000" cy="381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2480" y="3251454"/>
            <a:ext cx="3075432" cy="6812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360"/>
              </a:lnSpc>
              <a:spcBef>
                <a:spcPts val="0"/>
              </a:spcBef>
              <a:spcAft>
                <a:spcPts val="0"/>
              </a:spcAft>
            </a:pPr>
            <a:r>
              <a:rPr sz="6240" b="1" spc="-312">
                <a:solidFill>
                  <a:srgbClr val="AA523C"/>
                </a:solidFill>
                <a:latin typeface="Lexend"/>
                <a:cs typeface="Lexend"/>
              </a:rPr>
              <a:t>«Ferdig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480" y="3933444"/>
            <a:ext cx="3382518" cy="6812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360"/>
              </a:lnSpc>
              <a:spcBef>
                <a:spcPts val="0"/>
              </a:spcBef>
              <a:spcAft>
                <a:spcPts val="0"/>
              </a:spcAft>
            </a:pPr>
            <a:r>
              <a:rPr sz="6240" b="1" spc="-312">
                <a:solidFill>
                  <a:srgbClr val="AA523C"/>
                </a:solidFill>
                <a:latin typeface="Lexend"/>
                <a:cs typeface="Lexend"/>
              </a:rPr>
              <a:t>avklart»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80" y="4799076"/>
            <a:ext cx="5112258" cy="335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Slik er et menneske definert i det øyeblikket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80" y="5134356"/>
            <a:ext cx="2827020" cy="335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uføretrygden innvilges.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2700" y="2506218"/>
            <a:ext cx="5036820" cy="1424940"/>
          </a:xfrm>
          <a:prstGeom prst="roundRect">
            <a:avLst>
              <a:gd name="adj" fmla="val 13903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44640" y="3020568"/>
            <a:ext cx="396240" cy="3962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3" name="Picture 12" descr="i-tasklist__8151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7510" y="3123438"/>
            <a:ext cx="190500" cy="1905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78040" y="2770632"/>
            <a:ext cx="4235958" cy="2971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Hvilken marsjordre gir egentlig det til NAV 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3067812"/>
            <a:ext cx="3505962" cy="2971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som etter arbeidsgiverne er Norges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3364992"/>
            <a:ext cx="3736086" cy="2971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viktigste verktøy for å få folk i arbeid?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62700" y="4114038"/>
            <a:ext cx="5036820" cy="1127760"/>
          </a:xfrm>
          <a:prstGeom prst="roundRect">
            <a:avLst>
              <a:gd name="adj" fmla="val 17567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44640" y="4479798"/>
            <a:ext cx="396240" cy="396240"/>
          </a:xfrm>
          <a:prstGeom prst="ellipse">
            <a:avLst/>
          </a:prstGeom>
          <a:noFill/>
          <a:ln w="1524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9" name="Picture 18" descr="i-circle-slash__2630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7510" y="4582668"/>
            <a:ext cx="190500" cy="1905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178040" y="4378452"/>
            <a:ext cx="3684270" cy="2971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Ordene sier at potensialet er kartlagt,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4675632"/>
            <a:ext cx="3874008" cy="2971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mulighetene vurdert og saken avsluttet.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3C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295275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spc="228" cap="all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Status 3 av 7 · fortsatt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48512"/>
            <a:ext cx="8462010" cy="4937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Men virkeligheten forteller noe annet</a:t>
            </a:r>
          </a:p>
        </p:txBody>
      </p:sp>
      <p:sp>
        <p:nvSpPr>
          <p:cNvPr id="5" name="Oval 4"/>
          <p:cNvSpPr/>
          <p:nvPr/>
        </p:nvSpPr>
        <p:spPr>
          <a:xfrm>
            <a:off x="792480" y="2348484"/>
            <a:ext cx="792480" cy="79248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6" name="Picture 5" descr="i-sack-kroner__2831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220" y="2554224"/>
            <a:ext cx="381000" cy="381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2480" y="3322320"/>
            <a:ext cx="1706880" cy="8648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809"/>
              </a:lnSpc>
              <a:spcBef>
                <a:spcPts val="0"/>
              </a:spcBef>
              <a:spcAft>
                <a:spcPts val="0"/>
              </a:spcAft>
            </a:pPr>
            <a:r>
              <a:rPr sz="7920" b="1" spc="-396">
                <a:solidFill>
                  <a:srgbClr val="26301C"/>
                </a:solidFill>
                <a:latin typeface="Lexend"/>
                <a:cs typeface="Lexend"/>
              </a:rPr>
              <a:t>4,6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480" y="4233672"/>
            <a:ext cx="241935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milliarder kroner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80" y="4728210"/>
            <a:ext cx="5176266" cy="335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omsetter arbeids- og inkluderingsbedriftene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80" y="5063490"/>
            <a:ext cx="1587246" cy="335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for hvert år.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2700" y="2060448"/>
            <a:ext cx="5036820" cy="2019300"/>
          </a:xfrm>
          <a:prstGeom prst="roundRect">
            <a:avLst>
              <a:gd name="adj" fmla="val 9811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44640" y="2871978"/>
            <a:ext cx="396240" cy="396240"/>
          </a:xfrm>
          <a:prstGeom prst="ellipse">
            <a:avLst/>
          </a:prstGeom>
          <a:solidFill>
            <a:srgbClr val="3F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3" name="Picture 12" descr="i-buildings-3__F3F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7510" y="2974848"/>
            <a:ext cx="190500" cy="1905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78040" y="2324862"/>
            <a:ext cx="4243578" cy="2971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Hver eneste dag går tusenvis av mennesker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622042"/>
            <a:ext cx="3657600" cy="2971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med uføretrygd på jobb i tilrettelagte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2919222"/>
            <a:ext cx="4114038" cy="2971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arbeidsplasser over hele landet. De skaper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3216402"/>
            <a:ext cx="4092702" cy="2971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verdier for bedriften, for samfunnet og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3513582"/>
            <a:ext cx="1065276" cy="2971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seg selv.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62700" y="4262628"/>
            <a:ext cx="5036820" cy="1424940"/>
          </a:xfrm>
          <a:prstGeom prst="roundRect">
            <a:avLst>
              <a:gd name="adj" fmla="val 13903"/>
            </a:avLst>
          </a:prstGeom>
          <a:solidFill>
            <a:srgbClr val="97CA31">
              <a:alpha val="16000"/>
            </a:srgbClr>
          </a:solidFill>
          <a:ln w="7620">
            <a:solidFill>
              <a:srgbClr val="97CA31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44640" y="4776978"/>
            <a:ext cx="396240" cy="39624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21" name="Picture 20" descr="i-door-open__28311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7510" y="4879848"/>
            <a:ext cx="190500" cy="1905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78040" y="4527042"/>
            <a:ext cx="4161282" cy="2971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6301C"/>
                </a:solidFill>
                <a:latin typeface="Lexend"/>
                <a:cs typeface="Lexend"/>
              </a:rPr>
              <a:t>«Ferdig avklart»</a:t>
            </a: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 kommuniserer at uførhet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4824222"/>
            <a:ext cx="4178046" cy="2971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er slutten. For mange er det starten på noe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5121402"/>
            <a:ext cx="718566" cy="2971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nytt.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295275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spc="228" cap="all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Status 3 av 7 · fortsatt</a:t>
            </a:r>
          </a:p>
        </p:txBody>
      </p:sp>
      <p:sp>
        <p:nvSpPr>
          <p:cNvPr id="4" name="Oval 3"/>
          <p:cNvSpPr/>
          <p:nvPr/>
        </p:nvSpPr>
        <p:spPr>
          <a:xfrm>
            <a:off x="792480" y="1051560"/>
            <a:ext cx="502920" cy="50292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i-door-open__2831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020" y="1181100"/>
            <a:ext cx="243840" cy="243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93520" y="1053084"/>
            <a:ext cx="6677406" cy="4937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Bruk språket til å åpne dører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7758" y="2659380"/>
            <a:ext cx="2393442" cy="22860"/>
          </a:xfrm>
          <a:prstGeom prst="roundRect">
            <a:avLst>
              <a:gd name="adj" fmla="val 50000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8238" y="2468880"/>
            <a:ext cx="2652522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ordinært arbeid</a:t>
            </a:r>
          </a:p>
        </p:txBody>
      </p:sp>
      <p:pic>
        <p:nvPicPr>
          <p:cNvPr id="9" name="Picture 8" descr="i-arrow-right__97CA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1700" y="2537460"/>
            <a:ext cx="228600" cy="22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31280" y="2450592"/>
            <a:ext cx="1378458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0"/>
              </a:lnSpc>
              <a:spcBef>
                <a:spcPts val="0"/>
              </a:spcBef>
              <a:spcAft>
                <a:spcPts val="0"/>
              </a:spcAft>
            </a:pPr>
            <a:r>
              <a:rPr sz="2640" b="1" spc="-53">
                <a:solidFill>
                  <a:srgbClr val="3F4E36"/>
                </a:solidFill>
                <a:latin typeface="Lexend"/>
                <a:cs typeface="Lexend"/>
              </a:rPr>
              <a:t>arbeid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480" y="3089910"/>
            <a:ext cx="1060704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53562" y="3543300"/>
            <a:ext cx="2437638" cy="22860"/>
          </a:xfrm>
          <a:prstGeom prst="roundRect">
            <a:avLst>
              <a:gd name="adj" fmla="val 50000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4042" y="3352800"/>
            <a:ext cx="2696718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restarbeidsevne</a:t>
            </a:r>
          </a:p>
        </p:txBody>
      </p:sp>
      <p:pic>
        <p:nvPicPr>
          <p:cNvPr id="14" name="Picture 13" descr="i-arrow-right__97CA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1700" y="342138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31280" y="3334512"/>
            <a:ext cx="2307336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0"/>
              </a:lnSpc>
              <a:spcBef>
                <a:spcPts val="0"/>
              </a:spcBef>
              <a:spcAft>
                <a:spcPts val="0"/>
              </a:spcAft>
            </a:pPr>
            <a:r>
              <a:rPr sz="2640" b="1" spc="-53">
                <a:solidFill>
                  <a:srgbClr val="3F4E36"/>
                </a:solidFill>
                <a:latin typeface="Lexend"/>
                <a:cs typeface="Lexend"/>
              </a:rPr>
              <a:t>arbeidsevne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480" y="3973830"/>
            <a:ext cx="1060704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12136" y="4427220"/>
            <a:ext cx="3179064" cy="22860"/>
          </a:xfrm>
          <a:prstGeom prst="roundRect">
            <a:avLst>
              <a:gd name="adj" fmla="val 50000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42616" y="4236720"/>
            <a:ext cx="3438144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arbeidskraftreserven</a:t>
            </a:r>
          </a:p>
        </p:txBody>
      </p:sp>
      <p:pic>
        <p:nvPicPr>
          <p:cNvPr id="19" name="Picture 18" descr="i-arrow-right__97CA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1700" y="4305300"/>
            <a:ext cx="228600" cy="228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31280" y="4218432"/>
            <a:ext cx="3860292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0"/>
              </a:lnSpc>
              <a:spcBef>
                <a:spcPts val="0"/>
              </a:spcBef>
              <a:spcAft>
                <a:spcPts val="0"/>
              </a:spcAft>
            </a:pPr>
            <a:r>
              <a:rPr sz="2640" b="1" spc="-53">
                <a:solidFill>
                  <a:srgbClr val="3F4E36"/>
                </a:solidFill>
                <a:latin typeface="Lexend"/>
                <a:cs typeface="Lexend"/>
              </a:rPr>
              <a:t>arbeidskraftressursen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80" y="5486400"/>
            <a:ext cx="8286750" cy="335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Lær av Marit Breivik og ressursbenken. Ordene vi bruker lukker dørene til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480" y="5821680"/>
            <a:ext cx="5638038" cy="335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arbeidslivet. Vi må bruke språket til å åpne dem.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3C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69926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spc="228" cap="all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Regelverket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48512"/>
            <a:ext cx="8759190" cy="4937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Vi hindrer arbeid. Vi fremmer det ikke.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480" y="2310384"/>
            <a:ext cx="5189220" cy="2090928"/>
          </a:xfrm>
          <a:prstGeom prst="roundRect">
            <a:avLst>
              <a:gd name="adj" fmla="val 9475"/>
            </a:avLst>
          </a:prstGeom>
          <a:solidFill>
            <a:srgbClr val="AA523C">
              <a:alpha val="10000"/>
            </a:srgbClr>
          </a:solidFill>
          <a:ln w="7620">
            <a:solidFill>
              <a:srgbClr val="AA523C">
                <a:alpha val="2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4420" y="2577084"/>
            <a:ext cx="502920" cy="50292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7" name="Picture 6" descr="i-briefcase-clock__FBF9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2706624"/>
            <a:ext cx="243840" cy="243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4420" y="3201162"/>
            <a:ext cx="4736592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Arbeidsfolk i en tilrettelagt jobb kan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" y="3512058"/>
            <a:ext cx="475107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ikke jobbe etter fylte </a:t>
            </a: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67 år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– slik alle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" y="3822192"/>
            <a:ext cx="1618488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andre kan.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300" y="2310384"/>
            <a:ext cx="5189220" cy="2090928"/>
          </a:xfrm>
          <a:prstGeom prst="roundRect">
            <a:avLst>
              <a:gd name="adj" fmla="val 9475"/>
            </a:avLst>
          </a:prstGeom>
          <a:solidFill>
            <a:srgbClr val="AA523C">
              <a:alpha val="10000"/>
            </a:srgbClr>
          </a:solidFill>
          <a:ln w="7620">
            <a:solidFill>
              <a:srgbClr val="AA523C">
                <a:alpha val="2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0" y="2577084"/>
            <a:ext cx="502920" cy="50292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3" name="Picture 12" descr="i-first-aid__FBF9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1780" y="2706624"/>
            <a:ext cx="243840" cy="2438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92240" y="3201162"/>
            <a:ext cx="4356354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De har </a:t>
            </a: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ikke rett til sykepenger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512058"/>
            <a:ext cx="4892802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nettopp fordi de jobber selv om de 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2"/>
            <a:ext cx="1027176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uføre.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480" y="5120640"/>
            <a:ext cx="10607040" cy="1036320"/>
          </a:xfrm>
          <a:prstGeom prst="roundRect">
            <a:avLst>
              <a:gd name="adj" fmla="val 19117"/>
            </a:avLst>
          </a:prstGeom>
          <a:solidFill>
            <a:srgbClr val="97CA31">
              <a:alpha val="16000"/>
            </a:srgbClr>
          </a:solidFill>
          <a:ln w="7620">
            <a:solidFill>
              <a:srgbClr val="97CA31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74420" y="5387340"/>
            <a:ext cx="502920" cy="50292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9" name="Picture 18" descr="i-checkmark-circle__28311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960" y="5516880"/>
            <a:ext cx="243840" cy="2438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75460" y="5482590"/>
            <a:ext cx="6340602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Norge trenger et mer arbeidsvennlig regelverk.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755648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spc="228" cap="all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Status 4 av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2301240"/>
            <a:ext cx="3186684" cy="11010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670"/>
              </a:lnSpc>
              <a:spcBef>
                <a:spcPts val="0"/>
              </a:spcBef>
              <a:spcAft>
                <a:spcPts val="0"/>
              </a:spcAft>
            </a:pPr>
            <a:r>
              <a:rPr sz="10080" b="1" spc="-504">
                <a:solidFill>
                  <a:srgbClr val="26301C"/>
                </a:solidFill>
                <a:latin typeface="Lexend"/>
                <a:cs typeface="Lexend"/>
              </a:rPr>
              <a:t>24</a:t>
            </a:r>
            <a:r>
              <a:rPr sz="10080" b="0" spc="-504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 : </a:t>
            </a:r>
            <a:r>
              <a:rPr sz="10080" b="1" spc="-504">
                <a:solidFill>
                  <a:srgbClr val="26301C"/>
                </a:solidFill>
                <a:latin typeface="Lexend"/>
                <a:cs typeface="Lexen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3586734"/>
            <a:ext cx="5228844" cy="335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Så mange kroner går til utenforskap for hver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" y="3922014"/>
            <a:ext cx="4244340" cy="335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krone vi bruker på å få folk i arbeid.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480" y="4440936"/>
            <a:ext cx="3345942" cy="373380"/>
          </a:xfrm>
          <a:prstGeom prst="roundRect">
            <a:avLst>
              <a:gd name="adj" fmla="val 50000"/>
            </a:avLst>
          </a:prstGeom>
          <a:solidFill>
            <a:srgbClr val="AA523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8" name="Picture 7" descr="i-trend-up__AA52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528566"/>
            <a:ext cx="198120" cy="198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8720" y="4522470"/>
            <a:ext cx="3117342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spc="-14">
                <a:solidFill>
                  <a:srgbClr val="AA523C"/>
                </a:solidFill>
                <a:latin typeface="Lexend"/>
                <a:cs typeface="Lexend"/>
              </a:rPr>
              <a:t>fra 17 : 1 i år 2000 · + rundt 41 %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14160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93052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71944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50836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29728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08620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87512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565642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44534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23426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402318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81210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614160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93052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71944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450836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29728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08620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87512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565642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44534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123426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402318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681210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149840" y="2788920"/>
            <a:ext cx="396240" cy="396240"/>
          </a:xfrm>
          <a:prstGeom prst="roundRect">
            <a:avLst>
              <a:gd name="adj" fmla="val 17307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614160" y="3445002"/>
            <a:ext cx="121920" cy="121920"/>
          </a:xfrm>
          <a:prstGeom prst="roundRect">
            <a:avLst>
              <a:gd name="adj" fmla="val 25000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19900" y="3419094"/>
            <a:ext cx="204216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24 kroner til utenforskap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0620" y="3445002"/>
            <a:ext cx="121920" cy="121920"/>
          </a:xfrm>
          <a:prstGeom prst="roundRect">
            <a:avLst>
              <a:gd name="adj" fmla="val 25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76360" y="3419094"/>
            <a:ext cx="1501902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1 krone til arbeid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14160" y="3777996"/>
            <a:ext cx="4663440" cy="2971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I 2000 var forholdet 17 : 1. En økning på rundt 41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14160" y="4075176"/>
            <a:ext cx="1819656" cy="2971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prosent på 25 år.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31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296418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spc="228" cap="all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Status 4 av 7 · fortsatt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33272"/>
            <a:ext cx="4828794" cy="4937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F3F0E2"/>
                </a:solidFill>
                <a:latin typeface="Lexend"/>
                <a:cs typeface="Lexend"/>
              </a:rPr>
              <a:t>Regnskapet for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2660142"/>
            <a:ext cx="123063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uføretrygd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0" y="2635758"/>
            <a:ext cx="6217920" cy="259080"/>
          </a:xfrm>
          <a:prstGeom prst="roundRect">
            <a:avLst>
              <a:gd name="adj" fmla="val 23529"/>
            </a:avLst>
          </a:prstGeom>
          <a:solidFill>
            <a:srgbClr val="F3F0E2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20440" y="2635758"/>
            <a:ext cx="6217920" cy="259080"/>
          </a:xfrm>
          <a:prstGeom prst="roundRect">
            <a:avLst>
              <a:gd name="adj" fmla="val 23529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21290" y="2632710"/>
            <a:ext cx="1398270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90"/>
              </a:lnSpc>
              <a:spcBef>
                <a:spcPts val="0"/>
              </a:spcBef>
              <a:spcAft>
                <a:spcPts val="0"/>
              </a:spcAft>
            </a:pPr>
            <a:r>
              <a:rPr sz="1739" b="1" spc="-26">
                <a:solidFill>
                  <a:srgbClr val="F3F0E2"/>
                </a:solidFill>
                <a:latin typeface="Lexend"/>
                <a:cs typeface="Lexend"/>
              </a:rPr>
              <a:t>140,6 mrd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80" y="3090672"/>
            <a:ext cx="1309116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sykepenger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3066288"/>
            <a:ext cx="6217920" cy="259080"/>
          </a:xfrm>
          <a:prstGeom prst="roundRect">
            <a:avLst>
              <a:gd name="adj" fmla="val 23529"/>
            </a:avLst>
          </a:prstGeom>
          <a:solidFill>
            <a:srgbClr val="F3F0E2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20440" y="3066288"/>
            <a:ext cx="2947416" cy="259080"/>
          </a:xfrm>
          <a:prstGeom prst="roundRect">
            <a:avLst>
              <a:gd name="adj" fmla="val 23529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76738" y="3063240"/>
            <a:ext cx="1242822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90"/>
              </a:lnSpc>
              <a:spcBef>
                <a:spcPts val="0"/>
              </a:spcBef>
              <a:spcAft>
                <a:spcPts val="0"/>
              </a:spcAft>
            </a:pPr>
            <a:r>
              <a:rPr sz="1739" b="1" spc="-26">
                <a:solidFill>
                  <a:srgbClr val="F3F0E2"/>
                </a:solidFill>
                <a:latin typeface="Lexend"/>
                <a:cs typeface="Lexend"/>
              </a:rPr>
              <a:t>66,7 mrd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80" y="3521202"/>
            <a:ext cx="244373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arbeidsavklaringspenger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3496818"/>
            <a:ext cx="6217920" cy="259080"/>
          </a:xfrm>
          <a:prstGeom prst="roundRect">
            <a:avLst>
              <a:gd name="adj" fmla="val 23529"/>
            </a:avLst>
          </a:prstGeom>
          <a:solidFill>
            <a:srgbClr val="F3F0E2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20440" y="3496818"/>
            <a:ext cx="2474976" cy="259080"/>
          </a:xfrm>
          <a:prstGeom prst="roundRect">
            <a:avLst>
              <a:gd name="adj" fmla="val 23529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66070" y="3493770"/>
            <a:ext cx="1253490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90"/>
              </a:lnSpc>
              <a:spcBef>
                <a:spcPts val="0"/>
              </a:spcBef>
              <a:spcAft>
                <a:spcPts val="0"/>
              </a:spcAft>
            </a:pPr>
            <a:r>
              <a:rPr sz="1739" b="1" spc="-26">
                <a:solidFill>
                  <a:srgbClr val="F3F0E2"/>
                </a:solidFill>
                <a:latin typeface="Lexend"/>
                <a:cs typeface="Lexend"/>
              </a:rPr>
              <a:t>55,9 mrd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480" y="3951732"/>
            <a:ext cx="1260348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dagpenger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20440" y="3927348"/>
            <a:ext cx="6217920" cy="259080"/>
          </a:xfrm>
          <a:prstGeom prst="roundRect">
            <a:avLst>
              <a:gd name="adj" fmla="val 23529"/>
            </a:avLst>
          </a:prstGeom>
          <a:solidFill>
            <a:srgbClr val="F3F0E2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520440" y="3927348"/>
            <a:ext cx="745998" cy="259080"/>
          </a:xfrm>
          <a:prstGeom prst="roundRect">
            <a:avLst>
              <a:gd name="adj" fmla="val 23529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79786" y="3924300"/>
            <a:ext cx="1239774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90"/>
              </a:lnSpc>
              <a:spcBef>
                <a:spcPts val="0"/>
              </a:spcBef>
              <a:spcAft>
                <a:spcPts val="0"/>
              </a:spcAft>
            </a:pPr>
            <a:r>
              <a:rPr sz="1739" b="1" spc="-26">
                <a:solidFill>
                  <a:srgbClr val="F3F0E2"/>
                </a:solidFill>
                <a:latin typeface="Lexend"/>
                <a:cs typeface="Lexend"/>
              </a:rPr>
              <a:t>16,9 mrd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480" y="4347972"/>
            <a:ext cx="10607040" cy="7620"/>
          </a:xfrm>
          <a:prstGeom prst="rect">
            <a:avLst/>
          </a:prstGeom>
          <a:solidFill>
            <a:srgbClr val="F3F0E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480" y="4542282"/>
            <a:ext cx="2430018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97CA31"/>
                </a:solidFill>
                <a:latin typeface="Lexend"/>
                <a:cs typeface="Lexend"/>
              </a:rPr>
              <a:t>til arbeidsmarkedstiltak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20440" y="4517898"/>
            <a:ext cx="6217920" cy="259080"/>
          </a:xfrm>
          <a:prstGeom prst="roundRect">
            <a:avLst>
              <a:gd name="adj" fmla="val 23529"/>
            </a:avLst>
          </a:prstGeom>
          <a:solidFill>
            <a:srgbClr val="F3F0E2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520440" y="4517898"/>
            <a:ext cx="512826" cy="259080"/>
          </a:xfrm>
          <a:prstGeom prst="roundRect">
            <a:avLst>
              <a:gd name="adj" fmla="val 23529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85882" y="4514850"/>
            <a:ext cx="1233678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90"/>
              </a:lnSpc>
              <a:spcBef>
                <a:spcPts val="0"/>
              </a:spcBef>
              <a:spcAft>
                <a:spcPts val="0"/>
              </a:spcAft>
            </a:pPr>
            <a:r>
              <a:rPr sz="1739" b="1" spc="-26">
                <a:solidFill>
                  <a:srgbClr val="97CA31"/>
                </a:solidFill>
                <a:latin typeface="Lexend"/>
                <a:cs typeface="Lexend"/>
              </a:rPr>
              <a:t>11,6 mrd</a:t>
            </a:r>
          </a:p>
        </p:txBody>
      </p:sp>
      <p:sp>
        <p:nvSpPr>
          <p:cNvPr id="26" name="Oval 25"/>
          <p:cNvSpPr/>
          <p:nvPr/>
        </p:nvSpPr>
        <p:spPr>
          <a:xfrm>
            <a:off x="792480" y="5760720"/>
            <a:ext cx="396240" cy="3962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27" name="Picture 26" descr="i-wallet__8151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5863590"/>
            <a:ext cx="190500" cy="1905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86840" y="5791200"/>
            <a:ext cx="4712970" cy="335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F3F0E2"/>
                </a:solidFill>
                <a:latin typeface="Lexend"/>
                <a:cs typeface="Lexend"/>
              </a:rPr>
              <a:t>Til sammen over </a:t>
            </a:r>
            <a:r>
              <a:rPr sz="1860" b="1" spc="-9">
                <a:solidFill>
                  <a:srgbClr val="F3F0E2"/>
                </a:solidFill>
                <a:latin typeface="Lexend"/>
                <a:cs typeface="Lexend"/>
              </a:rPr>
              <a:t>280 milliarder kroner</a:t>
            </a:r>
            <a:r>
              <a:rPr sz="1860" b="0" spc="-9">
                <a:solidFill>
                  <a:srgbClr val="F3F0E2"/>
                </a:solidFill>
                <a:latin typeface="Lexend"/>
                <a:cs typeface="Lexend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747266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spc="228" cap="all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Status 5 av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33272"/>
            <a:ext cx="7906512" cy="4937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Vi mangler arbeidskraft. Ikke folk.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480" y="1923288"/>
            <a:ext cx="3403854" cy="1718310"/>
          </a:xfrm>
          <a:prstGeom prst="roundRect">
            <a:avLst>
              <a:gd name="adj" fmla="val 11529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8700" y="2144268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7" name="Picture 6" descr="i-hospital__FBF9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" y="2247138"/>
            <a:ext cx="190500" cy="190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28700" y="2630424"/>
            <a:ext cx="2179320" cy="4983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>
                <a:solidFill>
                  <a:srgbClr val="26301C"/>
                </a:solidFill>
                <a:latin typeface="Lexend"/>
                <a:cs typeface="Lexend"/>
              </a:rPr>
              <a:t>13 800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8700" y="3218688"/>
            <a:ext cx="3229356" cy="1988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spc="5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ansatte mangler allerede i helse og omsorg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4454" y="1923288"/>
            <a:ext cx="3403854" cy="1718310"/>
          </a:xfrm>
          <a:prstGeom prst="roundRect">
            <a:avLst>
              <a:gd name="adj" fmla="val 11529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30674" y="2144268"/>
            <a:ext cx="396240" cy="3962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2" name="Picture 11" descr="i-first-aid__8151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3544" y="2247138"/>
            <a:ext cx="190500" cy="190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30674" y="2630424"/>
            <a:ext cx="1802892" cy="4983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>
                <a:solidFill>
                  <a:srgbClr val="26301C"/>
                </a:solidFill>
                <a:latin typeface="Lexend"/>
                <a:cs typeface="Lexend"/>
              </a:rPr>
              <a:t>3 750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0674" y="3218688"/>
            <a:ext cx="1618488" cy="1988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spc="5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av dem sykepleiere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95666" y="1923288"/>
            <a:ext cx="3403854" cy="1718310"/>
          </a:xfrm>
          <a:prstGeom prst="roundRect">
            <a:avLst>
              <a:gd name="adj" fmla="val 11529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31886" y="2144268"/>
            <a:ext cx="396240" cy="3962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7" name="Picture 16" descr="i-hand-heart__8151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4756" y="2247138"/>
            <a:ext cx="190500" cy="1905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31886" y="2630424"/>
            <a:ext cx="1853184" cy="4983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>
                <a:solidFill>
                  <a:srgbClr val="26301C"/>
                </a:solidFill>
                <a:latin typeface="Lexend"/>
                <a:cs typeface="Lexend"/>
              </a:rPr>
              <a:t>3 100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1886" y="3218688"/>
            <a:ext cx="2087118" cy="1988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spc="5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av dem helsefagarbeidere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2480" y="3823716"/>
            <a:ext cx="5189220" cy="964692"/>
          </a:xfrm>
          <a:prstGeom prst="roundRect">
            <a:avLst>
              <a:gd name="adj" fmla="val 20537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28700" y="4107942"/>
            <a:ext cx="396240" cy="396240"/>
          </a:xfrm>
          <a:prstGeom prst="ellipse">
            <a:avLst/>
          </a:prstGeom>
          <a:noFill/>
          <a:ln w="1524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22" name="Picture 21" descr="i-clock__26301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1570" y="4210812"/>
            <a:ext cx="190500" cy="1905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592580" y="4041648"/>
            <a:ext cx="3704844" cy="2613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Fram mot </a:t>
            </a:r>
            <a:r>
              <a:rPr sz="1320" b="1">
                <a:solidFill>
                  <a:srgbClr val="26301C"/>
                </a:solidFill>
                <a:latin typeface="Lexend"/>
                <a:cs typeface="Lexend"/>
              </a:rPr>
              <a:t>2040</a:t>
            </a: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 kan Norge mangle </a:t>
            </a:r>
            <a:r>
              <a:rPr sz="1320" b="1">
                <a:solidFill>
                  <a:srgbClr val="26301C"/>
                </a:solidFill>
                <a:latin typeface="Lexend"/>
                <a:cs typeface="Lexend"/>
              </a:rPr>
              <a:t>30 000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2580" y="4303014"/>
            <a:ext cx="3593592" cy="2613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sykepleiere og </a:t>
            </a:r>
            <a:r>
              <a:rPr sz="1320" b="1">
                <a:solidFill>
                  <a:srgbClr val="26301C"/>
                </a:solidFill>
                <a:latin typeface="Lexend"/>
                <a:cs typeface="Lexend"/>
              </a:rPr>
              <a:t>24 000</a:t>
            </a: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 helsefagarbeidere.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0300" y="3823716"/>
            <a:ext cx="5189220" cy="964692"/>
          </a:xfrm>
          <a:prstGeom prst="roundRect">
            <a:avLst>
              <a:gd name="adj" fmla="val 20537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46520" y="4107942"/>
            <a:ext cx="396240" cy="396240"/>
          </a:xfrm>
          <a:prstGeom prst="ellipse">
            <a:avLst/>
          </a:prstGeom>
          <a:noFill/>
          <a:ln w="1524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27" name="Picture 26" descr="i-cog__2630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9390" y="4210812"/>
            <a:ext cx="190500" cy="1905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010400" y="4041648"/>
            <a:ext cx="4118610" cy="2613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NAV varsler også mangel på fagarbeidere innen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10400" y="4303014"/>
            <a:ext cx="3454146" cy="2613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bygg, anlegg, industri og håndverksfag.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2480" y="5120640"/>
            <a:ext cx="10607040" cy="1036320"/>
          </a:xfrm>
          <a:prstGeom prst="roundRect">
            <a:avLst>
              <a:gd name="adj" fmla="val 19117"/>
            </a:avLst>
          </a:prstGeom>
          <a:solidFill>
            <a:srgbClr val="97CA31">
              <a:alpha val="16000"/>
            </a:srgbClr>
          </a:solidFill>
          <a:ln w="7620">
            <a:solidFill>
              <a:srgbClr val="97CA31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4420" y="5387340"/>
            <a:ext cx="502920" cy="50292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32" name="Picture 31" descr="i-person-group__28311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3960" y="5516880"/>
            <a:ext cx="243840" cy="24384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775460" y="5482590"/>
            <a:ext cx="8685276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Likevel står rundt </a:t>
            </a: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700 000 mennesker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utenfor arbeid og utdanning.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31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92480" y="1572006"/>
            <a:ext cx="792480" cy="792480"/>
          </a:xfrm>
          <a:prstGeom prst="ellipse">
            <a:avLst/>
          </a:prstGeom>
          <a:noFill/>
          <a:ln w="15240">
            <a:solidFill>
              <a:srgbClr val="F3F0E2">
                <a:alpha val="2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3" name="Picture 2" descr="i-globe__F3F0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220" y="1777746"/>
            <a:ext cx="381000" cy="38100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1722120" y="1572006"/>
            <a:ext cx="792480" cy="79248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i-person-group__2831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7860" y="1777746"/>
            <a:ext cx="381000" cy="381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480" y="2668524"/>
            <a:ext cx="4200906" cy="653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440" b="0" spc="-107">
                <a:solidFill>
                  <a:srgbClr val="F3F0E2"/>
                </a:solidFill>
                <a:latin typeface="Lexend"/>
                <a:cs typeface="Lexend"/>
              </a:rPr>
              <a:t>Norges største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" y="3322320"/>
            <a:ext cx="7226046" cy="653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440" b="0" spc="-107">
                <a:solidFill>
                  <a:srgbClr val="F3F0E2"/>
                </a:solidFill>
                <a:latin typeface="Lexend"/>
                <a:cs typeface="Lexend"/>
              </a:rPr>
              <a:t>arbeidskraftressurs finnes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480" y="3976116"/>
            <a:ext cx="4210050" cy="653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440" b="0" spc="-107">
                <a:solidFill>
                  <a:srgbClr val="F3F0E2"/>
                </a:solidFill>
                <a:latin typeface="Lexend"/>
                <a:cs typeface="Lexend"/>
              </a:rPr>
              <a:t>ikke i utlandet.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80" y="4630674"/>
            <a:ext cx="6491478" cy="653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440" b="0" spc="-107">
                <a:solidFill>
                  <a:srgbClr val="97CA31"/>
                </a:solidFill>
                <a:latin typeface="Lexend"/>
                <a:cs typeface="Lexend"/>
              </a:rPr>
              <a:t>Den finnes allerede 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74498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spc="228" cap="all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Status 6 av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2070354"/>
            <a:ext cx="4850892" cy="12054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490"/>
              </a:lnSpc>
              <a:spcBef>
                <a:spcPts val="0"/>
              </a:spcBef>
              <a:spcAft>
                <a:spcPts val="0"/>
              </a:spcAft>
            </a:pPr>
            <a:r>
              <a:rPr sz="11040" b="1" spc="-552">
                <a:solidFill>
                  <a:srgbClr val="26301C"/>
                </a:solidFill>
                <a:latin typeface="Lexend"/>
                <a:cs typeface="Lexend"/>
              </a:rPr>
              <a:t>53 000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3460242"/>
            <a:ext cx="5429250" cy="335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unge har det SSB kaller </a:t>
            </a:r>
            <a:r>
              <a:rPr sz="1860" b="1" spc="-9">
                <a:solidFill>
                  <a:srgbClr val="26301C"/>
                </a:solidFill>
                <a:latin typeface="Lexend"/>
                <a:cs typeface="Lexend"/>
              </a:rPr>
              <a:t>«ukjent status»</a:t>
            </a: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. De 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" y="3795522"/>
            <a:ext cx="5378196" cy="335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ikke i arbeid, ikke i utdanning, ikke i tiltak – 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" y="4130802"/>
            <a:ext cx="2817876" cy="335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ofte ikke kjent for NAV.</a:t>
            </a:r>
          </a:p>
        </p:txBody>
      </p:sp>
      <p:sp>
        <p:nvSpPr>
          <p:cNvPr id="8" name="Oval 7"/>
          <p:cNvSpPr/>
          <p:nvPr/>
        </p:nvSpPr>
        <p:spPr>
          <a:xfrm>
            <a:off x="792480" y="4648962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9" name="Picture 8" descr="i-questionmark-circle__FBF9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4751832"/>
            <a:ext cx="190500" cy="19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41120" y="4696968"/>
            <a:ext cx="4171188" cy="2971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Gruppen er nesten tredoblet siden år 2000.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4160" y="2148840"/>
            <a:ext cx="4174236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Nesten halvparten av de unge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4160" y="2459736"/>
            <a:ext cx="1252728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utenfor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4160" y="2830068"/>
            <a:ext cx="4732782" cy="1988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spc="5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er ukjent status – én prikk per tusen personer i alderen 20 til 29 år.</a:t>
            </a:r>
          </a:p>
        </p:txBody>
      </p:sp>
      <p:sp>
        <p:nvSpPr>
          <p:cNvPr id="14" name="Oval 13"/>
          <p:cNvSpPr/>
          <p:nvPr/>
        </p:nvSpPr>
        <p:spPr>
          <a:xfrm>
            <a:off x="6614160" y="321411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0" y="321411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01840" y="321411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45680" y="321411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0" y="321411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833360" y="321411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77200" y="321411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21040" y="321411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64880" y="321411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808720" y="321411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52560" y="321411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96400" y="321411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540240" y="321411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784080" y="321411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027920" y="321411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271760" y="321411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15600" y="321411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59440" y="321411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003280" y="321411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14160" y="345795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0" y="345795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01840" y="345795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45680" y="345795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589520" y="345795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833360" y="345795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77200" y="345795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321040" y="345795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64880" y="345795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808720" y="345795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052560" y="345795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296400" y="345795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540240" y="345795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784080" y="345795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027920" y="345795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271760" y="345795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515600" y="345795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759440" y="345795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003280" y="345795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614160" y="370179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858000" y="370179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101840" y="370179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45680" y="370179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589520" y="370179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833360" y="370179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077200" y="370179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321040" y="370179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564880" y="370179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808720" y="370179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9052560" y="370179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296400" y="370179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540240" y="370179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784080" y="370179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0027920" y="3701796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0271760" y="370179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0515600" y="370179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0759440" y="370179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1003280" y="370179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614160" y="394563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858000" y="394563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101840" y="394563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345680" y="394563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589520" y="394563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833360" y="394563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077200" y="394563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321040" y="394563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564880" y="394563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808720" y="394563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052560" y="394563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296400" y="394563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9540240" y="394563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784080" y="394563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0027920" y="394563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0271760" y="394563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0515600" y="394563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759440" y="394563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003280" y="394563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614160" y="418947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858000" y="418947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7101840" y="418947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345680" y="418947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589520" y="418947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7833360" y="418947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077200" y="418947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321040" y="418947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8564880" y="418947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8808720" y="418947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9052560" y="418947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9296400" y="418947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9540240" y="418947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9784080" y="418947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0027920" y="418947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0271760" y="418947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0515600" y="418947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0759440" y="418947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1003280" y="418947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614160" y="443331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858000" y="443331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101840" y="443331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345680" y="443331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589520" y="443331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833360" y="443331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077200" y="443331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321040" y="443331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64880" y="443331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808720" y="443331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052560" y="443331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9296400" y="443331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9540240" y="443331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9784080" y="443331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0027920" y="443331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0271760" y="443331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0515600" y="443331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0759440" y="443331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003280" y="4433316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614160" y="4814316"/>
            <a:ext cx="121920" cy="12192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819900" y="4788408"/>
            <a:ext cx="1584198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kjent for systemet</a:t>
            </a:r>
          </a:p>
        </p:txBody>
      </p:sp>
      <p:sp>
        <p:nvSpPr>
          <p:cNvPr id="130" name="Oval 129"/>
          <p:cNvSpPr/>
          <p:nvPr/>
        </p:nvSpPr>
        <p:spPr>
          <a:xfrm>
            <a:off x="8312658" y="4814316"/>
            <a:ext cx="121920" cy="121920"/>
          </a:xfrm>
          <a:prstGeom prst="ellipse">
            <a:avLst/>
          </a:prstGeom>
          <a:noFill/>
          <a:ln w="15240">
            <a:solidFill>
              <a:srgbClr val="AA52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518398" y="4788408"/>
            <a:ext cx="122301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ukjent status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31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92480" y="2013966"/>
            <a:ext cx="792480" cy="79248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3" name="Picture 2" descr="i-bell__FBF9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220" y="2219706"/>
            <a:ext cx="381000" cy="381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80" y="3110484"/>
            <a:ext cx="6858000" cy="8663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820"/>
              </a:lnSpc>
              <a:spcBef>
                <a:spcPts val="0"/>
              </a:spcBef>
              <a:spcAft>
                <a:spcPts val="0"/>
              </a:spcAft>
            </a:pPr>
            <a:r>
              <a:rPr sz="5880" b="0" spc="-141">
                <a:solidFill>
                  <a:srgbClr val="F3F0E2"/>
                </a:solidFill>
                <a:latin typeface="Lexend"/>
                <a:cs typeface="Lexend"/>
              </a:rPr>
              <a:t>Det burde være 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3976878"/>
            <a:ext cx="5725668" cy="8663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820"/>
              </a:lnSpc>
              <a:spcBef>
                <a:spcPts val="0"/>
              </a:spcBef>
              <a:spcAft>
                <a:spcPts val="0"/>
              </a:spcAft>
            </a:pPr>
            <a:r>
              <a:rPr sz="5880" b="0" spc="-141">
                <a:solidFill>
                  <a:srgbClr val="E9A793"/>
                </a:solidFill>
                <a:latin typeface="Lexend"/>
                <a:cs typeface="Lexend"/>
              </a:rPr>
              <a:t>nasjonal alarm.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741932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spc="228" cap="all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Status 7 av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33272"/>
            <a:ext cx="8441436" cy="4937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Vi rekrutterer som om det er år 2000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480" y="2148840"/>
            <a:ext cx="5189220" cy="1362456"/>
          </a:xfrm>
          <a:prstGeom prst="roundRect">
            <a:avLst>
              <a:gd name="adj" fmla="val 14541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4420" y="2415540"/>
            <a:ext cx="396240" cy="396240"/>
          </a:xfrm>
          <a:prstGeom prst="ellipse">
            <a:avLst/>
          </a:prstGeom>
          <a:noFill/>
          <a:ln w="1524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7" name="Picture 6" descr="i-magnifying-glass__2630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290" y="2518410"/>
            <a:ext cx="190500" cy="190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07820" y="2511552"/>
            <a:ext cx="845820" cy="1988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spc="173" cap="all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I dag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" y="2932176"/>
            <a:ext cx="4227576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vi finner riktig person til jobben.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300" y="2148840"/>
            <a:ext cx="5189220" cy="1362456"/>
          </a:xfrm>
          <a:prstGeom prst="roundRect">
            <a:avLst>
              <a:gd name="adj" fmla="val 14541"/>
            </a:avLst>
          </a:prstGeom>
          <a:solidFill>
            <a:srgbClr val="97CA31">
              <a:alpha val="16000"/>
            </a:srgbClr>
          </a:solidFill>
          <a:ln w="7620">
            <a:solidFill>
              <a:srgbClr val="97CA31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92240" y="2415540"/>
            <a:ext cx="396240" cy="39624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2" name="Picture 11" descr="i-sparkles__2831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5110" y="2518410"/>
            <a:ext cx="190500" cy="190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25640" y="2511552"/>
            <a:ext cx="1277874" cy="1988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spc="173" cap="all">
                <a:solidFill>
                  <a:srgbClr val="26301C"/>
                </a:solidFill>
                <a:latin typeface="Lexend"/>
                <a:cs typeface="Lexend"/>
              </a:rPr>
              <a:t>Framover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932176"/>
            <a:ext cx="469773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vi må designe jobben til personen.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480" y="3694176"/>
            <a:ext cx="10607040" cy="1234440"/>
          </a:xfrm>
          <a:prstGeom prst="roundRect">
            <a:avLst>
              <a:gd name="adj" fmla="val 16049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28700" y="3915156"/>
            <a:ext cx="792480" cy="79248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7" name="Picture 16" descr="i-person-checkmark__8151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4440" y="4120896"/>
            <a:ext cx="381000" cy="381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049780" y="3915156"/>
            <a:ext cx="4289298" cy="4983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>
                <a:solidFill>
                  <a:srgbClr val="26301C"/>
                </a:solidFill>
                <a:latin typeface="Lexend"/>
                <a:cs typeface="Lexend"/>
              </a:rPr>
              <a:t>Inntil 150 000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49780" y="4441698"/>
            <a:ext cx="8638794" cy="2613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mennesker står utenfor arbeidslivet og kan og vil jobbe – dersom de får muligheten og hjelpen de trenger.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480" y="5486400"/>
            <a:ext cx="8757666" cy="335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Fra tradisjonell til inkluderende rekruttering. Innovativ rekruttering, om du vil.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80" y="5821680"/>
            <a:ext cx="3928110" cy="335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Framover må vi bruke hele laget.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31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80" y="2435352"/>
            <a:ext cx="3611880" cy="495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3360" b="0" spc="-80">
                <a:solidFill>
                  <a:srgbClr val="F3F0E2"/>
                </a:solidFill>
                <a:latin typeface="Lexend"/>
                <a:cs typeface="Lexend"/>
              </a:rPr>
              <a:t>For den som har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80" y="2930652"/>
            <a:ext cx="5148834" cy="495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3360" b="0" spc="-80">
                <a:solidFill>
                  <a:srgbClr val="F3F0E2"/>
                </a:solidFill>
                <a:latin typeface="Lexend"/>
                <a:cs typeface="Lexend"/>
              </a:rPr>
              <a:t>50 prosent arbeidsevne,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3425190"/>
            <a:ext cx="5231892" cy="495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3360" b="0" spc="-80">
                <a:solidFill>
                  <a:srgbClr val="F3F0E2"/>
                </a:solidFill>
                <a:latin typeface="Lexend"/>
                <a:cs typeface="Lexend"/>
              </a:rPr>
              <a:t>er en jobb på 50 prosent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3920490"/>
            <a:ext cx="2006346" cy="495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3360" b="0" spc="-80">
                <a:solidFill>
                  <a:srgbClr val="97CA31"/>
                </a:solidFill>
                <a:latin typeface="Lexend"/>
                <a:cs typeface="Lexend"/>
              </a:rPr>
              <a:t>helt 100.</a:t>
            </a:r>
          </a:p>
        </p:txBody>
      </p:sp>
      <p:pic>
        <p:nvPicPr>
          <p:cNvPr id="6" name="Picture 5" descr="gauge_tr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700" y="2362200"/>
            <a:ext cx="2133600" cy="2133600"/>
          </a:xfrm>
          <a:prstGeom prst="rect">
            <a:avLst/>
          </a:prstGeom>
        </p:spPr>
      </p:pic>
      <p:pic>
        <p:nvPicPr>
          <p:cNvPr id="7" name="Picture 6" descr="gauge_ar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7700" y="2362200"/>
            <a:ext cx="2133600" cy="2133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25662" y="2841498"/>
            <a:ext cx="1536954" cy="4328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410"/>
              </a:lnSpc>
              <a:spcBef>
                <a:spcPts val="0"/>
              </a:spcBef>
              <a:spcAft>
                <a:spcPts val="0"/>
              </a:spcAft>
            </a:pPr>
            <a:r>
              <a:rPr sz="3960" b="1" spc="-139">
                <a:solidFill>
                  <a:srgbClr val="F3F0E2"/>
                </a:solidFill>
                <a:latin typeface="Lexend"/>
                <a:cs typeface="Lexend"/>
              </a:rPr>
              <a:t>50 %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20734" y="3318510"/>
            <a:ext cx="1146810" cy="1988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spc="5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arbeidsevne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12708" y="3641598"/>
            <a:ext cx="1242822" cy="373380"/>
          </a:xfrm>
          <a:prstGeom prst="roundRect">
            <a:avLst>
              <a:gd name="adj" fmla="val 50000"/>
            </a:avLst>
          </a:prstGeom>
          <a:solidFill>
            <a:srgbClr val="97CA31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1" name="Picture 10" descr="i-checkmark-circle__97CA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4628" y="3729228"/>
            <a:ext cx="198120" cy="198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08948" y="3723132"/>
            <a:ext cx="1014222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spc="-14">
                <a:solidFill>
                  <a:srgbClr val="97CA31"/>
                </a:solidFill>
                <a:latin typeface="Lexend"/>
                <a:cs typeface="Lexend"/>
              </a:rPr>
              <a:t>helt 100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92480" y="749808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3" name="Picture 2" descr="i-arrows-circlepath__FBF9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852678"/>
            <a:ext cx="190500" cy="19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697992"/>
            <a:ext cx="4796028" cy="4937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Spiralen vi må bryte</a:t>
            </a:r>
          </a:p>
        </p:txBody>
      </p:sp>
      <p:sp>
        <p:nvSpPr>
          <p:cNvPr id="5" name="Oval 4"/>
          <p:cNvSpPr/>
          <p:nvPr/>
        </p:nvSpPr>
        <p:spPr>
          <a:xfrm>
            <a:off x="4328160" y="2502408"/>
            <a:ext cx="3535680" cy="2011680"/>
          </a:xfrm>
          <a:prstGeom prst="ellipse">
            <a:avLst/>
          </a:prstGeom>
          <a:noFill/>
          <a:ln w="19050">
            <a:solidFill>
              <a:srgbClr val="AA52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-arrows-circlepath__AA52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020" y="3287268"/>
            <a:ext cx="441960" cy="441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74920" y="1633728"/>
            <a:ext cx="2042160" cy="967740"/>
          </a:xfrm>
          <a:prstGeom prst="roundRect">
            <a:avLst>
              <a:gd name="adj" fmla="val 15748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65420" y="1814322"/>
            <a:ext cx="470916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60" b="1">
                <a:solidFill>
                  <a:srgbClr val="AA523C"/>
                </a:solidFill>
                <a:latin typeface="Lexend"/>
                <a:cs typeface="Lexen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2976" y="1790700"/>
            <a:ext cx="1645158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>
                <a:solidFill>
                  <a:srgbClr val="26301C"/>
                </a:solidFill>
                <a:latin typeface="Lexend"/>
                <a:cs typeface="Lexend"/>
              </a:rPr>
              <a:t>Mindre av potten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2976" y="2006346"/>
            <a:ext cx="155600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>
                <a:solidFill>
                  <a:srgbClr val="26301C"/>
                </a:solidFill>
                <a:latin typeface="Lexend"/>
                <a:cs typeface="Lexend"/>
              </a:rPr>
              <a:t>går til å få folk 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2976" y="2222754"/>
            <a:ext cx="826008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>
                <a:solidFill>
                  <a:srgbClr val="26301C"/>
                </a:solidFill>
                <a:latin typeface="Lexend"/>
                <a:cs typeface="Lexend"/>
              </a:rPr>
              <a:t>arbeid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3051048"/>
            <a:ext cx="2042160" cy="752094"/>
          </a:xfrm>
          <a:prstGeom prst="roundRect">
            <a:avLst>
              <a:gd name="adj" fmla="val 20263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25740" y="3231642"/>
            <a:ext cx="46939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60" b="1">
                <a:solidFill>
                  <a:srgbClr val="AA523C"/>
                </a:solidFill>
                <a:latin typeface="Lexend"/>
                <a:cs typeface="Lexen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1772" y="3208020"/>
            <a:ext cx="13716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>
                <a:solidFill>
                  <a:srgbClr val="26301C"/>
                </a:solidFill>
                <a:latin typeface="Lexend"/>
                <a:cs typeface="Lexend"/>
              </a:rPr>
              <a:t>flere uføre 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1772" y="3423666"/>
            <a:ext cx="111633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>
                <a:solidFill>
                  <a:srgbClr val="26301C"/>
                </a:solidFill>
                <a:latin typeface="Lexend"/>
                <a:cs typeface="Lexend"/>
              </a:rPr>
              <a:t>sykmeldte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4468368"/>
            <a:ext cx="2042160" cy="752094"/>
          </a:xfrm>
          <a:prstGeom prst="roundRect">
            <a:avLst>
              <a:gd name="adj" fmla="val 20263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65420" y="4648962"/>
            <a:ext cx="474726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60" b="1">
                <a:solidFill>
                  <a:srgbClr val="AA523C"/>
                </a:solidFill>
                <a:latin typeface="Lexend"/>
                <a:cs typeface="Lexen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26786" y="4625340"/>
            <a:ext cx="167411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>
                <a:solidFill>
                  <a:srgbClr val="26301C"/>
                </a:solidFill>
                <a:latin typeface="Lexend"/>
                <a:cs typeface="Lexend"/>
              </a:rPr>
              <a:t>høyere utgifter til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6786" y="4840986"/>
            <a:ext cx="84277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>
                <a:solidFill>
                  <a:srgbClr val="26301C"/>
                </a:solidFill>
                <a:latin typeface="Lexend"/>
                <a:cs typeface="Lexend"/>
              </a:rPr>
              <a:t>ytelser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14600" y="3051048"/>
            <a:ext cx="2042160" cy="752094"/>
          </a:xfrm>
          <a:prstGeom prst="roundRect">
            <a:avLst>
              <a:gd name="adj" fmla="val 20263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05100" y="3231642"/>
            <a:ext cx="48310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60" b="1">
                <a:solidFill>
                  <a:srgbClr val="AA523C"/>
                </a:solidFill>
                <a:latin typeface="Lexend"/>
                <a:cs typeface="Lexen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4848" y="3208020"/>
            <a:ext cx="129997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>
                <a:solidFill>
                  <a:srgbClr val="26301C"/>
                </a:solidFill>
                <a:latin typeface="Lexend"/>
                <a:cs typeface="Lexend"/>
              </a:rPr>
              <a:t>enda mindre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4848" y="3423666"/>
            <a:ext cx="1335786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>
                <a:solidFill>
                  <a:srgbClr val="26301C"/>
                </a:solidFill>
                <a:latin typeface="Lexend"/>
                <a:cs typeface="Lexend"/>
              </a:rPr>
              <a:t>igjen til tiltak</a:t>
            </a:r>
          </a:p>
        </p:txBody>
      </p:sp>
      <p:sp>
        <p:nvSpPr>
          <p:cNvPr id="24" name="Oval 23"/>
          <p:cNvSpPr/>
          <p:nvPr/>
        </p:nvSpPr>
        <p:spPr>
          <a:xfrm>
            <a:off x="7345680" y="2593848"/>
            <a:ext cx="335280" cy="33528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25" name="Picture 24" descr="i-arrow-right__FBF9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300000">
            <a:off x="7429500" y="2677668"/>
            <a:ext cx="167640" cy="16764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7345680" y="4148328"/>
            <a:ext cx="335280" cy="33528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27" name="Picture 26" descr="i-arrow-right__FBF9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7500000">
            <a:off x="7429500" y="4232148"/>
            <a:ext cx="167640" cy="167640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4511040" y="4148328"/>
            <a:ext cx="335280" cy="33528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29" name="Picture 28" descr="i-arrow-right__FBF9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1700000">
            <a:off x="4594860" y="4232148"/>
            <a:ext cx="167640" cy="167640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>
            <a:off x="4511040" y="2593848"/>
            <a:ext cx="335280" cy="33528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31" name="Picture 30" descr="i-arrow-right__FBF9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300000">
            <a:off x="4594860" y="2677668"/>
            <a:ext cx="167640" cy="1676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92480" y="5821680"/>
            <a:ext cx="5583174" cy="335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Og arbeidskraften vi trenger, får vi fortsatt ikke.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3C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905256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spc="228" cap="all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Fasit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33272"/>
            <a:ext cx="9755886" cy="4937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Sammenlignet med år 2000 har Norge fått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480" y="1542288"/>
            <a:ext cx="10607040" cy="838200"/>
          </a:xfrm>
          <a:prstGeom prst="roundRect">
            <a:avLst>
              <a:gd name="adj" fmla="val 2363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8700" y="1763268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7" name="Picture 6" descr="i-trend-up__FBF9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" y="1866138"/>
            <a:ext cx="190500" cy="190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07820" y="1804416"/>
            <a:ext cx="845439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nær 40 prosent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flere uføre – mens befolkningen vokste 25 prosent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480" y="2502408"/>
            <a:ext cx="10607040" cy="838200"/>
          </a:xfrm>
          <a:prstGeom prst="roundRect">
            <a:avLst>
              <a:gd name="adj" fmla="val 2363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8700" y="2723388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1" name="Picture 10" descr="i-trend-up__FBF9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" y="2826258"/>
            <a:ext cx="190500" cy="190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07820" y="2765298"/>
            <a:ext cx="4594098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rundt 175 prosent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flere unge uføre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480" y="3462528"/>
            <a:ext cx="10607040" cy="838200"/>
          </a:xfrm>
          <a:prstGeom prst="roundRect">
            <a:avLst>
              <a:gd name="adj" fmla="val 2363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8700" y="3683508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5" name="Picture 14" descr="i-trend-down__FBF9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570" y="3786378"/>
            <a:ext cx="190500" cy="190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07820" y="3725418"/>
            <a:ext cx="5713476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langt færre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yrkesaktive bak hver pensjonist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480" y="4422648"/>
            <a:ext cx="10607040" cy="838200"/>
          </a:xfrm>
          <a:prstGeom prst="roundRect">
            <a:avLst>
              <a:gd name="adj" fmla="val 2363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8700" y="4643628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9" name="Picture 18" descr="i-trend-up__FBF9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" y="4746498"/>
            <a:ext cx="190500" cy="1905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07820" y="4685538"/>
            <a:ext cx="4091178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større mangel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på arbeidskraft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480" y="5382768"/>
            <a:ext cx="10607040" cy="838200"/>
          </a:xfrm>
          <a:prstGeom prst="roundRect">
            <a:avLst>
              <a:gd name="adj" fmla="val 2363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28700" y="5603748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23" name="Picture 22" descr="i-sack-kroner__FBF9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1570" y="5706618"/>
            <a:ext cx="190500" cy="1905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607820" y="5645658"/>
            <a:ext cx="8278368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over fire ganger høyere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utgifter til utenforskapsrelaterte ytelser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650492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spc="228" cap="all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Oppsummert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480" y="2674620"/>
            <a:ext cx="1060704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480" y="2136648"/>
            <a:ext cx="4248150" cy="2834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sz="1860" b="0">
                <a:solidFill>
                  <a:srgbClr val="26301C"/>
                </a:solidFill>
                <a:latin typeface="Lexend"/>
                <a:cs typeface="Lexend"/>
              </a:rPr>
              <a:t>Går de store tallene i riktig retning?</a:t>
            </a:r>
          </a:p>
        </p:txBody>
      </p:sp>
      <p:pic>
        <p:nvPicPr>
          <p:cNvPr id="6" name="Picture 5" descr="i-x-mark-octagon__AA52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7386" y="2133600"/>
            <a:ext cx="289560" cy="289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23626" y="2058924"/>
            <a:ext cx="99669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460"/>
              </a:lnSpc>
              <a:spcBef>
                <a:spcPts val="0"/>
              </a:spcBef>
              <a:spcAft>
                <a:spcPts val="0"/>
              </a:spcAft>
            </a:pPr>
            <a:r>
              <a:rPr sz="2880" b="1" spc="-86">
                <a:solidFill>
                  <a:srgbClr val="AA523C"/>
                </a:solidFill>
                <a:latin typeface="Lexend"/>
                <a:cs typeface="Lexend"/>
              </a:rPr>
              <a:t>Nei.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480" y="3474720"/>
            <a:ext cx="1060704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480" y="2936748"/>
            <a:ext cx="5948934" cy="2834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sz="1860" b="0">
                <a:solidFill>
                  <a:srgbClr val="26301C"/>
                </a:solidFill>
                <a:latin typeface="Lexend"/>
                <a:cs typeface="Lexend"/>
              </a:rPr>
              <a:t>Har vi en knallgod plan for å snu utviklingen raskt?</a:t>
            </a:r>
          </a:p>
        </p:txBody>
      </p:sp>
      <p:pic>
        <p:nvPicPr>
          <p:cNvPr id="10" name="Picture 9" descr="i-x-mark-octagon__AA52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7386" y="2933700"/>
            <a:ext cx="289560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723626" y="2859024"/>
            <a:ext cx="99669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460"/>
              </a:lnSpc>
              <a:spcBef>
                <a:spcPts val="0"/>
              </a:spcBef>
              <a:spcAft>
                <a:spcPts val="0"/>
              </a:spcAft>
            </a:pPr>
            <a:r>
              <a:rPr sz="2880" b="1" spc="-86">
                <a:solidFill>
                  <a:srgbClr val="AA523C"/>
                </a:solidFill>
                <a:latin typeface="Lexend"/>
                <a:cs typeface="Lexend"/>
              </a:rPr>
              <a:t>Nei.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480" y="4274820"/>
            <a:ext cx="1060704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480" y="3736848"/>
            <a:ext cx="7002780" cy="2834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sz="1860" b="0">
                <a:solidFill>
                  <a:srgbClr val="26301C"/>
                </a:solidFill>
                <a:latin typeface="Lexend"/>
                <a:cs typeface="Lexend"/>
              </a:rPr>
              <a:t>Kan vi bruke pengene smartere, til å skape flere muligheter?</a:t>
            </a:r>
          </a:p>
        </p:txBody>
      </p:sp>
      <p:pic>
        <p:nvPicPr>
          <p:cNvPr id="14" name="Picture 13" descr="i-light-bulb__8151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5158" y="3733800"/>
            <a:ext cx="289560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661398" y="3659124"/>
            <a:ext cx="2058162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460"/>
              </a:lnSpc>
              <a:spcBef>
                <a:spcPts val="0"/>
              </a:spcBef>
              <a:spcAft>
                <a:spcPts val="0"/>
              </a:spcAft>
            </a:pPr>
            <a:r>
              <a:rPr sz="2880" b="1" spc="-86">
                <a:solidFill>
                  <a:srgbClr val="81512C"/>
                </a:solidFill>
                <a:latin typeface="Lexend"/>
                <a:cs typeface="Lexend"/>
              </a:rPr>
              <a:t>Åpenbart.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480" y="4594098"/>
            <a:ext cx="6185916" cy="2834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sz="1860" b="0">
                <a:solidFill>
                  <a:srgbClr val="26301C"/>
                </a:solidFill>
                <a:latin typeface="Lexend"/>
                <a:cs typeface="Lexend"/>
              </a:rPr>
              <a:t>Trenger Norge et taktskifte i arbeidsinkluderingen?</a:t>
            </a:r>
          </a:p>
        </p:txBody>
      </p:sp>
      <p:pic>
        <p:nvPicPr>
          <p:cNvPr id="17" name="Picture 16" descr="i-checkmark-circle__5C7A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3190" y="4560570"/>
            <a:ext cx="350520" cy="350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740390" y="4461510"/>
            <a:ext cx="979170" cy="548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108">
                <a:solidFill>
                  <a:srgbClr val="5C7A15"/>
                </a:solidFill>
                <a:latin typeface="Lexend"/>
                <a:cs typeface="Lexend"/>
              </a:rPr>
              <a:t>Ja.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31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80" y="1661160"/>
            <a:ext cx="6845808" cy="7848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18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spc="-192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Norge har mange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80" y="2446020"/>
            <a:ext cx="4862322" cy="7848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18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spc="-192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utfordringer.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3230880"/>
            <a:ext cx="8618982" cy="7848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18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spc="-192">
                <a:solidFill>
                  <a:srgbClr val="F3F0E2"/>
                </a:solidFill>
                <a:latin typeface="Lexend"/>
                <a:cs typeface="Lexend"/>
              </a:rPr>
              <a:t>At folk vil jobbe, burde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4015740"/>
            <a:ext cx="8113776" cy="7848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18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spc="-192">
                <a:solidFill>
                  <a:srgbClr val="F3F0E2"/>
                </a:solidFill>
                <a:latin typeface="Lexend"/>
                <a:cs typeface="Lexend"/>
              </a:rPr>
              <a:t>ikke være </a:t>
            </a:r>
            <a:r>
              <a:rPr sz="6000" b="1" spc="-192">
                <a:solidFill>
                  <a:srgbClr val="97CA31"/>
                </a:solidFill>
                <a:latin typeface="Lexend"/>
                <a:cs typeface="Lexend"/>
              </a:rPr>
              <a:t>en av dem.</a:t>
            </a:r>
          </a:p>
        </p:txBody>
      </p:sp>
      <p:sp>
        <p:nvSpPr>
          <p:cNvPr id="6" name="Oval 5"/>
          <p:cNvSpPr/>
          <p:nvPr/>
        </p:nvSpPr>
        <p:spPr>
          <a:xfrm>
            <a:off x="792480" y="5760720"/>
            <a:ext cx="396240" cy="39624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7" name="Picture 6" descr="i-handshake__2831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5863590"/>
            <a:ext cx="190500" cy="190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41120" y="5848350"/>
            <a:ext cx="5395722" cy="220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6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Onar Aanestad, direktør · Rikets tilstand for arbeidsinkludering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3C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92480" y="749808"/>
            <a:ext cx="396240" cy="396240"/>
          </a:xfrm>
          <a:prstGeom prst="ellipse">
            <a:avLst/>
          </a:prstGeom>
          <a:solidFill>
            <a:srgbClr val="3F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3" name="Picture 2" descr="i-books__F3F0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852678"/>
            <a:ext cx="190500" cy="19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697992"/>
            <a:ext cx="1626870" cy="4937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Kilder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480" y="290245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480" y="265861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1080" y="2582418"/>
            <a:ext cx="29260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Stortinget – Innst. 15 S (2024–2025)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480" y="355015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2480" y="307771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1080" y="3001518"/>
            <a:ext cx="4536948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NAV – «1 av 5 står utenfor arbeidslivet» og statistikk over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1080" y="3230118"/>
            <a:ext cx="1938528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folketrygdens utgifter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480" y="396925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2480" y="372541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1080" y="3649218"/>
            <a:ext cx="2931414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SSB – statistikk over uføretrygdede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480" y="438835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2480" y="414451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1080" y="4068318"/>
            <a:ext cx="214503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Faktaportalen.no – uføre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62700" y="313105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62700" y="265861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91300" y="2582418"/>
            <a:ext cx="4895088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NyAnalyse for Senter for et aldersvennlig Norge – «Verdien av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1300" y="2811018"/>
            <a:ext cx="1805178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ett år lenger» (2023)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62700" y="355015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62700" y="330631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91300" y="3230118"/>
            <a:ext cx="2554986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Regjeringen.no – NOU 2000:27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62700" y="396925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62700" y="372541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91300" y="3649218"/>
            <a:ext cx="3190494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Dagsavisen – NAVs bemanningsvarsler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62700" y="438835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62700" y="414451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91300" y="4068318"/>
            <a:ext cx="3530346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Statsregnskapet.dfo.no – folketrygden 2022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62700" y="480745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62700" y="456361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91300" y="4487418"/>
            <a:ext cx="2992374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Store norske leksikon – folketrygden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480" y="5955792"/>
            <a:ext cx="3968496" cy="1988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spc="5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Ikoner: Aksel – NAVs designsystem. Typografi: Lexend.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orsider">
  <a:themeElements>
    <a:clrScheme name="iArbeid">
      <a:dk1>
        <a:srgbClr val="3F4E36"/>
      </a:dk1>
      <a:lt1>
        <a:srgbClr val="F3F0E2"/>
      </a:lt1>
      <a:dk2>
        <a:srgbClr val="000000"/>
      </a:dk2>
      <a:lt2>
        <a:srgbClr val="FFFFFF"/>
      </a:lt2>
      <a:accent1>
        <a:srgbClr val="7F877D"/>
      </a:accent1>
      <a:accent2>
        <a:srgbClr val="97CA31"/>
      </a:accent2>
      <a:accent3>
        <a:srgbClr val="E3CE98"/>
      </a:accent3>
      <a:accent4>
        <a:srgbClr val="AA523C"/>
      </a:accent4>
      <a:accent5>
        <a:srgbClr val="81512C"/>
      </a:accent5>
      <a:accent6>
        <a:srgbClr val="BD9F79"/>
      </a:accent6>
      <a:hlink>
        <a:srgbClr val="467886"/>
      </a:hlink>
      <a:folHlink>
        <a:srgbClr val="96607D"/>
      </a:folHlink>
    </a:clrScheme>
    <a:fontScheme name="Custom 8">
      <a:majorFont>
        <a:latin typeface="Lexend"/>
        <a:ea typeface=""/>
        <a:cs typeface=""/>
      </a:majorFont>
      <a:minorFont>
        <a:latin typeface="Lexe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Innhold">
  <a:themeElements>
    <a:clrScheme name="iArbeid">
      <a:dk1>
        <a:srgbClr val="3F4E36"/>
      </a:dk1>
      <a:lt1>
        <a:srgbClr val="F3F0E2"/>
      </a:lt1>
      <a:dk2>
        <a:srgbClr val="3A2415"/>
      </a:dk2>
      <a:lt2>
        <a:srgbClr val="E8E8E8"/>
      </a:lt2>
      <a:accent1>
        <a:srgbClr val="7F877D"/>
      </a:accent1>
      <a:accent2>
        <a:srgbClr val="97CA31"/>
      </a:accent2>
      <a:accent3>
        <a:srgbClr val="E3CE98"/>
      </a:accent3>
      <a:accent4>
        <a:srgbClr val="AA523C"/>
      </a:accent4>
      <a:accent5>
        <a:srgbClr val="81512C"/>
      </a:accent5>
      <a:accent6>
        <a:srgbClr val="BD9F79"/>
      </a:accent6>
      <a:hlink>
        <a:srgbClr val="467886"/>
      </a:hlink>
      <a:folHlink>
        <a:srgbClr val="96607D"/>
      </a:folHlink>
    </a:clrScheme>
    <a:fontScheme name="Custom 8">
      <a:majorFont>
        <a:latin typeface="Lexend"/>
        <a:ea typeface=""/>
        <a:cs typeface=""/>
      </a:majorFont>
      <a:minorFont>
        <a:latin typeface="Lexe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Hvilesider">
  <a:themeElements>
    <a:clrScheme name="iArbeid">
      <a:dk1>
        <a:srgbClr val="3F4E36"/>
      </a:dk1>
      <a:lt1>
        <a:srgbClr val="F3F0E2"/>
      </a:lt1>
      <a:dk2>
        <a:srgbClr val="000000"/>
      </a:dk2>
      <a:lt2>
        <a:srgbClr val="FFFFFF"/>
      </a:lt2>
      <a:accent1>
        <a:srgbClr val="7F877D"/>
      </a:accent1>
      <a:accent2>
        <a:srgbClr val="97CA31"/>
      </a:accent2>
      <a:accent3>
        <a:srgbClr val="E3CE98"/>
      </a:accent3>
      <a:accent4>
        <a:srgbClr val="AA523C"/>
      </a:accent4>
      <a:accent5>
        <a:srgbClr val="81512C"/>
      </a:accent5>
      <a:accent6>
        <a:srgbClr val="BD9F79"/>
      </a:accent6>
      <a:hlink>
        <a:srgbClr val="467886"/>
      </a:hlink>
      <a:folHlink>
        <a:srgbClr val="96607D"/>
      </a:folHlink>
    </a:clrScheme>
    <a:fontScheme name="Custom 8">
      <a:majorFont>
        <a:latin typeface="Lexend"/>
        <a:ea typeface=""/>
        <a:cs typeface=""/>
      </a:majorFont>
      <a:minorFont>
        <a:latin typeface="Lexe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Sitat">
  <a:themeElements>
    <a:clrScheme name="iArbeid">
      <a:dk1>
        <a:srgbClr val="3F4E36"/>
      </a:dk1>
      <a:lt1>
        <a:srgbClr val="F3F0E2"/>
      </a:lt1>
      <a:dk2>
        <a:srgbClr val="000000"/>
      </a:dk2>
      <a:lt2>
        <a:srgbClr val="FFFFFF"/>
      </a:lt2>
      <a:accent1>
        <a:srgbClr val="7F877D"/>
      </a:accent1>
      <a:accent2>
        <a:srgbClr val="97CA31"/>
      </a:accent2>
      <a:accent3>
        <a:srgbClr val="E3CE98"/>
      </a:accent3>
      <a:accent4>
        <a:srgbClr val="AA523C"/>
      </a:accent4>
      <a:accent5>
        <a:srgbClr val="81512C"/>
      </a:accent5>
      <a:accent6>
        <a:srgbClr val="BD9F79"/>
      </a:accent6>
      <a:hlink>
        <a:srgbClr val="467886"/>
      </a:hlink>
      <a:folHlink>
        <a:srgbClr val="96607D"/>
      </a:folHlink>
    </a:clrScheme>
    <a:fontScheme name="Custom 8">
      <a:majorFont>
        <a:latin typeface="Lexend"/>
        <a:ea typeface=""/>
        <a:cs typeface=""/>
      </a:majorFont>
      <a:minorFont>
        <a:latin typeface="Lexe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Pause">
  <a:themeElements>
    <a:clrScheme name="iArbeid">
      <a:dk1>
        <a:srgbClr val="3F4E36"/>
      </a:dk1>
      <a:lt1>
        <a:srgbClr val="F3F0E2"/>
      </a:lt1>
      <a:dk2>
        <a:srgbClr val="000000"/>
      </a:dk2>
      <a:lt2>
        <a:srgbClr val="FFFFFF"/>
      </a:lt2>
      <a:accent1>
        <a:srgbClr val="7F877D"/>
      </a:accent1>
      <a:accent2>
        <a:srgbClr val="97CA31"/>
      </a:accent2>
      <a:accent3>
        <a:srgbClr val="E3CE98"/>
      </a:accent3>
      <a:accent4>
        <a:srgbClr val="AA523C"/>
      </a:accent4>
      <a:accent5>
        <a:srgbClr val="81512C"/>
      </a:accent5>
      <a:accent6>
        <a:srgbClr val="BD9F79"/>
      </a:accent6>
      <a:hlink>
        <a:srgbClr val="467886"/>
      </a:hlink>
      <a:folHlink>
        <a:srgbClr val="96607D"/>
      </a:folHlink>
    </a:clrScheme>
    <a:fontScheme name="iArbeid">
      <a:majorFont>
        <a:latin typeface="Lexend"/>
        <a:ea typeface=""/>
        <a:cs typeface=""/>
      </a:majorFont>
      <a:minorFont>
        <a:latin typeface="Lexe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Avslutningssider">
  <a:themeElements>
    <a:clrScheme name="iArbeid">
      <a:dk1>
        <a:srgbClr val="3F4E36"/>
      </a:dk1>
      <a:lt1>
        <a:srgbClr val="F3F0E2"/>
      </a:lt1>
      <a:dk2>
        <a:srgbClr val="000000"/>
      </a:dk2>
      <a:lt2>
        <a:srgbClr val="FFFFFF"/>
      </a:lt2>
      <a:accent1>
        <a:srgbClr val="7F877D"/>
      </a:accent1>
      <a:accent2>
        <a:srgbClr val="97CA31"/>
      </a:accent2>
      <a:accent3>
        <a:srgbClr val="E3CE98"/>
      </a:accent3>
      <a:accent4>
        <a:srgbClr val="AA523C"/>
      </a:accent4>
      <a:accent5>
        <a:srgbClr val="81512C"/>
      </a:accent5>
      <a:accent6>
        <a:srgbClr val="BD9F79"/>
      </a:accent6>
      <a:hlink>
        <a:srgbClr val="467886"/>
      </a:hlink>
      <a:folHlink>
        <a:srgbClr val="96607D"/>
      </a:folHlink>
    </a:clrScheme>
    <a:fontScheme name="Custom 8">
      <a:majorFont>
        <a:latin typeface="Lexend"/>
        <a:ea typeface=""/>
        <a:cs typeface=""/>
      </a:majorFont>
      <a:minorFont>
        <a:latin typeface="Lexe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01E5DCE7ABCC06468EC06FE9E8341BD7" ma:contentTypeVersion="12" ma:contentTypeDescription="Opprett et nytt dokument." ma:contentTypeScope="" ma:versionID="e2e8f42184ada3f35029cc1931f02dd9">
  <xsd:schema xmlns:xsd="http://www.w3.org/2001/XMLSchema" xmlns:xs="http://www.w3.org/2001/XMLSchema" xmlns:p="http://schemas.microsoft.com/office/2006/metadata/properties" xmlns:ns2="e952fd84-cde6-42ee-86fc-7f57b25220c1" xmlns:ns3="a442b621-b0d3-4eb9-b28f-0ab3a03d771f" targetNamespace="http://schemas.microsoft.com/office/2006/metadata/properties" ma:root="true" ma:fieldsID="8ef5f385bce0e085d79310bc9d687346" ns2:_="" ns3:_="">
    <xsd:import namespace="e952fd84-cde6-42ee-86fc-7f57b25220c1"/>
    <xsd:import namespace="a442b621-b0d3-4eb9-b28f-0ab3a03d77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52fd84-cde6-42ee-86fc-7f57b25220c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Bildemerkelapper" ma:readOnly="false" ma:fieldId="{5cf76f15-5ced-4ddc-b409-7134ff3c332f}" ma:taxonomyMulti="true" ma:sspId="6662f648-57df-4c35-b253-bc9d5106c35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42b621-b0d3-4eb9-b28f-0ab3a03d771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Del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lingsdetaljer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f60bee08-3225-4ec7-a6fc-6cb758a47613}" ma:internalName="TaxCatchAll" ma:showField="CatchAllData" ma:web="a442b621-b0d3-4eb9-b28f-0ab3a03d77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442b621-b0d3-4eb9-b28f-0ab3a03d771f" xsi:nil="true"/>
    <lcf76f155ced4ddcb4097134ff3c332f xmlns="e952fd84-cde6-42ee-86fc-7f57b25220c1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253C9846-E99D-4463-A274-EF04A5A6BEDD}"/>
</file>

<file path=customXml/itemProps2.xml><?xml version="1.0" encoding="utf-8"?>
<ds:datastoreItem xmlns:ds="http://schemas.openxmlformats.org/officeDocument/2006/customXml" ds:itemID="{C749B124-F12F-47C7-8302-E4E675B00954}"/>
</file>

<file path=customXml/itemProps3.xml><?xml version="1.0" encoding="utf-8"?>
<ds:datastoreItem xmlns:ds="http://schemas.openxmlformats.org/officeDocument/2006/customXml" ds:itemID="{75C90DDC-E8DA-4BA2-BDCA-7A97B2957ADA}"/>
</file>

<file path=docProps/app.xml><?xml version="1.0" encoding="utf-8"?>
<Properties xmlns="http://schemas.openxmlformats.org/officeDocument/2006/extended-properties" xmlns:vt="http://schemas.openxmlformats.org/officeDocument/2006/docPropsVTypes">
  <TotalTime>597</TotalTime>
  <Words>0</Words>
  <Application>Microsoft Office PowerPoint</Application>
  <PresentationFormat>Widescreen</PresentationFormat>
  <Paragraphs>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Aptos</vt:lpstr>
      <vt:lpstr>Arial</vt:lpstr>
      <vt:lpstr>Lexend</vt:lpstr>
      <vt:lpstr>Forsider</vt:lpstr>
      <vt:lpstr>Innhold</vt:lpstr>
      <vt:lpstr>Hvilesider</vt:lpstr>
      <vt:lpstr>Sitat</vt:lpstr>
      <vt:lpstr>Pause</vt:lpstr>
      <vt:lpstr>Avslutningssider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Evensen, Marcus Alexander</dc:creator>
  <cp:lastModifiedBy>Evensen, Marcus Alexander</cp:lastModifiedBy>
  <cp:revision>13</cp:revision>
  <dcterms:created xsi:type="dcterms:W3CDTF">2025-06-04T08:52:40Z</dcterms:created>
  <dcterms:modified xsi:type="dcterms:W3CDTF">2025-08-31T20:26:32Z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0x01010001E5DCE7ABCC06468EC06FE9E8341BD7</vt:lpwstr>
  </property>
</Properties>
</file>